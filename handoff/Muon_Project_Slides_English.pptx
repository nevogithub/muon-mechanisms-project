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d50d4e240b84b84" /><Relationship Type="http://schemas.openxmlformats.org/officeDocument/2006/relationships/extended-properties" Target="/docProps/app.xml" Id="Rdaed997731a24e5e" /><Relationship Type="http://schemas.openxmlformats.org/officeDocument/2006/relationships/officeDocument" Target="/ppt/presentation.xml" Id="R83731f097fbb40d3" /></Relationships>
</file>

<file path=ppt/presentation.xml><?xml version="1.0" encoding="utf-8"?>
<p:presentation xmlns:p="http://schemas.openxmlformats.org/presentationml/2006/main">
  <p:sldMasterIdLst>
    <p:sldMasterId xmlns:r="http://schemas.openxmlformats.org/officeDocument/2006/relationships" id="2147483648" r:id="R52c2946ab6a04b46"/>
  </p:sldMasterIdLst>
  <p:notesMasterIdLst>
    <p:notesMasterId xmlns:r="http://schemas.openxmlformats.org/officeDocument/2006/relationships" r:id="Rcbac6ee2b0924b58"/>
  </p:notesMasterIdLst>
  <p:sldIdLst>
    <p:sldId xmlns:r="http://schemas.openxmlformats.org/officeDocument/2006/relationships" id="256" r:id="Rf7b71abcc5934361"/>
    <p:sldId xmlns:r="http://schemas.openxmlformats.org/officeDocument/2006/relationships" id="257" r:id="Rb0dac01d1a4949da"/>
    <p:sldId xmlns:r="http://schemas.openxmlformats.org/officeDocument/2006/relationships" id="258" r:id="R2eb98280a1b14464"/>
    <p:sldId xmlns:r="http://schemas.openxmlformats.org/officeDocument/2006/relationships" id="259" r:id="Rcc258cde9fa9489f"/>
    <p:sldId xmlns:r="http://schemas.openxmlformats.org/officeDocument/2006/relationships" id="260" r:id="R15b37231f41c4e72"/>
    <p:sldId xmlns:r="http://schemas.openxmlformats.org/officeDocument/2006/relationships" id="261" r:id="Rd1ea07f936be4793"/>
    <p:sldId xmlns:r="http://schemas.openxmlformats.org/officeDocument/2006/relationships" id="262" r:id="R6104f247181242b2"/>
    <p:sldId xmlns:r="http://schemas.openxmlformats.org/officeDocument/2006/relationships" id="263" r:id="Re91021db6d334be8"/>
    <p:sldId xmlns:r="http://schemas.openxmlformats.org/officeDocument/2006/relationships" id="264" r:id="R8724a4da09414e2b"/>
    <p:sldId xmlns:r="http://schemas.openxmlformats.org/officeDocument/2006/relationships" id="265" r:id="R40aad3440d12463b"/>
    <p:sldId xmlns:r="http://schemas.openxmlformats.org/officeDocument/2006/relationships" id="266" r:id="R757493804c15486e"/>
    <p:sldId xmlns:r="http://schemas.openxmlformats.org/officeDocument/2006/relationships" id="267" r:id="Rb55c5ba3511f433a"/>
    <p:sldId xmlns:r="http://schemas.openxmlformats.org/officeDocument/2006/relationships" id="268" r:id="Rba1c60a51ca745bc"/>
    <p:sldId xmlns:r="http://schemas.openxmlformats.org/officeDocument/2006/relationships" id="269" r:id="R352d6636be2a449b"/>
    <p:sldId xmlns:r="http://schemas.openxmlformats.org/officeDocument/2006/relationships" id="270" r:id="Rba29cb846e114847"/>
    <p:sldId xmlns:r="http://schemas.openxmlformats.org/officeDocument/2006/relationships" id="271" r:id="Rda38b54daab8468e"/>
    <p:sldId xmlns:r="http://schemas.openxmlformats.org/officeDocument/2006/relationships" id="272" r:id="R9170bf2f6f7344c2"/>
    <p:sldId xmlns:r="http://schemas.openxmlformats.org/officeDocument/2006/relationships" id="273" r:id="R742d32e92c34453b"/>
    <p:sldId xmlns:r="http://schemas.openxmlformats.org/officeDocument/2006/relationships" id="274" r:id="R32af5b3d3fb9431c"/>
    <p:sldId xmlns:r="http://schemas.openxmlformats.org/officeDocument/2006/relationships" id="275" r:id="R9cb03a4552274aee"/>
    <p:sldId xmlns:r="http://schemas.openxmlformats.org/officeDocument/2006/relationships" id="276" r:id="R7234120418e4407b"/>
    <p:sldId xmlns:r="http://schemas.openxmlformats.org/officeDocument/2006/relationships" id="277" r:id="R7d0f061d3c2b4719"/>
    <p:sldId xmlns:r="http://schemas.openxmlformats.org/officeDocument/2006/relationships" id="278" r:id="Rdd6cd5a2ffa0437a"/>
    <p:sldId xmlns:r="http://schemas.openxmlformats.org/officeDocument/2006/relationships" id="279" r:id="R5d427da50588485b"/>
    <p:sldId xmlns:r="http://schemas.openxmlformats.org/officeDocument/2006/relationships" id="280" r:id="R610c62372ff84ace"/>
    <p:sldId xmlns:r="http://schemas.openxmlformats.org/officeDocument/2006/relationships" id="281" r:id="Rfdd10ae7f3a2459f"/>
    <p:sldId xmlns:r="http://schemas.openxmlformats.org/officeDocument/2006/relationships" id="282" r:id="Rbac92ae76efa4c7e"/>
    <p:sldId xmlns:r="http://schemas.openxmlformats.org/officeDocument/2006/relationships" id="283" r:id="R3460af657206439e"/>
    <p:sldId xmlns:r="http://schemas.openxmlformats.org/officeDocument/2006/relationships" id="284" r:id="R3577c471ca9f4f76"/>
    <p:sldId xmlns:r="http://schemas.openxmlformats.org/officeDocument/2006/relationships" id="285" r:id="Rb07078d7834141b9"/>
    <p:sldId xmlns:r="http://schemas.openxmlformats.org/officeDocument/2006/relationships" id="286" r:id="Rb4f91738564446d4"/>
    <p:sldId xmlns:r="http://schemas.openxmlformats.org/officeDocument/2006/relationships" id="287" r:id="R819dc2c1e3e94bf4"/>
    <p:sldId xmlns:r="http://schemas.openxmlformats.org/officeDocument/2006/relationships" id="288" r:id="Rc6300a1d523d45b6"/>
    <p:sldId xmlns:r="http://schemas.openxmlformats.org/officeDocument/2006/relationships" id="289" r:id="R45fd737f711f49d9"/>
    <p:sldId xmlns:r="http://schemas.openxmlformats.org/officeDocument/2006/relationships" id="290" r:id="R70d580c1960e49b7"/>
    <p:sldId xmlns:r="http://schemas.openxmlformats.org/officeDocument/2006/relationships" id="291" r:id="Rbbed397b1e6b41b7"/>
    <p:sldId xmlns:r="http://schemas.openxmlformats.org/officeDocument/2006/relationships" id="292" r:id="R424c8a8e07d64411"/>
    <p:sldId xmlns:r="http://schemas.openxmlformats.org/officeDocument/2006/relationships" id="293" r:id="R763c45a49de94128"/>
    <p:sldId xmlns:r="http://schemas.openxmlformats.org/officeDocument/2006/relationships" id="294" r:id="Rbac9ea84edd3442e"/>
    <p:sldId xmlns:r="http://schemas.openxmlformats.org/officeDocument/2006/relationships" id="295" r:id="R2c5b123587a44bcb"/>
    <p:sldId xmlns:r="http://schemas.openxmlformats.org/officeDocument/2006/relationships" id="296" r:id="R2bad9adcb83b459b"/>
    <p:sldId xmlns:r="http://schemas.openxmlformats.org/officeDocument/2006/relationships" id="297" r:id="R01b34dd2d7df45bf"/>
    <p:sldId xmlns:r="http://schemas.openxmlformats.org/officeDocument/2006/relationships" id="298" r:id="R39496aed24944473"/>
    <p:sldId xmlns:r="http://schemas.openxmlformats.org/officeDocument/2006/relationships" id="299" r:id="R17fb758634784592"/>
    <p:sldId xmlns:r="http://schemas.openxmlformats.org/officeDocument/2006/relationships" id="300" r:id="Re13b57eacfaf43c0"/>
    <p:sldId xmlns:r="http://schemas.openxmlformats.org/officeDocument/2006/relationships" id="301" r:id="R566a96917d434474"/>
    <p:sldId xmlns:r="http://schemas.openxmlformats.org/officeDocument/2006/relationships" id="302" r:id="Rc698e2cc72c84c35"/>
    <p:sldId xmlns:r="http://schemas.openxmlformats.org/officeDocument/2006/relationships" id="303" r:id="R115f0e63f2aa4f8f"/>
    <p:sldId xmlns:r="http://schemas.openxmlformats.org/officeDocument/2006/relationships" id="304" r:id="R04c972701196491b"/>
    <p:sldId xmlns:r="http://schemas.openxmlformats.org/officeDocument/2006/relationships" id="305" r:id="Rfc8433496f3a4a6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a220d586cae498f" /><Relationship Type="http://schemas.openxmlformats.org/officeDocument/2006/relationships/slideMaster" Target="/ppt/slideMasters/slideMaster1.xml" Id="R52c2946ab6a04b46" /><Relationship Type="http://schemas.openxmlformats.org/officeDocument/2006/relationships/notesMaster" Target="/ppt/notesMasters/notesMaster1.xml" Id="Rcbac6ee2b0924b58" /><Relationship Type="http://schemas.openxmlformats.org/officeDocument/2006/relationships/presProps" Target="/ppt/presProps.xml" Id="R724ab37a528b4cf0" /><Relationship Type="http://schemas.openxmlformats.org/officeDocument/2006/relationships/tableStyles" Target="/ppt/tableStyles.xml" Id="Rb8588e862b414356" /><Relationship Type="http://schemas.openxmlformats.org/officeDocument/2006/relationships/slide" Target="/ppt/slides/slide1.xml" Id="Rf7b71abcc5934361" /><Relationship Type="http://schemas.openxmlformats.org/officeDocument/2006/relationships/slide" Target="/ppt/slides/slide2.xml" Id="Rb0dac01d1a4949da" /><Relationship Type="http://schemas.openxmlformats.org/officeDocument/2006/relationships/slide" Target="/ppt/slides/slide3.xml" Id="R2eb98280a1b14464" /><Relationship Type="http://schemas.openxmlformats.org/officeDocument/2006/relationships/slide" Target="/ppt/slides/slide4.xml" Id="Rcc258cde9fa9489f" /><Relationship Type="http://schemas.openxmlformats.org/officeDocument/2006/relationships/slide" Target="/ppt/slides/slide5.xml" Id="R15b37231f41c4e72" /><Relationship Type="http://schemas.openxmlformats.org/officeDocument/2006/relationships/slide" Target="/ppt/slides/slide6.xml" Id="Rd1ea07f936be4793" /><Relationship Type="http://schemas.openxmlformats.org/officeDocument/2006/relationships/slide" Target="/ppt/slides/slide7.xml" Id="R6104f247181242b2" /><Relationship Type="http://schemas.openxmlformats.org/officeDocument/2006/relationships/slide" Target="/ppt/slides/slide8.xml" Id="Re91021db6d334be8" /><Relationship Type="http://schemas.openxmlformats.org/officeDocument/2006/relationships/slide" Target="/ppt/slides/slide9.xml" Id="R8724a4da09414e2b" /><Relationship Type="http://schemas.openxmlformats.org/officeDocument/2006/relationships/slide" Target="/ppt/slides/slide10.xml" Id="R40aad3440d12463b" /><Relationship Type="http://schemas.openxmlformats.org/officeDocument/2006/relationships/slide" Target="/ppt/slides/slide11.xml" Id="R757493804c15486e" /><Relationship Type="http://schemas.openxmlformats.org/officeDocument/2006/relationships/slide" Target="/ppt/slides/slide12.xml" Id="Rb55c5ba3511f433a" /><Relationship Type="http://schemas.openxmlformats.org/officeDocument/2006/relationships/slide" Target="/ppt/slides/slide13.xml" Id="Rba1c60a51ca745bc" /><Relationship Type="http://schemas.openxmlformats.org/officeDocument/2006/relationships/slide" Target="/ppt/slides/slide14.xml" Id="R352d6636be2a449b" /><Relationship Type="http://schemas.openxmlformats.org/officeDocument/2006/relationships/slide" Target="/ppt/slides/slide15.xml" Id="Rba29cb846e114847" /><Relationship Type="http://schemas.openxmlformats.org/officeDocument/2006/relationships/slide" Target="/ppt/slides/slide16.xml" Id="Rda38b54daab8468e" /><Relationship Type="http://schemas.openxmlformats.org/officeDocument/2006/relationships/slide" Target="/ppt/slides/slide17.xml" Id="R9170bf2f6f7344c2" /><Relationship Type="http://schemas.openxmlformats.org/officeDocument/2006/relationships/slide" Target="/ppt/slides/slide18.xml" Id="R742d32e92c34453b" /><Relationship Type="http://schemas.openxmlformats.org/officeDocument/2006/relationships/slide" Target="/ppt/slides/slide19.xml" Id="R32af5b3d3fb9431c" /><Relationship Type="http://schemas.openxmlformats.org/officeDocument/2006/relationships/slide" Target="/ppt/slides/slide20.xml" Id="R9cb03a4552274aee" /><Relationship Type="http://schemas.openxmlformats.org/officeDocument/2006/relationships/slide" Target="/ppt/slides/slide21.xml" Id="R7234120418e4407b" /><Relationship Type="http://schemas.openxmlformats.org/officeDocument/2006/relationships/slide" Target="/ppt/slides/slide22.xml" Id="R7d0f061d3c2b4719" /><Relationship Type="http://schemas.openxmlformats.org/officeDocument/2006/relationships/slide" Target="/ppt/slides/slide23.xml" Id="Rdd6cd5a2ffa0437a" /><Relationship Type="http://schemas.openxmlformats.org/officeDocument/2006/relationships/slide" Target="/ppt/slides/slide24.xml" Id="R5d427da50588485b" /><Relationship Type="http://schemas.openxmlformats.org/officeDocument/2006/relationships/slide" Target="/ppt/slides/slide25.xml" Id="R610c62372ff84ace" /><Relationship Type="http://schemas.openxmlformats.org/officeDocument/2006/relationships/slide" Target="/ppt/slides/slide26.xml" Id="Rfdd10ae7f3a2459f" /><Relationship Type="http://schemas.openxmlformats.org/officeDocument/2006/relationships/slide" Target="/ppt/slides/slide27.xml" Id="Rbac92ae76efa4c7e" /><Relationship Type="http://schemas.openxmlformats.org/officeDocument/2006/relationships/slide" Target="/ppt/slides/slide28.xml" Id="R3460af657206439e" /><Relationship Type="http://schemas.openxmlformats.org/officeDocument/2006/relationships/slide" Target="/ppt/slides/slide29.xml" Id="R3577c471ca9f4f76" /><Relationship Type="http://schemas.openxmlformats.org/officeDocument/2006/relationships/slide" Target="/ppt/slides/slide30.xml" Id="Rb07078d7834141b9" /><Relationship Type="http://schemas.openxmlformats.org/officeDocument/2006/relationships/slide" Target="/ppt/slides/slide31.xml" Id="Rb4f91738564446d4" /><Relationship Type="http://schemas.openxmlformats.org/officeDocument/2006/relationships/slide" Target="/ppt/slides/slide32.xml" Id="R819dc2c1e3e94bf4" /><Relationship Type="http://schemas.openxmlformats.org/officeDocument/2006/relationships/slide" Target="/ppt/slides/slide33.xml" Id="Rc6300a1d523d45b6" /><Relationship Type="http://schemas.openxmlformats.org/officeDocument/2006/relationships/slide" Target="/ppt/slides/slide34.xml" Id="R45fd737f711f49d9" /><Relationship Type="http://schemas.openxmlformats.org/officeDocument/2006/relationships/slide" Target="/ppt/slides/slide35.xml" Id="R70d580c1960e49b7" /><Relationship Type="http://schemas.openxmlformats.org/officeDocument/2006/relationships/slide" Target="/ppt/slides/slide36.xml" Id="Rbbed397b1e6b41b7" /><Relationship Type="http://schemas.openxmlformats.org/officeDocument/2006/relationships/slide" Target="/ppt/slides/slide37.xml" Id="R424c8a8e07d64411" /><Relationship Type="http://schemas.openxmlformats.org/officeDocument/2006/relationships/slide" Target="/ppt/slides/slide38.xml" Id="R763c45a49de94128" /><Relationship Type="http://schemas.openxmlformats.org/officeDocument/2006/relationships/slide" Target="/ppt/slides/slide39.xml" Id="Rbac9ea84edd3442e" /><Relationship Type="http://schemas.openxmlformats.org/officeDocument/2006/relationships/slide" Target="/ppt/slides/slide40.xml" Id="R2c5b123587a44bcb" /><Relationship Type="http://schemas.openxmlformats.org/officeDocument/2006/relationships/slide" Target="/ppt/slides/slide41.xml" Id="R2bad9adcb83b459b" /><Relationship Type="http://schemas.openxmlformats.org/officeDocument/2006/relationships/slide" Target="/ppt/slides/slide42.xml" Id="R01b34dd2d7df45bf" /><Relationship Type="http://schemas.openxmlformats.org/officeDocument/2006/relationships/slide" Target="/ppt/slides/slide43.xml" Id="R39496aed24944473" /><Relationship Type="http://schemas.openxmlformats.org/officeDocument/2006/relationships/slide" Target="/ppt/slides/slide44.xml" Id="R17fb758634784592" /><Relationship Type="http://schemas.openxmlformats.org/officeDocument/2006/relationships/slide" Target="/ppt/slides/slide45.xml" Id="Re13b57eacfaf43c0" /><Relationship Type="http://schemas.openxmlformats.org/officeDocument/2006/relationships/slide" Target="/ppt/slides/slide46.xml" Id="R566a96917d434474" /><Relationship Type="http://schemas.openxmlformats.org/officeDocument/2006/relationships/slide" Target="/ppt/slides/slide47.xml" Id="Rc698e2cc72c84c35" /><Relationship Type="http://schemas.openxmlformats.org/officeDocument/2006/relationships/slide" Target="/ppt/slides/slide48.xml" Id="R115f0e63f2aa4f8f" /><Relationship Type="http://schemas.openxmlformats.org/officeDocument/2006/relationships/slide" Target="/ppt/slides/slide49.xml" Id="R04c972701196491b" /><Relationship Type="http://schemas.openxmlformats.org/officeDocument/2006/relationships/slide" Target="/ppt/slides/slide50.xml" Id="Rfc8433496f3a4a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0e9c8042b942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a45787ee4d4403" /><Relationship Type="http://schemas.openxmlformats.org/officeDocument/2006/relationships/notesMaster" Target="/ppt/notesMasters/notesMaster1.xml" Id="Rb471041b0b104f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882c95731c3641a6" /><Relationship Type="http://schemas.openxmlformats.org/officeDocument/2006/relationships/notesMaster" Target="/ppt/notesMasters/notesMaster1.xml" Id="R2f77395f854543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a7f42e227814fd1" /><Relationship Type="http://schemas.openxmlformats.org/officeDocument/2006/relationships/notesMaster" Target="/ppt/notesMasters/notesMaster1.xml" Id="R30093e1ceb01476d" /></Relationships>
</file>

<file path=ppt/notesSlides/_rels/notesSlide4.xml.rels>&#65279;<?xml version="1.0" encoding="utf-8"?><Relationships xmlns="http://schemas.openxmlformats.org/package/2006/relationships"><Relationship Type="http://schemas.openxmlformats.org/officeDocument/2006/relationships/slide" Target="/ppt/slides/slide4.xml" Id="R060a935a3c624a58" /><Relationship Type="http://schemas.openxmlformats.org/officeDocument/2006/relationships/notesMaster" Target="/ppt/notesMasters/notesMaster1.xml" Id="Rf217d91964f04cd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2d4e101cb0f45f0" /><Relationship Type="http://schemas.openxmlformats.org/officeDocument/2006/relationships/notesMaster" Target="/ppt/notesMasters/notesMaster1.xml" Id="R23018c5514974a00" /></Relationships>
</file>

<file path=ppt/notesSlides/_rels/notesSlide6.xml.rels>&#65279;<?xml version="1.0" encoding="utf-8"?><Relationships xmlns="http://schemas.openxmlformats.org/package/2006/relationships"><Relationship Type="http://schemas.openxmlformats.org/officeDocument/2006/relationships/slide" Target="/ppt/slides/slide6.xml" Id="R990d8fed7fb4479c" /><Relationship Type="http://schemas.openxmlformats.org/officeDocument/2006/relationships/notesMaster" Target="/ppt/notesMasters/notesMaster1.xml" Id="R5f6eda18cff14460" /></Relationships>
</file>

<file path=ppt/notesSlides/_rels/notesSlide7.xml.rels>&#65279;<?xml version="1.0" encoding="utf-8"?><Relationships xmlns="http://schemas.openxmlformats.org/package/2006/relationships"><Relationship Type="http://schemas.openxmlformats.org/officeDocument/2006/relationships/slide" Target="/ppt/slides/slide7.xml" Id="R1ba2a672ca514ec1" /><Relationship Type="http://schemas.openxmlformats.org/officeDocument/2006/relationships/notesMaster" Target="/ppt/notesMasters/notesMaster1.xml" Id="Rdae303e71c6945d4" /></Relationships>
</file>

<file path=ppt/notesSlides/_rels/notesSlide8.xml.rels>&#65279;<?xml version="1.0" encoding="utf-8"?><Relationships xmlns="http://schemas.openxmlformats.org/package/2006/relationships"><Relationship Type="http://schemas.openxmlformats.org/officeDocument/2006/relationships/slide" Target="/ppt/slides/slide8.xml" Id="R84dc822e78f04656" /><Relationship Type="http://schemas.openxmlformats.org/officeDocument/2006/relationships/notesMaster" Target="/ppt/notesMasters/notesMaster1.xml" Id="R31b803d34fd9403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9eeef6404724a53" /><Relationship Type="http://schemas.openxmlformats.org/officeDocument/2006/relationships/notesMaster" Target="/ppt/notesMasters/notesMaster1.xml" Id="R608a0ae09f9742e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9466065825d4e1d" /><Relationship Type="http://schemas.openxmlformats.org/officeDocument/2006/relationships/notesMaster" Target="/ppt/notesMasters/notesMaster1.xml" Id="Rd326bcc5d358421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98b6d6a7a4245f2" /><Relationship Type="http://schemas.openxmlformats.org/officeDocument/2006/relationships/notesMaster" Target="/ppt/notesMasters/notesMaster1.xml" Id="Rffc9807cc1944d2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56f6b712dae49a8" /><Relationship Type="http://schemas.openxmlformats.org/officeDocument/2006/relationships/notesMaster" Target="/ppt/notesMasters/notesMaster1.xml" Id="R20996761bf97427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d4df8406dfc4e47" /><Relationship Type="http://schemas.openxmlformats.org/officeDocument/2006/relationships/notesMaster" Target="/ppt/notesMasters/notesMaster1.xml" Id="Rb4c5df374a934a6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ea7661bb43347ff" /><Relationship Type="http://schemas.openxmlformats.org/officeDocument/2006/relationships/notesMaster" Target="/ppt/notesMasters/notesMaster1.xml" Id="R3b638822f37e4bc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7fb1ef3090449ce" /><Relationship Type="http://schemas.openxmlformats.org/officeDocument/2006/relationships/notesMaster" Target="/ppt/notesMasters/notesMaster1.xml" Id="Rdacfcc33edda4d4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a43f7754cfb4d4f" /><Relationship Type="http://schemas.openxmlformats.org/officeDocument/2006/relationships/notesMaster" Target="/ppt/notesMasters/notesMaster1.xml" Id="Rb6dede9e4d0a475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fe6d4b47ffa4161" /><Relationship Type="http://schemas.openxmlformats.org/officeDocument/2006/relationships/notesMaster" Target="/ppt/notesMasters/notesMaster1.xml" Id="Rae5f55ea374d466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5d66955edf84299" /><Relationship Type="http://schemas.openxmlformats.org/officeDocument/2006/relationships/notesMaster" Target="/ppt/notesMasters/notesMaster1.xml" Id="R8385abb7c6bc4c9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ace75d4e2ac4e98" /><Relationship Type="http://schemas.openxmlformats.org/officeDocument/2006/relationships/notesMaster" Target="/ppt/notesMasters/notesMaster1.xml" Id="R8332a7e74184416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2aa45ade7cd4e97" /><Relationship Type="http://schemas.openxmlformats.org/officeDocument/2006/relationships/notesMaster" Target="/ppt/notesMasters/notesMaster1.xml" Id="R61f214535517406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dabd5ede17c4ee2" /><Relationship Type="http://schemas.openxmlformats.org/officeDocument/2006/relationships/notesMaster" Target="/ppt/notesMasters/notesMaster1.xml" Id="R745889d48e654e8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85fb4bf3b0b45bb" /><Relationship Type="http://schemas.openxmlformats.org/officeDocument/2006/relationships/notesMaster" Target="/ppt/notesMasters/notesMaster1.xml" Id="R296971dc06ca48d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a859c0657794e46" /><Relationship Type="http://schemas.openxmlformats.org/officeDocument/2006/relationships/notesMaster" Target="/ppt/notesMasters/notesMaster1.xml" Id="Rae49c17624674a9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97b08e8589f4165" /><Relationship Type="http://schemas.openxmlformats.org/officeDocument/2006/relationships/notesMaster" Target="/ppt/notesMasters/notesMaster1.xml" Id="R77e441b42d5648f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6f587a4511d4113" /><Relationship Type="http://schemas.openxmlformats.org/officeDocument/2006/relationships/notesMaster" Target="/ppt/notesMasters/notesMaster1.xml" Id="R90c7a7dc98524af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c106c0dc3134e79" /><Relationship Type="http://schemas.openxmlformats.org/officeDocument/2006/relationships/notesMaster" Target="/ppt/notesMasters/notesMaster1.xml" Id="R7206a7b3ed334bb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3f5e3e43d794051" /><Relationship Type="http://schemas.openxmlformats.org/officeDocument/2006/relationships/notesMaster" Target="/ppt/notesMasters/notesMaster1.xml" Id="R704e973f13604b9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af37141baaa43ca" /><Relationship Type="http://schemas.openxmlformats.org/officeDocument/2006/relationships/notesMaster" Target="/ppt/notesMasters/notesMaster1.xml" Id="R7d19584839414d0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0984ba8e10c472f" /><Relationship Type="http://schemas.openxmlformats.org/officeDocument/2006/relationships/notesMaster" Target="/ppt/notesMasters/notesMaster1.xml" Id="Ra43b91f23ed0499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46c8e9109aa4eeb" /><Relationship Type="http://schemas.openxmlformats.org/officeDocument/2006/relationships/notesMaster" Target="/ppt/notesMasters/notesMaster1.xml" Id="R9d2b15c9231f418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0c58d29d3c949a9" /><Relationship Type="http://schemas.openxmlformats.org/officeDocument/2006/relationships/notesMaster" Target="/ppt/notesMasters/notesMaster1.xml" Id="R797f0170c0f045b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8f5951c31944593" /><Relationship Type="http://schemas.openxmlformats.org/officeDocument/2006/relationships/notesMaster" Target="/ppt/notesMasters/notesMaster1.xml" Id="R1df0c934f3d848a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2cf2f0720b24730" /><Relationship Type="http://schemas.openxmlformats.org/officeDocument/2006/relationships/notesMaster" Target="/ppt/notesMasters/notesMaster1.xml" Id="Ree1d379ea0e74e3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8530797d21246bb" /><Relationship Type="http://schemas.openxmlformats.org/officeDocument/2006/relationships/notesMaster" Target="/ppt/notesMasters/notesMaster1.xml" Id="R5f88e48739e14bd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246933d9dce42a4" /><Relationship Type="http://schemas.openxmlformats.org/officeDocument/2006/relationships/notesMaster" Target="/ppt/notesMasters/notesMaster1.xml" Id="R05eb37de20fa463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718b59938fe443f" /><Relationship Type="http://schemas.openxmlformats.org/officeDocument/2006/relationships/notesMaster" Target="/ppt/notesMasters/notesMaster1.xml" Id="R17fb8125a2054ba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17a0781495647d8" /><Relationship Type="http://schemas.openxmlformats.org/officeDocument/2006/relationships/notesMaster" Target="/ppt/notesMasters/notesMaster1.xml" Id="R8ad366b548bc4f0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a4ac44574f54f39" /><Relationship Type="http://schemas.openxmlformats.org/officeDocument/2006/relationships/notesMaster" Target="/ppt/notesMasters/notesMaster1.xml" Id="R46c4ea6b82f74a3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0b0627585fa4461" /><Relationship Type="http://schemas.openxmlformats.org/officeDocument/2006/relationships/notesMaster" Target="/ppt/notesMasters/notesMaster1.xml" Id="R8b0c790d57d1456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e7f90ecc47f4a4d" /><Relationship Type="http://schemas.openxmlformats.org/officeDocument/2006/relationships/notesMaster" Target="/ppt/notesMasters/notesMaster1.xml" Id="R78fdb8ccf8da4c4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7c2d59eaf6e473a" /><Relationship Type="http://schemas.openxmlformats.org/officeDocument/2006/relationships/notesMaster" Target="/ppt/notesMasters/notesMaster1.xml" Id="Rb3f75a956fd3491b"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c3a49952a2845f3" /><Relationship Type="http://schemas.openxmlformats.org/officeDocument/2006/relationships/notesMaster" Target="/ppt/notesMasters/notesMaster1.xml" Id="Rc8c7ecc133674f4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25e7b3c0e2f4f2e" /><Relationship Type="http://schemas.openxmlformats.org/officeDocument/2006/relationships/notesMaster" Target="/ppt/notesMasters/notesMaster1.xml" Id="Ra331e2c9e3b04e04"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7ff2c26c004e4a3f" /><Relationship Type="http://schemas.openxmlformats.org/officeDocument/2006/relationships/notesMaster" Target="/ppt/notesMasters/notesMaster1.xml" Id="Rd7e106ff871d4316"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c0978e9d070f4412" /><Relationship Type="http://schemas.openxmlformats.org/officeDocument/2006/relationships/notesMaster" Target="/ppt/notesMasters/notesMaster1.xml" Id="R9bb2a268cf3d4dea"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216188fc5654419f" /><Relationship Type="http://schemas.openxmlformats.org/officeDocument/2006/relationships/notesMaster" Target="/ppt/notesMasters/notesMaster1.xml" Id="R8b739197316e4922"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058fdc9a93e942f0" /><Relationship Type="http://schemas.openxmlformats.org/officeDocument/2006/relationships/notesMaster" Target="/ppt/notesMasters/notesMaster1.xml" Id="R4d426c9be43d47d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12530c1687294962" /><Relationship Type="http://schemas.openxmlformats.org/officeDocument/2006/relationships/notesMaster" Target="/ppt/notesMasters/notesMaster1.xml" Id="R680c1fad7b844c41"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1d7cd700d34f4a81" /><Relationship Type="http://schemas.openxmlformats.org/officeDocument/2006/relationships/notesMaster" Target="/ppt/notesMasters/notesMaster1.xml" Id="R6c392efb99a94f76"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a55e54e71fb644d2" /><Relationship Type="http://schemas.openxmlformats.org/officeDocument/2006/relationships/notesMaster" Target="/ppt/notesMasters/notesMaster1.xml" Id="R00a111605b604df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a controlled study of small modifications around Muon, not as a claim of a new universal optimizer.</a:t>
            </a:r>
          </a:p>
          <a:p xmlns:a="http://schemas.openxmlformats.org/drawingml/2006/main">
            <a:r>
              <a:t>The talk is organized around three mechanisms: MARS-style direction correction, momentum decay, and a Mu2SGD-inspired secondary estimator.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the audience the destination before the technical background.</a:t>
            </a:r>
          </a:p>
          <a:p xmlns:a="http://schemas.openxmlformats.org/drawingml/2006/main">
            <a:r>
              <a:t>The strongest positive result is late momentum decay under constant learning rate. MARS gives smaller improvements in selected higher-learning-rate conditions.</a:t>
            </a:r>
          </a:p>
          <a:p xmlns:a="http://schemas.openxmlformats.org/drawingml/2006/main">
            <a:r>
              <a:t>The Mu2-style correction is a useful negative result because we verified it changes the direction but does not reliably improve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third builds enough optimization background for a mixed audience.</a:t>
            </a:r>
          </a:p>
          <a:p xmlns:a="http://schemas.openxmlformats.org/drawingml/2006/main">
            <a:r>
              <a:t>The results are then grouped by mechanism rather than by chronology, which makes the argument easier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non-specialist audience, explain the loop before naming the optimizers.</a:t>
            </a:r>
          </a:p>
          <a:p xmlns:a="http://schemas.openxmlformats.org/drawingml/2006/main">
            <a:r>
              <a:t>The project changes the rule that turns noisy minibatch gradients into a matrix update; the model, data, and training budget stay fixed inside each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the two controls explicitly because the central momentum result is an interaction between them.</a:t>
            </a:r>
          </a:p>
          <a:p xmlns:a="http://schemas.openxmlformats.org/drawingml/2006/main">
            <a:r>
              <a:t>A decaying learning rate shrinks all remaining parameter motion. A decaying beta changes which historical directions are emphasized.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Muon is not applied uniformly to every tensor in our implementation.</a:t>
            </a:r>
          </a:p>
          <a:p xmlns:a="http://schemas.openxmlformats.org/drawingml/2006/main">
            <a:r>
              <a:t>For matrix parameters it uses momentum, Nesterov-style lookahead, and five Newton–Schulz steps to approximate the polar update. Biases and normalization parameters use an internal AdamW branch.</a:t>
            </a:r>
          </a:p>
          <a:p xmlns:a="http://schemas.openxmlformats.org/drawingml/2006/main">
            <a:r>
              <a:t>Source: Keller Jordan, 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mechanism has a distinct role: MARS changes the current direction using a gradient difference, momentum decay changes memory length, and Mu2 adds a recursive estimator.</a:t>
            </a:r>
          </a:p>
          <a:p xmlns:a="http://schemas.openxmlformats.org/drawingml/2006/main">
            <a:r>
              <a:t>The core question is not whether one package wins everywhere, but which mechanism changes behavior under which stress.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STORM introduced same-sample recursive gradient correction; Mu2-SGD combines a related correction with Anytime iterate averaging and proves learning-rate robustness under convex assumptions.</a:t>
            </a:r>
          </a:p>
          <a:p xmlns:a="http://schemas.openxmlformats.org/drawingml/2006/main">
            <a:r>
              <a:t>MARS scales the correction for preconditioned optimizers. MARS-M later carries that construction into Moonlight and Muon, including matrix-aware scaling and clipping.</a:t>
            </a:r>
          </a:p>
          <a:p xmlns:a="http://schemas.openxmlformats.org/drawingml/2006/main">
            <a:r>
              <a:t>DEMON derives a nonlinear momentum-decay schedule from the cumulative future influence of momentum, but studies SGDM and Adam rather than Muon.</a:t>
            </a:r>
          </a:p>
          <a:p xmlns:a="http://schemas.openxmlformats.org/drawingml/2006/main">
            <a:r>
              <a:t>Our contribution is a controlled vision ablation: isolate the mechanisms, keep the training recipe fixed, and test where each transfers into Muon.</a:t>
            </a:r>
          </a:p>
          <a:p xmlns:a="http://schemas.openxmlformats.org/drawingml/2006/main">
            <a:r>
              <a:t>Sources: https://arxiv.org/html/2304.04172 ; https://arxiv.org/html/2411.10438 ; https://arxiv.org/html/2510.21800v2 ; https://arxiv.org/abs/1910.04952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actual order implemented in the combined optimizer: MARS correction, Mu2-inspired recursive estimator, scheduled Muon momentum, Nesterov signal, Newton–Schulz polar map, then the outer parameter update.</a:t>
            </a:r>
          </a:p>
          <a:p xmlns:a="http://schemas.openxmlformats.org/drawingml/2006/main">
            <a:r>
              <a:t>The implementation passes the estimator tensor into Muon in place. Muon overwrites that tensor with h_t, the Nesterov-combined pre-polar signal, so the next recurrence uses h_(t-1), not a literal untouched r_(t-1).</a:t>
            </a:r>
          </a:p>
          <a:p xmlns:a="http://schemas.openxmlformats.org/drawingml/2006/main">
            <a:r>
              <a:t>Setting gamma to zero removes MARS. Setting alpha to zero removes the Mu2-inspired estimator. Holding beta constant removes momentum decay.</a:t>
            </a:r>
          </a:p>
          <a:p xmlns:a="http://schemas.openxmlformats.org/drawingml/2006/main">
            <a:r>
              <a:t>Non-matrix parameters remain in the same auxiliary AdamW branch in every matched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ResNet on CIFAR-100 is the fast controlled lab: broad grids and repeated seeds are inexpensive.</a:t>
            </a:r>
          </a:p>
          <a:p xmlns:a="http://schemas.openxmlformats.org/drawingml/2006/main">
            <a:r>
              <a:t>TinyViT on ImageNet-100 is the larger confirmation workload: higher-resolution data, heavier augmentation, and a transformer-like architecture provide a meaningful stress test.</a:t>
            </a:r>
          </a:p>
          <a:p xmlns:a="http://schemas.openxmlformats.org/drawingml/2006/main">
            <a:r>
              <a:t>We do not compare absolute accuracy across the two datasets.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CIFAR-100 has 100 fine-grained classes and small images, making complete grids feasible.</a:t>
            </a:r>
          </a:p>
          <a:p xmlns:a="http://schemas.openxmlformats.org/drawingml/2006/main">
            <a:r>
              <a:t>The modified CIFAR stem avoids the aggressive downsampling used for ImageNet-sized inputs.</a:t>
            </a:r>
          </a:p>
          <a:p xmlns:a="http://schemas.openxmlformats.org/drawingml/2006/main">
            <a:r>
              <a:t>This workload is where we establish clean learning-rate, coefficient, and factorial ablations.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real tiny_vit_5m_224 architecture, not a compact proxy.</a:t>
            </a:r>
          </a:p>
          <a:p xmlns:a="http://schemas.openxmlformats.org/drawingml/2006/main">
            <a:r>
              <a:t>Replacing the 1000-class head by a 100-class head yields 5,103,864 trainable parameters, which explains the difference from the canonical 5.4M label.</a:t>
            </a:r>
          </a:p>
          <a:p xmlns:a="http://schemas.openxmlformats.org/drawingml/2006/main">
            <a:r>
              <a:t>The experiment is from scratch for 50 epochs on ImageNet-100; it does not reproduce TinyViT's ImageNet-1K pretraining and distillation recipe.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short, from-scratch optimizer comparisons with the same 50-epoch budget and batch size on both workloads.</a:t>
            </a:r>
          </a:p>
          <a:p xmlns:a="http://schemas.openxmlformats.org/drawingml/2006/main">
            <a:r>
              <a:t>Final accuracy is the final evaluated epoch, not a best-checkpoint cherry pick. Error bars are sample standard deviations across the stated seeds.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resolves the most important implementation ambiguity.</a:t>
            </a:r>
          </a:p>
          <a:p xmlns:a="http://schemas.openxmlformats.org/drawingml/2006/main">
            <a:r>
              <a:t>Rank-2-or-higher parameters, including classifier weights, use Muon and the experiment matrix learning rate. Biases, normalization scales, and other rank-1 tensors use a fixed AdamW branch.</a:t>
            </a:r>
          </a:p>
          <a:p xmlns:a="http://schemas.openxmlformats.org/drawingml/2006/main">
            <a:r>
              <a:t>For convolution weights shaped [out, in, kH, kW], the implementation reshapes to [out, in·kH·kW], applies the Muon update, and restores the original tensor shape afterward.</a:t>
            </a:r>
          </a:p>
          <a:p xmlns:a="http://schemas.openxmlformats.org/drawingml/2006/main">
            <a:r>
              <a:t>The outer scheduler changes only the matrix learning 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the schedules once here so later result slides can stay uncluttered.</a:t>
            </a:r>
          </a:p>
          <a:p xmlns:a="http://schemas.openxmlformats.org/drawingml/2006/main">
            <a:r>
              <a:t>Cosine matrix LR decays to 5% of the initial value over 50 epochs. Momentum changes happen in a specified early or late window. Gamma and alpha are either fixed or explicitly scheduled.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transparent about evidence levels. Broad seed-42 sweeps locate behavior; seeds 42–44 confirm the cells that support the claims.</a:t>
            </a:r>
          </a:p>
          <a:p xmlns:a="http://schemas.openxmlformats.org/drawingml/2006/main">
            <a:r>
              <a:t>The full ResNet LR grid is three-seed. TinyViT confirmations are targeted because the workload is more expensive.</a:t>
            </a:r>
          </a:p>
          <a:p xmlns:a="http://schemas.openxmlformats.org/drawingml/2006/main">
            <a:r>
              <a:t>This asymmetry is appropriate for a semester project as long as it is explicit.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implementation is a deliberately simple MARS-inspired correction, not the full MARS optimizer and not a claim of first combining MARS and Muon.</a:t>
            </a:r>
          </a:p>
          <a:p xmlns:a="http://schemas.openxmlformats.org/drawingml/2006/main">
            <a:r>
              <a:t>MARS-M previously studied a MARS–Muon combination. We isolate the consecutive-gradient term and examine it with momentum timing across two vision workloads.</a:t>
            </a:r>
          </a:p>
          <a:p xmlns:a="http://schemas.openxmlformats.org/drawingml/2006/main">
            <a:r>
              <a:t>Sources: Yuan et al. 2024; Liu et al. 2025, MARS-M.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MARS-M is prior work on combining a MARS-style corrected gradient with a Muon or Moonlight matrix update.</a:t>
            </a:r>
          </a:p>
          <a:p xmlns:a="http://schemas.openxmlformats.org/drawingml/2006/main">
            <a:r>
              <a:t>The formal construction uses a same-sample gradient difference, beta over one minus beta scaling, clipping, and matrix-dependent output scaling. Approximate MARS-M also discusses consecutive-minibatch gradients and omission of corrected-gradient clipping.</a:t>
            </a:r>
          </a:p>
          <a:p xmlns:a="http://schemas.openxmlformats.org/drawingml/2006/main">
            <a:r>
              <a:t>Consecutive-minibatch gradients and omission of corrected-gradient clipping are also discussed in approximate MARS-M. Our contribution is the controlled experimental study, not those choices themselves.</a:t>
            </a:r>
          </a:p>
          <a:p xmlns:a="http://schemas.openxmlformats.org/drawingml/2006/main">
            <a:r>
              <a:t>MARS-M reports improved language-modeling and computer-vision results and gives a first-order stationarity rate of order T to the minus one third up to logarithmic factors, compared with a previously established T to the minus one quarter rate for Muon.</a:t>
            </a:r>
          </a:p>
          <a:p xmlns:a="http://schemas.openxmlformats.org/drawingml/2006/main">
            <a:r>
              <a:t>Source: https://arxiv.org/html/2510.21800v2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cleanest ResNet learning-rate result: beta 0.95, fixed auxiliary AdamW LR, seeds 42–44.</a:t>
            </a:r>
          </a:p>
          <a:p xmlns:a="http://schemas.openxmlformats.org/drawingml/2006/main">
            <a:r>
              <a:t>Gamma 0.5 slightly hurts at the lowest rates, then adds 0.13 points at LR 0.04 and 0.24 points at LR 0.08.</a:t>
            </a:r>
          </a:p>
          <a:p xmlns:a="http://schemas.openxmlformats.org/drawingml/2006/main">
            <a:r>
              <a:t>The claim is a small improvement in selected higher-LR conditions, not a uniform robustness or stabilization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LR 0.04, gamma 0.25 is the best tested point at 74.91 ± 0.24 percent.</a:t>
            </a:r>
          </a:p>
          <a:p xmlns:a="http://schemas.openxmlformats.org/drawingml/2006/main">
            <a:r>
              <a:t>At LR 0.08, gamma 0.75 is the best tested point at 74.92 ± 0.09 percent.</a:t>
            </a:r>
          </a:p>
          <a:p xmlns:a="http://schemas.openxmlformats.org/drawingml/2006/main">
            <a:r>
              <a:t>These are in-grid optima; do not turn them into a universal coefficient recommendation.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trajectories overlap through much of training; the corrected runs separate late rather than winning immediately.</a:t>
            </a:r>
          </a:p>
          <a:p xmlns:a="http://schemas.openxmlformats.org/drawingml/2006/main">
            <a:r>
              <a:t>The final paired improvements are 0.46 points at LR 0.04 with gamma 0.25 and 0.42 points at LR 0.08 with gamma 0.75.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clean cross-architecture confirmation at cosine matrix LR 0.01 and beta 0.90.</a:t>
            </a:r>
          </a:p>
          <a:p xmlns:a="http://schemas.openxmlformats.org/drawingml/2006/main">
            <a:r>
              <a:t>MARS raises mean accuracy from 84.12 ± 0.28 to 84.46 ± 0.18 percent.</a:t>
            </a:r>
          </a:p>
          <a:p xmlns:a="http://schemas.openxmlformats.org/drawingml/2006/main">
            <a:r>
              <a:t>The much larger historical high-LR gap is preserved in backup; the main claim uses this cleaner matched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the transition from MARS to momentum.</a:t>
            </a:r>
          </a:p>
          <a:p xmlns:a="http://schemas.openxmlformats.org/drawingml/2006/main">
            <a:r>
              <a:t>The supported statement is a small improvement in selected higher-LR conditions. We do not claim that every gamma helps, that MARS wins at low LR, or that our formula reproduces MARS-M.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 constant beta, the contribution of an older gradient decays geometrically. Lowering beta shortens this memory during the chosen window.</a:t>
            </a:r>
          </a:p>
          <a:p xmlns:a="http://schemas.openxmlformats.org/drawingml/2006/main">
            <a:r>
              <a:t>For Muon this matters because the polar map removes much radial scale but preserves orientation: changing which gradients are remembered changes the direction sent into the polar map.</a:t>
            </a:r>
          </a:p>
          <a:p xmlns:a="http://schemas.openxmlformats.org/drawingml/2006/main">
            <a:r>
              <a:t>Source context: DEMON, Chen et al. 2021; our schedule is tested directly inside Muon.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 chooses beta so that the cumulative future contribution beta over one minus beta falls with the remaining training fraction.</a:t>
            </a:r>
          </a:p>
          <a:p xmlns:a="http://schemas.openxmlformats.org/drawingml/2006/main">
            <a:r>
              <a:t>The original study evaluates this schedule with SGDM and Adam across many model, dataset, and training-budget combinations.</a:t>
            </a:r>
          </a:p>
          <a:p xmlns:a="http://schemas.openxmlformats.org/drawingml/2006/main">
            <a:r>
              <a:t>Our schedule is not a reproduction of DEMON. We use selected early and late cosine windows and place them specifically inside Muon's matrix branch.</a:t>
            </a:r>
          </a:p>
          <a:p xmlns:a="http://schemas.openxmlformats.org/drawingml/2006/main">
            <a:r>
              <a:t>The new controlled question is the interaction between beta timing and constant versus cosine outer learning rate.</a:t>
            </a:r>
          </a:p>
          <a:p xmlns:a="http://schemas.openxmlformats.org/drawingml/2006/main">
            <a:r>
              <a:t>Source: Chen et al., Decaying Momentum Helps Neural Network Training, https://arxiv.org/abs/1910.04952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ResNet-18 on CIFAR-100 paired seed differences for seeds 42, 43, and 44. Each seed pair is centered at its epoch-5 difference, before beta can change. Evaluation occurs every five epochs.</a:t>
            </a:r>
          </a:p>
          <a:p xmlns:a="http://schemas.openxmlformats.org/drawingml/2006/main">
            <a:r>
              <a:t>A configuration audit found that the paired runs match in model, data, seed, optimizer, LR schedule, and all optimizer fields except beta endpoint and schedule. Beta is identical through epoch 6 and changes only afterward.</a:t>
            </a:r>
          </a:p>
          <a:p xmlns:a="http://schemas.openxmlformats.org/drawingml/2006/main">
            <a:r>
              <a:t>The independent runs are not bitwise-coupled. Their raw epoch-5 mean offsets are plus 1.21 points at LR 0.04 and plus 0.05 points at LR 0.08, so the figure removes that pre-intervention offset instead of attributing it to beta decay.</a:t>
            </a:r>
          </a:p>
          <a:p xmlns:a="http://schemas.openxmlformats.org/drawingml/2006/main">
            <a:r>
              <a:t>For each seed, we plot [early-decay accuracy − constant-beta accuracy] at epoch t, minus the same difference at epoch 5. This subtracts the observed baseline gap; it does not eliminate subsequent execution variability or establish causality.</a:t>
            </a:r>
          </a:p>
          <a:p xmlns:a="http://schemas.openxmlformats.org/drawingml/2006/main">
            <a:r>
              <a:t>After baseline-centering, the mean gain peaks at 1.70 plus or minus 0.42 points at epoch 10 for LR 0.04 and 3.30 plus or minus 0.55 points at epoch 15 for LR 0.08. These are sample SDs of paired seed changes.</a:t>
            </a:r>
          </a:p>
          <a:p xmlns:a="http://schemas.openxmlformats.org/drawingml/2006/main">
            <a:r>
              <a:t>The original uncentered final paired differences remain available in the archived curves: −0.66 ± 0.68 pp at LR 0.04 and −0.82 ± 0.48 pp at LR 0.08. These raw endpoint differences are different quantities from the baseline-centered endpoints plotted here.</a:t>
            </a:r>
          </a:p>
          <a:p xmlns:a="http://schemas.openxmlformats.org/drawingml/2006/main">
            <a:r>
              <a:t>The advantage then contracts and reverses. The result is a transient speed effect during the decay window, not an endpoint improvement under cosine LR.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ResNet-18 on CIFAR-100 with cosine learning-rate decay for 50 epochs. The graph shows seeds 42, 43, and 44 at matrix learning rates 0.04 and 0.08.</a:t>
            </a:r>
          </a:p>
          <a:p xmlns:a="http://schemas.openxmlformats.org/drawingml/2006/main">
            <a:r>
              <a:t>The three policies are constant beta 0.50, constant beta 0.98, and early cosine decay from beta 0.98 to 0.50 during epochs 6 through 18.</a:t>
            </a:r>
          </a:p>
          <a:p xmlns:a="http://schemas.openxmlformats.org/drawingml/2006/main">
            <a:r>
              <a:t>At LR 0.04, constant beta 0.50 reaches 73.47 plus or minus 0.26 percent, below constant beta 0.98 at 73.76 plus or minus 0.47 percent.</a:t>
            </a:r>
          </a:p>
          <a:p xmlns:a="http://schemas.openxmlformats.org/drawingml/2006/main">
            <a:r>
              <a:t>At LR 0.08, constant beta 0.50 reaches 74.26 plus or minus 0.43 percent, above constant beta 0.98 at 73.36 plus or minus 0.26 percent.</a:t>
            </a:r>
          </a:p>
          <a:p xmlns:a="http://schemas.openxmlformats.org/drawingml/2006/main">
            <a:r>
              <a:t>Early decay ends below the constant policies at both rates. The transient gain shown earlier therefore cannot be summarized as low momentum being universally preferable.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curve is the mean across seeds 42, 43, and 44. Shading shows the sample standard deviation. Test accuracy was recorded every five epochs.</a:t>
            </a:r>
          </a:p>
          <a:p xmlns:a="http://schemas.openxmlformats.org/drawingml/2006/main">
            <a:r>
              <a:t>All cells start at matrix LR 0.0025. The crossed choices are constant versus cosine LR and constant beta 0.98 versus late beta decay from 0.98 to 0.50 during epochs 36 through 48.</a:t>
            </a:r>
          </a:p>
          <a:p xmlns:a="http://schemas.openxmlformats.org/drawingml/2006/main">
            <a:r>
              <a:t>Under constant LR, the momentum-decay curve separates after the scheduled transition and finishes 1.58 plus or minus 0.33 percentage points higher. Under cosine LR, the curves remain close and the final paired change is negative.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 constant LR, late beta decay improves final accuracy by 1.58 ± 0.33 points.</a:t>
            </a:r>
          </a:p>
          <a:p xmlns:a="http://schemas.openxmlformats.org/drawingml/2006/main">
            <a:r>
              <a:t>Under cosine LR, the paired change is negative: minus 0.31 ± 0.31 points.</a:t>
            </a:r>
          </a:p>
          <a:p xmlns:a="http://schemas.openxmlformats.org/drawingml/2006/main">
            <a:r>
              <a:t>This is the cleanest quantitative statement of the interaction.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plot records the first evaluation epoch that reaches 84 percent, with five-epoch resolution.</a:t>
            </a:r>
          </a:p>
          <a:p xmlns:a="http://schemas.openxmlformats.org/drawingml/2006/main">
            <a:r>
              <a:t>Some seeds never reach the threshold and remain censored rather than being silently dropped.</a:t>
            </a:r>
          </a:p>
          <a:p xmlns:a="http://schemas.openxmlformats.org/drawingml/2006/main">
            <a:r>
              <a:t>A method can reach a target sooner without finishing best, or finish best without crossing earliest.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theoretical interpretation consistent with the experiment, not a convergence theorem for neural networks.</a:t>
            </a:r>
          </a:p>
          <a:p xmlns:a="http://schemas.openxmlformats.org/drawingml/2006/main">
            <a:r>
              <a:t>Beta decay reorients the memory estimate toward recent gradients. If the outer learning rate has already decayed, the remaining path length is too small to realize much benefit from that reorientation.</a:t>
            </a:r>
          </a:p>
          <a:p xmlns:a="http://schemas.openxmlformats.org/drawingml/2006/main">
            <a:r>
              <a:t>Muon approximately cancels radial magnitude, but it does not cancel angular error, so direction quality still matters.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algorithm couples an Anytime query average with a corrected momentum estimator.</a:t>
            </a:r>
          </a:p>
          <a:p xmlns:a="http://schemas.openxmlformats.org/drawingml/2006/main">
            <a:r>
              <a:t>The two gradients in the correction use the same fresh sample, which is essential to the variance-reduction analysis. Our plug-in does not reproduce that oracle construction or the Anytime query average.</a:t>
            </a:r>
          </a:p>
          <a:p xmlns:a="http://schemas.openxmlformats.org/drawingml/2006/main">
            <a:r>
              <a:t>Under convexity, a bounded domain, bounded stochastic-gradient variance, and smooth sample losses, the paper proves that the estimator error decays on the order of one over t up to constants and logarithmic terms.</a:t>
            </a:r>
          </a:p>
          <a:p xmlns:a="http://schemas.openxmlformats.org/drawingml/2006/main">
            <a:r>
              <a:t>The deep-learning heuristic in the original work uses fixed gamma 0.1 and beta 0.9 and reports improved learning-rate robustness on ResNet-18 with CIFAR-10 and on a small CNN with MNIST.</a:t>
            </a:r>
          </a:p>
          <a:p xmlns:a="http://schemas.openxmlformats.org/drawingml/2006/main">
            <a:r>
              <a:t>Those results motivate our question, but they do not imply that one component will transfer through Muon's polar update.</a:t>
            </a:r>
          </a:p>
          <a:p xmlns:a="http://schemas.openxmlformats.org/drawingml/2006/main">
            <a:r>
              <a:t>Source: https://arxiv.org/html/2304.04172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not a claim to reproduce the complete Mu2SGD algorithm. The implemented history correction uses h_(t-1), the prior Nesterov-combined pre-polar signal stored by Muon's in-place update.</a:t>
            </a:r>
          </a:p>
          <a:p xmlns:a="http://schemas.openxmlformats.org/drawingml/2006/main">
            <a:r>
              <a:t>A deterministic three-step optimizer trace confirms the distinction: the implemented in-place state gives nonzero correction and post-polar angles after step one, while a preserve-estimator literal recurrence stays exactly equal to the raw gradient and has zero angles.</a:t>
            </a:r>
          </a:p>
          <a:p xmlns:a="http://schemas.openxmlformats.org/drawingml/2006/main">
            <a:r>
              <a:t>We sweep the correction coefficient broadly, then confirm representative matched cells across seeds 42 to 44.</a:t>
            </a:r>
          </a:p>
          <a:p xmlns:a="http://schemas.openxmlformats.org/drawingml/2006/main">
            <a:r>
              <a:t>The main conclusion does not depend on an alpha schedule: the correction is active geometrically but does not improve accuracy consistently.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heatmap summarizes 78 fixed-coefficient seed-42 cells. Each positive-alpha cell is compared with alpha zero at the same beta and LR.</a:t>
            </a:r>
          </a:p>
          <a:p xmlns:a="http://schemas.openxmlformats.org/drawingml/2006/main">
            <a:r>
              <a:t>A few cells improve, but the response is inconsistent and high-memory settings can degrade sharply.</a:t>
            </a:r>
          </a:p>
          <a:p xmlns:a="http://schemas.openxmlformats.org/drawingml/2006/main">
            <a:r>
              <a:t>Treat this as exploration, not as a replicated optimizer ranking.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TinyViT at cosine matrix LR 0.01, beta 0.5 and 0.9 show essentially zero mean change from alpha 0.20.</a:t>
            </a:r>
          </a:p>
          <a:p xmlns:a="http://schemas.openxmlformats.org/drawingml/2006/main">
            <a:r>
              <a:t>At beta 0.95 the correction worsens an already unstable control.</a:t>
            </a:r>
          </a:p>
          <a:p xmlns:a="http://schemas.openxmlformats.org/drawingml/2006/main">
            <a:r>
              <a:t>Lowering beta matters more than enabling this estimator in the tested regime.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each diagnostic point we accumulate Frobenius inner products and squared norms across every matrix parameter before computing one global angle.</a:t>
            </a:r>
          </a:p>
          <a:p xmlns:a="http://schemas.openxmlformats.org/drawingml/2006/main">
            <a:r>
              <a:t>The pre-polar counterfactual compares the raw-gradient Muon Nesterov signal with the corrected-estimator Nesterov signal using matched old momentum.</a:t>
            </a:r>
          </a:p>
          <a:p xmlns:a="http://schemas.openxmlformats.org/drawingml/2006/main">
            <a:r>
              <a:t>The post-polar counterfactual applies the same Newton–Schulz map to both signals before measuring the angle again.</a:t>
            </a:r>
          </a:p>
          <a:p xmlns:a="http://schemas.openxmlformats.org/drawingml/2006/main">
            <a:r>
              <a:t>The relative correction norm measures the size of the estimator displacement relative to the raw gradient.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measured the angle between directions with and without our history correction at the same state, before and after Muon's approximate polar transform.</a:t>
            </a:r>
          </a:p>
          <a:p xmlns:a="http://schemas.openxmlformats.org/drawingml/2006/main">
            <a:r>
              <a:t>The angle increases with alpha and remains nonzero after orthogonalization.</a:t>
            </a:r>
          </a:p>
          <a:p xmlns:a="http://schemas.openxmlformats.org/drawingml/2006/main">
            <a:r>
              <a:t>Therefore the negative accuracy result is not because the correction vanished numerically.</a:t>
            </a:r>
          </a:p>
          <a:p xmlns:a="http://schemas.openxmlformats.org/drawingml/2006/main">
            <a:r>
              <a:t>Each plotted point is the mean of first-minibatch diagnostics sampled once per epoch over epochs 2–50. All curves use seed 42 only.</a:t>
            </a:r>
          </a:p>
          <a:p xmlns:a="http://schemas.openxmlformats.org/drawingml/2006/main">
            <a:r>
              <a:t>This is a local same-state counterfactual, not a separate training trajectory, endpoint statistic, or gradient-variance estimate.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nonzero angular change from our history correction is necessary to influence Muon, but it is not sufficient for optimization benefit.</a:t>
            </a:r>
          </a:p>
          <a:p xmlns:a="http://schemas.openxmlformats.org/drawingml/2006/main">
            <a:r>
              <a:t>Our history correction changes historical weighting and can introduce lag, bias, or misalignment with the local descent direction. We did not measure gradient variance.</a:t>
            </a:r>
          </a:p>
          <a:p xmlns:a="http://schemas.openxmlformats.org/drawingml/2006/main">
            <a:r>
              <a:t>The heavy TinyViT augmentation recipe and non-bitwise execution can magnify trajectory sensitivity near the LR boundary, but the experiments do not causally isolate which source dominates.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TinyViT-5M trained from scratch on ImageNet-100 for 50 epochs. Every cell uses initial LR 0.0025 and seeds 42, 43, and 44.</a:t>
            </a:r>
          </a:p>
          <a:p xmlns:a="http://schemas.openxmlformats.org/drawingml/2006/main">
            <a:r>
              <a:t>The eight-cell matched factorial crosses constant or cosine learning rate, gamma zero or 0.35, and constant beta 0.98 or late beta decay from 0.98 to 0.50 during epochs 36 through 48. Mu2 alpha is zero throughout.</a:t>
            </a:r>
          </a:p>
          <a:p xmlns:a="http://schemas.openxmlformats.org/drawingml/2006/main">
            <a:r>
              <a:t>The vertical axis is a paired seed-level contrast: epoch-50 accuracy with late beta decay minus accuracy with constant beta 0.98. Positive values favor late decay.</a:t>
            </a:r>
          </a:p>
          <a:p xmlns:a="http://schemas.openxmlformats.org/drawingml/2006/main">
            <a:r>
              <a:t>Under constant LR, late decay gives plus 1.58 percentage points for plain Muon and plus 2.34 points with MARS. Under cosine LR, the contrasts are minus 0.31 and minus 0.54 points.</a:t>
            </a:r>
          </a:p>
          <a:p xmlns:a="http://schemas.openxmlformats.org/drawingml/2006/main">
            <a:r>
              <a:t>The MARS increment after selecting late decay is only plus 0.18 plus or minus 0.29 points under constant LR, so the strongest cell does not establish additive synergy.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map is the clean conceptual summary of the project.</a:t>
            </a:r>
          </a:p>
          <a:p xmlns:a="http://schemas.openxmlformats.org/drawingml/2006/main">
            <a:r>
              <a:t>MARS has the clearest role near LR stress. Momentum memory and the outer learning rate interact strongly on TinyViT. Mu2 influences direction but lacks reliable accuracy benefit in these grids.</a:t>
            </a:r>
          </a:p>
          <a:p xmlns:a="http://schemas.openxmlformats.org/drawingml/2006/main">
            <a:r>
              <a:t>On TinyViT at cosine LR 0.01, beta 0.5 and 0.9 converge near 84 percent while beta 0.95 is unstable. At constant LR 0.0025, late beta decay from 0.98 to 0.50 improves the three-seed endpoint by 1.58 points over constant beta 0.98. The same late decay does not improve the cosine-LR endpoint.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claims with the same discipline used in the report.</a:t>
            </a:r>
          </a:p>
          <a:p xmlns:a="http://schemas.openxmlformats.org/drawingml/2006/main">
            <a:r>
              <a:t>We show empirical conditionality, not universal convergence guarantees. The value is in isolating mechanisms under controlled settings and retaining negative evidence.</a:t>
            </a:r>
          </a:p>
          <a:p xmlns:a="http://schemas.openxmlformats.org/drawingml/2006/main">
            <a:r>
              <a:t>TinyViT does not simply prefer low momentum. Lower beta prevents collapse under the stressed LR, while the best moderate-LR policy uses high momentum first and decays it late only when the learning rate remains constant.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most natural extension is broader model and dataset coverage, especially because compute is inexpensive for this project.</a:t>
            </a:r>
          </a:p>
          <a:p xmlns:a="http://schemas.openxmlformats.org/drawingml/2006/main">
            <a:r>
              <a:t>A stronger causal analysis would measure gradient variance, directional age, curvature, and alignment rather than inferring mechanism from schedules and outcomes.</a:t>
            </a:r>
          </a:p>
          <a:p xmlns:a="http://schemas.openxmlformats.org/drawingml/2006/main">
            <a:r>
              <a:t>A full-model AdamW baseline would answer a different question and should remain separate from this Muon-internal ablation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read this slide. Keep it available for questions and attribution.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here for questions. The remaining slides are backup material for detailed experimental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divider. Use only in response to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to answer questions about whether the coefficient and schedule space was explored sufficiently.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older package shows a much larger descriptive gap at LR 0.01, but the cleaner matched comparison supports the main claim.</a:t>
            </a:r>
          </a:p>
          <a:p xmlns:a="http://schemas.openxmlformats.org/drawingml/2006/main">
            <a:r>
              <a:t>It remains useful provenance, but the main deck uses the cleaner tuned-control comparison for the primary cross-architecture MARS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documents the wider policy search from which the late-decay confirmation was selected.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for detailed questions about alpha, beta, and LR coverage beyond the matched-delta 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analysis uses the implemented state: h_t is the Nesterov-combined pre-polar signal stored in place, not an untouched recursive estimator.</a:t>
            </a:r>
          </a:p>
          <a:p xmlns:a="http://schemas.openxmlformats.org/drawingml/2006/main">
            <a:r>
              <a:t>For a frozen scalarized recurrence, A maps the previous Muon momentum and stored h state. The plotted dominant eigenvalue is the memory pole of this two-state system.</a:t>
            </a:r>
          </a:p>
          <a:p xmlns:a="http://schemas.openxmlformats.org/drawingml/2006/main">
            <a:r>
              <a:t>Emphasize that the analysis is stylized and does not prove the cause of the neural-network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e48310192147f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d8ea3cdc6d4065" /><Relationship Type="http://schemas.openxmlformats.org/officeDocument/2006/relationships/slideLayout" Target="/ppt/slideLayouts/slideLayout1.xml" Id="R7961bf6208994de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61bf6208994de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e90cb469ac5474a" /><Relationship Type="http://schemas.openxmlformats.org/officeDocument/2006/relationships/notesSlide" Target="/ppt/notesSlides/notesSlide1.xml" Id="Rede85a94872247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a2678716d664ba5" /><Relationship Type="http://schemas.openxmlformats.org/officeDocument/2006/relationships/notesSlide" Target="/ppt/notesSlides/notesSlide2.xml" Id="R94222e4e88c643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ac679661d1248db" /><Relationship Type="http://schemas.openxmlformats.org/officeDocument/2006/relationships/notesSlide" Target="/ppt/notesSlides/notesSlide3.xml" Id="R1f83a5dd954a417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d0818bc23424988" /><Relationship Type="http://schemas.openxmlformats.org/officeDocument/2006/relationships/notesSlide" Target="/ppt/notesSlides/notesSlide4.xml" Id="R9135a0a6c5ad458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36c4be2d00e4a9e" /><Relationship Type="http://schemas.openxmlformats.org/officeDocument/2006/relationships/notesSlide" Target="/ppt/notesSlides/notesSlide5.xml" Id="Rbc731507cd66488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b80cbbb1d474190" /><Relationship Type="http://schemas.openxmlformats.org/officeDocument/2006/relationships/notesSlide" Target="/ppt/notesSlides/notesSlide6.xml" Id="Ra91f65052602489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089bebb4c6a49b0" /><Relationship Type="http://schemas.openxmlformats.org/officeDocument/2006/relationships/notesSlide" Target="/ppt/notesSlides/notesSlide7.xml" Id="R9158c5110d0d4b5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f74ce7242f54d66" /><Relationship Type="http://schemas.openxmlformats.org/officeDocument/2006/relationships/notesSlide" Target="/ppt/notesSlides/notesSlide8.xml" Id="R2c70c41443764a5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54148778b834137" /><Relationship Type="http://schemas.openxmlformats.org/officeDocument/2006/relationships/notesSlide" Target="/ppt/notesSlides/notesSlide9.xml" Id="R629c6cacdfd049e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b7d7a418b884799" /><Relationship Type="http://schemas.openxmlformats.org/officeDocument/2006/relationships/notesSlide" Target="/ppt/notesSlides/notesSlide10.xml" Id="R312cce6a96a04f0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cdfcf4eae8b42ac" /><Relationship Type="http://schemas.openxmlformats.org/officeDocument/2006/relationships/notesSlide" Target="/ppt/notesSlides/notesSlide11.xml" Id="R3ca9a347fd8e411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9e61566cbec4d0c" /><Relationship Type="http://schemas.openxmlformats.org/officeDocument/2006/relationships/notesSlide" Target="/ppt/notesSlides/notesSlide12.xml" Id="R3c366b02480c40f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4f30cdb9c8b4b3b" /><Relationship Type="http://schemas.openxmlformats.org/officeDocument/2006/relationships/notesSlide" Target="/ppt/notesSlides/notesSlide13.xml" Id="R8998c43ea94b43e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1e2caf4364f44da" /><Relationship Type="http://schemas.openxmlformats.org/officeDocument/2006/relationships/notesSlide" Target="/ppt/notesSlides/notesSlide14.xml" Id="R57302005448b4f5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633d8869e5a420a" /><Relationship Type="http://schemas.openxmlformats.org/officeDocument/2006/relationships/image" Target="/ppt/media/image.png" Id="R18f95e8bcd1f4792" /><Relationship Type="http://schemas.openxmlformats.org/officeDocument/2006/relationships/notesSlide" Target="/ppt/notesSlides/notesSlide15.xml" Id="R9fd82755bd3c4cf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885f52287f34b82" /><Relationship Type="http://schemas.openxmlformats.org/officeDocument/2006/relationships/notesSlide" Target="/ppt/notesSlides/notesSlide16.xml" Id="Ra76c2785949f43d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739fd988261422a" /><Relationship Type="http://schemas.openxmlformats.org/officeDocument/2006/relationships/notesSlide" Target="/ppt/notesSlides/notesSlide17.xml" Id="R40d5f557eb35464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b7a443f901c41df" /><Relationship Type="http://schemas.openxmlformats.org/officeDocument/2006/relationships/notesSlide" Target="/ppt/notesSlides/notesSlide18.xml" Id="R742629d144804b9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c90b1b7175e4b8e" /><Relationship Type="http://schemas.openxmlformats.org/officeDocument/2006/relationships/image" Target="/ppt/media/image2.png" Id="R11c38497801c42eb" /><Relationship Type="http://schemas.openxmlformats.org/officeDocument/2006/relationships/notesSlide" Target="/ppt/notesSlides/notesSlide19.xml" Id="Rd164ffd3428b4df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986fa084d4240d1" /><Relationship Type="http://schemas.openxmlformats.org/officeDocument/2006/relationships/image" Target="/ppt/media/image3.png" Id="Rab605c5f797a4dba" /><Relationship Type="http://schemas.openxmlformats.org/officeDocument/2006/relationships/notesSlide" Target="/ppt/notesSlides/notesSlide20.xml" Id="Rf4b6b1271b8545e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1a70ca4972f4511" /><Relationship Type="http://schemas.openxmlformats.org/officeDocument/2006/relationships/image" Target="/ppt/media/image4.png" Id="R34080adc5a854b84" /><Relationship Type="http://schemas.openxmlformats.org/officeDocument/2006/relationships/notesSlide" Target="/ppt/notesSlides/notesSlide21.xml" Id="R1de8edd35788475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bfebf5141c346e9" /><Relationship Type="http://schemas.openxmlformats.org/officeDocument/2006/relationships/image" Target="/ppt/media/image5.png" Id="Rcdc2c2ed5764498a" /><Relationship Type="http://schemas.openxmlformats.org/officeDocument/2006/relationships/notesSlide" Target="/ppt/notesSlides/notesSlide22.xml" Id="R601e68c3728446f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0bd41653e5b4595" /><Relationship Type="http://schemas.openxmlformats.org/officeDocument/2006/relationships/notesSlide" Target="/ppt/notesSlides/notesSlide23.xml" Id="R3cca47b1b4cd4a8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d96dc540b24439f" /><Relationship Type="http://schemas.openxmlformats.org/officeDocument/2006/relationships/notesSlide" Target="/ppt/notesSlides/notesSlide24.xml" Id="Rc2e56b3e4e3c40e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d5ddfb456b54d32" /><Relationship Type="http://schemas.openxmlformats.org/officeDocument/2006/relationships/notesSlide" Target="/ppt/notesSlides/notesSlide25.xml" Id="R0a37eaf330c448d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e228fcb450645a9" /><Relationship Type="http://schemas.openxmlformats.org/officeDocument/2006/relationships/chart" Target="/ppt/slides/charts/chart1.xml" Id="Rb5b3845d6178473f" /><Relationship Type="http://schemas.openxmlformats.org/officeDocument/2006/relationships/chart" Target="/ppt/slides/charts/chart2.xml" Id="Ra339ea40976b4fd0" /><Relationship Type="http://schemas.openxmlformats.org/officeDocument/2006/relationships/notesSlide" Target="/ppt/notesSlides/notesSlide26.xml" Id="Rcec365896d6f4a8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bc26fa487d54c02" /><Relationship Type="http://schemas.openxmlformats.org/officeDocument/2006/relationships/image" Target="/ppt/media/image6.png" Id="Rb95cbd47f75b479a" /><Relationship Type="http://schemas.openxmlformats.org/officeDocument/2006/relationships/notesSlide" Target="/ppt/notesSlides/notesSlide27.xml" Id="Ra0c768dd19704a4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df73b94d7894ec1" /><Relationship Type="http://schemas.openxmlformats.org/officeDocument/2006/relationships/image" Target="/ppt/media/image7.png" Id="Rb1d5273a37ce455a" /><Relationship Type="http://schemas.openxmlformats.org/officeDocument/2006/relationships/notesSlide" Target="/ppt/notesSlides/notesSlide28.xml" Id="Rab8cc0c0f13e45e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5d9a825cefc2434e" /><Relationship Type="http://schemas.openxmlformats.org/officeDocument/2006/relationships/image" Target="/ppt/media/image8.png" Id="Rab614c5af311402c" /><Relationship Type="http://schemas.openxmlformats.org/officeDocument/2006/relationships/notesSlide" Target="/ppt/notesSlides/notesSlide29.xml" Id="R0b4ef4005a46467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67a8ae9fc894d2a" /><Relationship Type="http://schemas.openxmlformats.org/officeDocument/2006/relationships/image" Target="/ppt/media/image9.png" Id="Re3b71bdbd3e24a01" /><Relationship Type="http://schemas.openxmlformats.org/officeDocument/2006/relationships/notesSlide" Target="/ppt/notesSlides/notesSlide30.xml" Id="Rcb5d9042db174e1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5a91add139b64ac4" /><Relationship Type="http://schemas.openxmlformats.org/officeDocument/2006/relationships/notesSlide" Target="/ppt/notesSlides/notesSlide31.xml" Id="R8efaa0d270974b9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8f33050d0cbe42a2" /><Relationship Type="http://schemas.openxmlformats.org/officeDocument/2006/relationships/notesSlide" Target="/ppt/notesSlides/notesSlide32.xml" Id="Re86bca6ba88346b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cb7f30f2b41e4b15" /><Relationship Type="http://schemas.openxmlformats.org/officeDocument/2006/relationships/notesSlide" Target="/ppt/notesSlides/notesSlide33.xml" Id="R06d8e3affde0437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3ab0fe65ad594910" /><Relationship Type="http://schemas.openxmlformats.org/officeDocument/2006/relationships/image" Target="/ppt/media/image10.png" Id="R1c10f4b8118048b9" /><Relationship Type="http://schemas.openxmlformats.org/officeDocument/2006/relationships/notesSlide" Target="/ppt/notesSlides/notesSlide34.xml" Id="R93f521f30a564d6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1b627aada9254c67" /><Relationship Type="http://schemas.openxmlformats.org/officeDocument/2006/relationships/image" Target="/ppt/media/image11.png" Id="R734b150d662e41f6" /><Relationship Type="http://schemas.openxmlformats.org/officeDocument/2006/relationships/notesSlide" Target="/ppt/notesSlides/notesSlide35.xml" Id="R1781fe5c889f468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dd8b14a1c4845c3" /><Relationship Type="http://schemas.openxmlformats.org/officeDocument/2006/relationships/notesSlide" Target="/ppt/notesSlides/notesSlide36.xml" Id="R59a74a2f944e4c45"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448eee2edf8347a5" /><Relationship Type="http://schemas.openxmlformats.org/officeDocument/2006/relationships/image" Target="/ppt/media/image12.png" Id="R8a287ac718414593" /><Relationship Type="http://schemas.openxmlformats.org/officeDocument/2006/relationships/notesSlide" Target="/ppt/notesSlides/notesSlide37.xml" Id="R9929bf62ddfb4e4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f24dbe07daa640fd" /><Relationship Type="http://schemas.openxmlformats.org/officeDocument/2006/relationships/notesSlide" Target="/ppt/notesSlides/notesSlide38.xml" Id="Rc23274fdd9704a6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85d64ed367ac4ab5" /><Relationship Type="http://schemas.openxmlformats.org/officeDocument/2006/relationships/image" Target="/ppt/media/image13.png" Id="R19e7fe53fd884755" /><Relationship Type="http://schemas.openxmlformats.org/officeDocument/2006/relationships/notesSlide" Target="/ppt/notesSlides/notesSlide39.xml" Id="R1d74cc0e00bf45d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e8940267fdc54974" /><Relationship Type="http://schemas.openxmlformats.org/officeDocument/2006/relationships/notesSlide" Target="/ppt/notesSlides/notesSlide40.xml" Id="R3a3b6da66ba74f7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fc2d59723b174d68" /><Relationship Type="http://schemas.openxmlformats.org/officeDocument/2006/relationships/notesSlide" Target="/ppt/notesSlides/notesSlide41.xml" Id="R2c14283bac574092"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e40e043032874e63" /><Relationship Type="http://schemas.openxmlformats.org/officeDocument/2006/relationships/notesSlide" Target="/ppt/notesSlides/notesSlide42.xml" Id="R3beff0e2854c41eb"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564da8451f7c4d6f" /><Relationship Type="http://schemas.openxmlformats.org/officeDocument/2006/relationships/hyperlink" Target="https://kellerjordan.github.io/posts/muon/" TargetMode="External" Id="Rb5a362efa3724615" /><Relationship Type="http://schemas.openxmlformats.org/officeDocument/2006/relationships/hyperlink" Target="https://arxiv.org/abs/2411.10438" TargetMode="External" Id="R8cbf964cfccd4f0d" /><Relationship Type="http://schemas.openxmlformats.org/officeDocument/2006/relationships/hyperlink" Target="https://arxiv.org/html/2510.21800v2" TargetMode="External" Id="Rbd5768f8984e45d0" /><Relationship Type="http://schemas.openxmlformats.org/officeDocument/2006/relationships/hyperlink" Target="https://arxiv.org/abs/2304.04172" TargetMode="External" Id="Raee2b88a3bb34ded" /><Relationship Type="http://schemas.openxmlformats.org/officeDocument/2006/relationships/hyperlink" Target="https://arxiv.org/abs/1905.10018" TargetMode="External" Id="Rd108f6d8fcf4411b" /><Relationship Type="http://schemas.openxmlformats.org/officeDocument/2006/relationships/hyperlink" Target="https://arxiv.org/abs/1910.04952" TargetMode="External" Id="R861ad4d90c9049bd" /><Relationship Type="http://schemas.openxmlformats.org/officeDocument/2006/relationships/hyperlink" Target="https://arxiv.org/abs/2207.10666" TargetMode="External" Id="R623034bf5d614277" /><Relationship Type="http://schemas.openxmlformats.org/officeDocument/2006/relationships/hyperlink" Target="https://www.cs.toronto.edu/~kriz/learning-features-2009-TR.pdf" TargetMode="External" Id="R7623c32b821d4797" /><Relationship Type="http://schemas.openxmlformats.org/officeDocument/2006/relationships/hyperlink" Target="https://www.kaggle.com/datasets/ambityga/imagenet100" TargetMode="External" Id="Rd427a2fed3d54b2f" /><Relationship Type="http://schemas.openxmlformats.org/officeDocument/2006/relationships/notesSlide" Target="/ppt/notesSlides/notesSlide43.xml" Id="R00b7da9393304ead"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fd94c7b5649c438b" /><Relationship Type="http://schemas.openxmlformats.org/officeDocument/2006/relationships/notesSlide" Target="/ppt/notesSlides/notesSlide44.xml" Id="R85ae2e723795478a"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0b183a1c5eea4a03" /><Relationship Type="http://schemas.openxmlformats.org/officeDocument/2006/relationships/notesSlide" Target="/ppt/notesSlides/notesSlide45.xml" Id="Recf4e86cb04148ab"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2ff73c3ef7ac4e17" /><Relationship Type="http://schemas.openxmlformats.org/officeDocument/2006/relationships/image" Target="/ppt/media/image14.png" Id="Rb5a9b8d63a224e99" /><Relationship Type="http://schemas.openxmlformats.org/officeDocument/2006/relationships/notesSlide" Target="/ppt/notesSlides/notesSlide46.xml" Id="R16666c11066848e9"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625f5e50ec554387" /><Relationship Type="http://schemas.openxmlformats.org/officeDocument/2006/relationships/image" Target="/ppt/media/image15.png" Id="R5a8dc245589a40cd" /><Relationship Type="http://schemas.openxmlformats.org/officeDocument/2006/relationships/notesSlide" Target="/ppt/notesSlides/notesSlide47.xml" Id="Ra3c1a2ea195b4ec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c98336f7b3d745e7" /><Relationship Type="http://schemas.openxmlformats.org/officeDocument/2006/relationships/image" Target="/ppt/media/image16.png" Id="R8e484bf39d3b47b8" /><Relationship Type="http://schemas.openxmlformats.org/officeDocument/2006/relationships/notesSlide" Target="/ppt/notesSlides/notesSlide48.xml" Id="Rc173173f88384763"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6aaa3bb4cbac4e2d" /><Relationship Type="http://schemas.openxmlformats.org/officeDocument/2006/relationships/image" Target="/ppt/media/image17.png" Id="Refdb0f128b594fb0" /><Relationship Type="http://schemas.openxmlformats.org/officeDocument/2006/relationships/notesSlide" Target="/ppt/notesSlides/notesSlide49.xml" Id="R146a4681e3cd4f9a"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4053caa3a67b49ab" /><Relationship Type="http://schemas.openxmlformats.org/officeDocument/2006/relationships/image" Target="/ppt/media/image18.png" Id="R304d13b43c764509" /><Relationship Type="http://schemas.openxmlformats.org/officeDocument/2006/relationships/notesSlide" Target="/ppt/notesSlides/notesSlide50.xml" Id="Rf03051e34661416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Seed 42</c:v>
          </c:tx>
          <c:spPr>
            <a:ln xmlns:a="http://schemas.openxmlformats.org/drawingml/2006/main" w="9525">
              <a:solidFill>
                <a:srgbClr val="E5B2CB"/>
              </a:solidFill>
              <a:prstDash val="solid"/>
            </a:ln>
          </c:spPr>
          <c:marker>
            <c:symbol val="none"/>
            <c:size val="2"/>
          </c:marker>
          <c:cat>
            <c:numRef>
              <c:f>'Chart Data'!$A$2:$A$11</c:f>
              <c:numCache>
                <c:formatCode>General</c:formatCode>
                <c:ptCount val="10"/>
                <c:pt idx="0">
                  <c:v>5</c:v>
                </c:pt>
                <c:pt idx="1">
                  <c:v>10</c:v>
                </c:pt>
                <c:pt idx="2">
                  <c:v>15</c:v>
                </c:pt>
                <c:pt idx="3">
                  <c:v>20</c:v>
                </c:pt>
                <c:pt idx="4">
                  <c:v>25</c:v>
                </c:pt>
                <c:pt idx="5">
                  <c:v>30</c:v>
                </c:pt>
                <c:pt idx="6">
                  <c:v>35</c:v>
                </c:pt>
                <c:pt idx="7">
                  <c:v>40</c:v>
                </c:pt>
                <c:pt idx="8">
                  <c:v>45</c:v>
                </c:pt>
                <c:pt idx="9">
                  <c:v>50</c:v>
                </c:pt>
              </c:numCache>
            </c:numRef>
          </c:cat>
          <c:val>
            <c:numRef>
              <c:f>'Chart Data'!$B$2:$B$11</c:f>
              <c:numCache>
                <c:formatCode>0.0</c:formatCode>
                <c:ptCount val="10"/>
                <c:pt idx="0">
                  <c:v>0</c:v>
                </c:pt>
                <c:pt idx="1">
                  <c:v>2.16</c:v>
                </c:pt>
                <c:pt idx="2">
                  <c:v>1.24</c:v>
                </c:pt>
                <c:pt idx="3">
                  <c:v>0.82</c:v>
                </c:pt>
                <c:pt idx="4">
                  <c:v>-0.33</c:v>
                </c:pt>
                <c:pt idx="5">
                  <c:v>-0.09</c:v>
                </c:pt>
                <c:pt idx="6">
                  <c:v>-1.25</c:v>
                </c:pt>
                <c:pt idx="7">
                  <c:v>-1.35</c:v>
                </c:pt>
                <c:pt idx="8">
                  <c:v>-1.38</c:v>
                </c:pt>
                <c:pt idx="9">
                  <c:v>-2.36</c:v>
                </c:pt>
              </c:numCache>
            </c:numRef>
          </c:val>
          <c:smooth val="0"/>
        </c:ser>
        <c:ser>
          <c:idx val="1"/>
          <c:order val="1"/>
          <c:tx>
            <c:v>Seed 43</c:v>
          </c:tx>
          <c:spPr>
            <a:ln xmlns:a="http://schemas.openxmlformats.org/drawingml/2006/main" w="9525">
              <a:solidFill>
                <a:srgbClr val="E5B2CB"/>
              </a:solidFill>
              <a:prstDash val="solid"/>
            </a:ln>
          </c:spPr>
          <c:marker>
            <c:symbol val="none"/>
            <c:size val="2"/>
          </c:marker>
          <c:cat>
            <c:numRef>
              <c:f>'Chart Data'!$C$2:$C$11</c:f>
              <c:numCache>
                <c:formatCode>General</c:formatCode>
                <c:ptCount val="10"/>
                <c:pt idx="0">
                  <c:v>5</c:v>
                </c:pt>
                <c:pt idx="1">
                  <c:v>10</c:v>
                </c:pt>
                <c:pt idx="2">
                  <c:v>15</c:v>
                </c:pt>
                <c:pt idx="3">
                  <c:v>20</c:v>
                </c:pt>
                <c:pt idx="4">
                  <c:v>25</c:v>
                </c:pt>
                <c:pt idx="5">
                  <c:v>30</c:v>
                </c:pt>
                <c:pt idx="6">
                  <c:v>35</c:v>
                </c:pt>
                <c:pt idx="7">
                  <c:v>40</c:v>
                </c:pt>
                <c:pt idx="8">
                  <c:v>45</c:v>
                </c:pt>
                <c:pt idx="9">
                  <c:v>50</c:v>
                </c:pt>
              </c:numCache>
            </c:numRef>
          </c:cat>
          <c:val>
            <c:numRef>
              <c:f>'Chart Data'!$D$2:$D$11</c:f>
              <c:numCache>
                <c:formatCode>0.0</c:formatCode>
                <c:ptCount val="10"/>
                <c:pt idx="0">
                  <c:v>0</c:v>
                </c:pt>
                <c:pt idx="1">
                  <c:v>1.33</c:v>
                </c:pt>
                <c:pt idx="2">
                  <c:v>1.81</c:v>
                </c:pt>
                <c:pt idx="3">
                  <c:v>0.72</c:v>
                </c:pt>
                <c:pt idx="4">
                  <c:v>0.77</c:v>
                </c:pt>
                <c:pt idx="5">
                  <c:v>0.28</c:v>
                </c:pt>
                <c:pt idx="6">
                  <c:v>-1.25</c:v>
                </c:pt>
                <c:pt idx="7">
                  <c:v>-1.35</c:v>
                </c:pt>
                <c:pt idx="8">
                  <c:v>-1.78</c:v>
                </c:pt>
                <c:pt idx="9">
                  <c:v>-1.97</c:v>
                </c:pt>
              </c:numCache>
            </c:numRef>
          </c:val>
          <c:smooth val="0"/>
        </c:ser>
        <c:ser>
          <c:idx val="2"/>
          <c:order val="2"/>
          <c:tx>
            <c:v>Seed 44</c:v>
          </c:tx>
          <c:spPr>
            <a:ln xmlns:a="http://schemas.openxmlformats.org/drawingml/2006/main" w="9525">
              <a:solidFill>
                <a:srgbClr val="E5B2CB"/>
              </a:solidFill>
              <a:prstDash val="solid"/>
            </a:ln>
          </c:spPr>
          <c:marker>
            <c:symbol val="none"/>
            <c:size val="2"/>
          </c:marker>
          <c:cat>
            <c:numRef>
              <c:f>'Chart Data'!$E$2:$E$11</c:f>
              <c:numCache>
                <c:formatCode>General</c:formatCode>
                <c:ptCount val="10"/>
                <c:pt idx="0">
                  <c:v>5</c:v>
                </c:pt>
                <c:pt idx="1">
                  <c:v>10</c:v>
                </c:pt>
                <c:pt idx="2">
                  <c:v>15</c:v>
                </c:pt>
                <c:pt idx="3">
                  <c:v>20</c:v>
                </c:pt>
                <c:pt idx="4">
                  <c:v>25</c:v>
                </c:pt>
                <c:pt idx="5">
                  <c:v>30</c:v>
                </c:pt>
                <c:pt idx="6">
                  <c:v>35</c:v>
                </c:pt>
                <c:pt idx="7">
                  <c:v>40</c:v>
                </c:pt>
                <c:pt idx="8">
                  <c:v>45</c:v>
                </c:pt>
                <c:pt idx="9">
                  <c:v>50</c:v>
                </c:pt>
              </c:numCache>
            </c:numRef>
          </c:cat>
          <c:val>
            <c:numRef>
              <c:f>'Chart Data'!$F$2:$F$11</c:f>
              <c:numCache>
                <c:formatCode>0.0</c:formatCode>
                <c:ptCount val="10"/>
                <c:pt idx="0">
                  <c:v>0</c:v>
                </c:pt>
                <c:pt idx="1">
                  <c:v>1.62</c:v>
                </c:pt>
                <c:pt idx="2">
                  <c:v>1.82</c:v>
                </c:pt>
                <c:pt idx="3">
                  <c:v>1.84</c:v>
                </c:pt>
                <c:pt idx="4">
                  <c:v>0.58</c:v>
                </c:pt>
                <c:pt idx="5">
                  <c:v>-0.17</c:v>
                </c:pt>
                <c:pt idx="6">
                  <c:v>-0.49</c:v>
                </c:pt>
                <c:pt idx="7">
                  <c:v>-1.08</c:v>
                </c:pt>
                <c:pt idx="8">
                  <c:v>-1.57</c:v>
                </c:pt>
                <c:pt idx="9">
                  <c:v>-1.28</c:v>
                </c:pt>
              </c:numCache>
            </c:numRef>
          </c:val>
          <c:smooth val="0"/>
        </c:ser>
        <c:ser>
          <c:idx val="3"/>
          <c:order val="3"/>
          <c:tx>
            <c:v>No post-baseline difference</c:v>
          </c:tx>
          <c:spPr>
            <a:ln xmlns:a="http://schemas.openxmlformats.org/drawingml/2006/main" w="14288">
              <a:solidFill>
                <a:srgbClr val="666666"/>
              </a:solidFill>
              <a:prstDash val="dash"/>
            </a:ln>
          </c:spPr>
          <c:marker>
            <c:symbol val="none"/>
            <c:size val="2"/>
          </c:marker>
          <c:cat>
            <c:numRef>
              <c:f>'Chart Data'!$G$2:$G$11</c:f>
              <c:numCache>
                <c:formatCode>General</c:formatCode>
                <c:ptCount val="10"/>
                <c:pt idx="0">
                  <c:v>5</c:v>
                </c:pt>
                <c:pt idx="1">
                  <c:v>10</c:v>
                </c:pt>
                <c:pt idx="2">
                  <c:v>15</c:v>
                </c:pt>
                <c:pt idx="3">
                  <c:v>20</c:v>
                </c:pt>
                <c:pt idx="4">
                  <c:v>25</c:v>
                </c:pt>
                <c:pt idx="5">
                  <c:v>30</c:v>
                </c:pt>
                <c:pt idx="6">
                  <c:v>35</c:v>
                </c:pt>
                <c:pt idx="7">
                  <c:v>40</c:v>
                </c:pt>
                <c:pt idx="8">
                  <c:v>45</c:v>
                </c:pt>
                <c:pt idx="9">
                  <c:v>50</c:v>
                </c:pt>
              </c:numCache>
            </c:numRef>
          </c:cat>
          <c:val>
            <c:numRef>
              <c:f>'Chart Data'!$H$2:$H$11</c:f>
              <c:numCache>
                <c:formatCode>0.0</c:formatCode>
                <c:ptCount val="10"/>
                <c:pt idx="0">
                  <c:v>0</c:v>
                </c:pt>
                <c:pt idx="1">
                  <c:v>0</c:v>
                </c:pt>
                <c:pt idx="2">
                  <c:v>0</c:v>
                </c:pt>
                <c:pt idx="3">
                  <c:v>0</c:v>
                </c:pt>
                <c:pt idx="4">
                  <c:v>0</c:v>
                </c:pt>
                <c:pt idx="5">
                  <c:v>0</c:v>
                </c:pt>
                <c:pt idx="6">
                  <c:v>0</c:v>
                </c:pt>
                <c:pt idx="7">
                  <c:v>0</c:v>
                </c:pt>
                <c:pt idx="8">
                  <c:v>0</c:v>
                </c:pt>
                <c:pt idx="9">
                  <c:v>0</c:v>
                </c:pt>
              </c:numCache>
            </c:numRef>
          </c:val>
          <c:smooth val="0"/>
        </c:ser>
        <c:ser>
          <c:idx val="4"/>
          <c:order val="4"/>
          <c:tx>
            <c:v>Mean paired change</c:v>
          </c:tx>
          <c:spPr>
            <a:ln xmlns:a="http://schemas.openxmlformats.org/drawingml/2006/main" w="28575">
              <a:solidFill>
                <a:srgbClr val="C23B86"/>
              </a:solidFill>
              <a:prstDash val="solid"/>
            </a:ln>
          </c:spPr>
          <c:marker>
            <c:symbol val="circle"/>
            <c:size val="4"/>
            <c:spPr>
              <a:solidFill xmlns:a="http://schemas.openxmlformats.org/drawingml/2006/main">
                <a:srgbClr val="C23B86"/>
              </a:solidFill>
            </c:spPr>
          </c:marker>
          <c:cat>
            <c:numRef>
              <c:f>'Chart Data'!$I$2:$I$11</c:f>
              <c:numCache>
                <c:formatCode>General</c:formatCode>
                <c:ptCount val="10"/>
                <c:pt idx="0">
                  <c:v>5</c:v>
                </c:pt>
                <c:pt idx="1">
                  <c:v>10</c:v>
                </c:pt>
                <c:pt idx="2">
                  <c:v>15</c:v>
                </c:pt>
                <c:pt idx="3">
                  <c:v>20</c:v>
                </c:pt>
                <c:pt idx="4">
                  <c:v>25</c:v>
                </c:pt>
                <c:pt idx="5">
                  <c:v>30</c:v>
                </c:pt>
                <c:pt idx="6">
                  <c:v>35</c:v>
                </c:pt>
                <c:pt idx="7">
                  <c:v>40</c:v>
                </c:pt>
                <c:pt idx="8">
                  <c:v>45</c:v>
                </c:pt>
                <c:pt idx="9">
                  <c:v>50</c:v>
                </c:pt>
              </c:numCache>
            </c:numRef>
          </c:cat>
          <c:val>
            <c:numRef>
              <c:f>'Chart Data'!$J$2:$J$11</c:f>
              <c:numCache>
                <c:formatCode>0.0</c:formatCode>
                <c:ptCount val="10"/>
                <c:pt idx="0">
                  <c:v>0</c:v>
                </c:pt>
                <c:pt idx="1">
                  <c:v>1.703</c:v>
                </c:pt>
                <c:pt idx="2">
                  <c:v>1.623</c:v>
                </c:pt>
                <c:pt idx="3">
                  <c:v>1.127</c:v>
                </c:pt>
                <c:pt idx="4">
                  <c:v>0.34</c:v>
                </c:pt>
                <c:pt idx="5">
                  <c:v>0.007</c:v>
                </c:pt>
                <c:pt idx="6">
                  <c:v>-0.997</c:v>
                </c:pt>
                <c:pt idx="7">
                  <c:v>-1.26</c:v>
                </c:pt>
                <c:pt idx="8">
                  <c:v>-1.577</c:v>
                </c:pt>
                <c:pt idx="9">
                  <c:v>-1.87</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Epoch</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General"/>
        <c:majorTickMark val="none"/>
        <c:minorTickMark val="none"/>
        <c:spPr>
          <a:ln xmlns:a="http://schemas.openxmlformats.org/drawingml/2006/main" w="9525">
            <a:solidFill>
              <a:srgbClr val="A6A6A6"/>
            </a:solidFill>
            <a:prstDash val="solid"/>
          </a:ln>
        </c:spPr>
        <c:txPr>
          <a:bodyPr xmlns:a="http://schemas.openxmlformats.org/drawingml/2006/main" anchorCtr="1"/>
          <a:lstStyle xmlns:a="http://schemas.openxmlformats.org/drawingml/2006/main"/>
          <a:p xmlns:a="http://schemas.openxmlformats.org/drawingml/2006/main">
            <a:pPr>
              <a:defRPr sz="825">
                <a:solidFill>
                  <a:srgbClr val="333333"/>
                </a:solidFill>
                <a:latin typeface="Arial"/>
                <a:ea typeface="Arial"/>
                <a:cs typeface="Arial"/>
              </a:defRPr>
            </a:pPr>
          </a:p>
        </c:txPr>
        <c:crossAx val="48672768"/>
      </c:catAx>
      <c:valAx>
        <c:axId val="48672768"/>
        <c:scaling>
          <c:orientation val="minMax"/>
          <c:max val="4"/>
          <c:min val="-2.5"/>
        </c:scaling>
        <c:delete val="0"/>
        <c:axPos val="l"/>
        <c:majorGridlines>
          <c:spPr>
            <a:ln xmlns:a="http://schemas.openxmlformats.org/drawingml/2006/main" w="9525">
              <a:solidFill>
                <a:srgbClr val="E6E6E6"/>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Change in paired accuracy gap since epoch 5 (pp)</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0"/>
        <c:majorTickMark val="none"/>
        <c:minorTickMark val="none"/>
        <c:spPr>
          <a:ln xmlns:a="http://schemas.openxmlformats.org/drawingml/2006/main" w="9525">
            <a:solidFill>
              <a:srgbClr val="A6A6A6"/>
            </a:solidFill>
            <a:prstDash val="solid"/>
          </a:ln>
        </c:spPr>
        <c:txPr>
          <a:bodyPr xmlns:a="http://schemas.openxmlformats.org/drawingml/2006/main" anchorCtr="1"/>
          <a:lstStyle xmlns:a="http://schemas.openxmlformats.org/drawingml/2006/main"/>
          <a:p xmlns:a="http://schemas.openxmlformats.org/drawingml/2006/main">
            <a:pPr>
              <a:defRPr sz="825">
                <a:solidFill>
                  <a:srgbClr val="333333"/>
                </a:solidFill>
                <a:latin typeface="Arial"/>
                <a:ea typeface="Arial"/>
                <a:cs typeface="Arial"/>
              </a:defRPr>
            </a:pPr>
          </a:p>
        </c:txPr>
        <c:crossAx val="48650112"/>
        <c:crossBetween val="between"/>
        <c:majorUnit val="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Seed 42</c:v>
          </c:tx>
          <c:spPr>
            <a:ln xmlns:a="http://schemas.openxmlformats.org/drawingml/2006/main" w="9525">
              <a:solidFill>
                <a:srgbClr val="E5B2CB"/>
              </a:solidFill>
              <a:prstDash val="solid"/>
            </a:ln>
          </c:spPr>
          <c:marker>
            <c:symbol val="none"/>
            <c:size val="2"/>
          </c:marker>
          <c:cat>
            <c:numRef>
              <c:f>'Chart Data'!$A$2:$A$11</c:f>
              <c:numCache>
                <c:formatCode>General</c:formatCode>
                <c:ptCount val="10"/>
                <c:pt idx="0">
                  <c:v>5</c:v>
                </c:pt>
                <c:pt idx="1">
                  <c:v>10</c:v>
                </c:pt>
                <c:pt idx="2">
                  <c:v>15</c:v>
                </c:pt>
                <c:pt idx="3">
                  <c:v>20</c:v>
                </c:pt>
                <c:pt idx="4">
                  <c:v>25</c:v>
                </c:pt>
                <c:pt idx="5">
                  <c:v>30</c:v>
                </c:pt>
                <c:pt idx="6">
                  <c:v>35</c:v>
                </c:pt>
                <c:pt idx="7">
                  <c:v>40</c:v>
                </c:pt>
                <c:pt idx="8">
                  <c:v>45</c:v>
                </c:pt>
                <c:pt idx="9">
                  <c:v>50</c:v>
                </c:pt>
              </c:numCache>
            </c:numRef>
          </c:cat>
          <c:val>
            <c:numRef>
              <c:f>'Chart Data'!$B$2:$B$11</c:f>
              <c:numCache>
                <c:formatCode>0.0</c:formatCode>
                <c:ptCount val="10"/>
                <c:pt idx="0">
                  <c:v>0</c:v>
                </c:pt>
                <c:pt idx="1">
                  <c:v>2.44</c:v>
                </c:pt>
                <c:pt idx="2">
                  <c:v>2.95</c:v>
                </c:pt>
                <c:pt idx="3">
                  <c:v>2.24</c:v>
                </c:pt>
                <c:pt idx="4">
                  <c:v>1.26</c:v>
                </c:pt>
                <c:pt idx="5">
                  <c:v>0.75</c:v>
                </c:pt>
                <c:pt idx="6">
                  <c:v>-0.32</c:v>
                </c:pt>
                <c:pt idx="7">
                  <c:v>-0.5</c:v>
                </c:pt>
                <c:pt idx="8">
                  <c:v>-0.93</c:v>
                </c:pt>
                <c:pt idx="9">
                  <c:v>-1.34</c:v>
                </c:pt>
              </c:numCache>
            </c:numRef>
          </c:val>
          <c:smooth val="0"/>
        </c:ser>
        <c:ser>
          <c:idx val="1"/>
          <c:order val="1"/>
          <c:tx>
            <c:v>Seed 43</c:v>
          </c:tx>
          <c:spPr>
            <a:ln xmlns:a="http://schemas.openxmlformats.org/drawingml/2006/main" w="9525">
              <a:solidFill>
                <a:srgbClr val="E5B2CB"/>
              </a:solidFill>
              <a:prstDash val="solid"/>
            </a:ln>
          </c:spPr>
          <c:marker>
            <c:symbol val="none"/>
            <c:size val="2"/>
          </c:marker>
          <c:cat>
            <c:numRef>
              <c:f>'Chart Data'!$C$2:$C$11</c:f>
              <c:numCache>
                <c:formatCode>General</c:formatCode>
                <c:ptCount val="10"/>
                <c:pt idx="0">
                  <c:v>5</c:v>
                </c:pt>
                <c:pt idx="1">
                  <c:v>10</c:v>
                </c:pt>
                <c:pt idx="2">
                  <c:v>15</c:v>
                </c:pt>
                <c:pt idx="3">
                  <c:v>20</c:v>
                </c:pt>
                <c:pt idx="4">
                  <c:v>25</c:v>
                </c:pt>
                <c:pt idx="5">
                  <c:v>30</c:v>
                </c:pt>
                <c:pt idx="6">
                  <c:v>35</c:v>
                </c:pt>
                <c:pt idx="7">
                  <c:v>40</c:v>
                </c:pt>
                <c:pt idx="8">
                  <c:v>45</c:v>
                </c:pt>
                <c:pt idx="9">
                  <c:v>50</c:v>
                </c:pt>
              </c:numCache>
            </c:numRef>
          </c:cat>
          <c:val>
            <c:numRef>
              <c:f>'Chart Data'!$D$2:$D$11</c:f>
              <c:numCache>
                <c:formatCode>0.0</c:formatCode>
                <c:ptCount val="10"/>
                <c:pt idx="0">
                  <c:v>0</c:v>
                </c:pt>
                <c:pt idx="1">
                  <c:v>3.97</c:v>
                </c:pt>
                <c:pt idx="2">
                  <c:v>3.93</c:v>
                </c:pt>
                <c:pt idx="3">
                  <c:v>3.12</c:v>
                </c:pt>
                <c:pt idx="4">
                  <c:v>2.58</c:v>
                </c:pt>
                <c:pt idx="5">
                  <c:v>2.31</c:v>
                </c:pt>
                <c:pt idx="6">
                  <c:v>1.75</c:v>
                </c:pt>
                <c:pt idx="7">
                  <c:v>1.32</c:v>
                </c:pt>
                <c:pt idx="8">
                  <c:v>0.49</c:v>
                </c:pt>
                <c:pt idx="9">
                  <c:v>0.24</c:v>
                </c:pt>
              </c:numCache>
            </c:numRef>
          </c:val>
          <c:smooth val="0"/>
        </c:ser>
        <c:ser>
          <c:idx val="2"/>
          <c:order val="2"/>
          <c:tx>
            <c:v>Seed 44</c:v>
          </c:tx>
          <c:spPr>
            <a:ln xmlns:a="http://schemas.openxmlformats.org/drawingml/2006/main" w="9525">
              <a:solidFill>
                <a:srgbClr val="E5B2CB"/>
              </a:solidFill>
              <a:prstDash val="solid"/>
            </a:ln>
          </c:spPr>
          <c:marker>
            <c:symbol val="none"/>
            <c:size val="2"/>
          </c:marker>
          <c:cat>
            <c:numRef>
              <c:f>'Chart Data'!$E$2:$E$11</c:f>
              <c:numCache>
                <c:formatCode>General</c:formatCode>
                <c:ptCount val="10"/>
                <c:pt idx="0">
                  <c:v>5</c:v>
                </c:pt>
                <c:pt idx="1">
                  <c:v>10</c:v>
                </c:pt>
                <c:pt idx="2">
                  <c:v>15</c:v>
                </c:pt>
                <c:pt idx="3">
                  <c:v>20</c:v>
                </c:pt>
                <c:pt idx="4">
                  <c:v>25</c:v>
                </c:pt>
                <c:pt idx="5">
                  <c:v>30</c:v>
                </c:pt>
                <c:pt idx="6">
                  <c:v>35</c:v>
                </c:pt>
                <c:pt idx="7">
                  <c:v>40</c:v>
                </c:pt>
                <c:pt idx="8">
                  <c:v>45</c:v>
                </c:pt>
                <c:pt idx="9">
                  <c:v>50</c:v>
                </c:pt>
              </c:numCache>
            </c:numRef>
          </c:cat>
          <c:val>
            <c:numRef>
              <c:f>'Chart Data'!$F$2:$F$11</c:f>
              <c:numCache>
                <c:formatCode>0.0</c:formatCode>
                <c:ptCount val="10"/>
                <c:pt idx="0">
                  <c:v>0</c:v>
                </c:pt>
                <c:pt idx="1">
                  <c:v>2.31</c:v>
                </c:pt>
                <c:pt idx="2">
                  <c:v>3.02</c:v>
                </c:pt>
                <c:pt idx="3">
                  <c:v>1.73</c:v>
                </c:pt>
                <c:pt idx="4">
                  <c:v>1.2</c:v>
                </c:pt>
                <c:pt idx="5">
                  <c:v>0.78</c:v>
                </c:pt>
                <c:pt idx="6">
                  <c:v>0.15</c:v>
                </c:pt>
                <c:pt idx="7">
                  <c:v>-1.08</c:v>
                </c:pt>
                <c:pt idx="8">
                  <c:v>-1.27</c:v>
                </c:pt>
                <c:pt idx="9">
                  <c:v>-1.52</c:v>
                </c:pt>
              </c:numCache>
            </c:numRef>
          </c:val>
          <c:smooth val="0"/>
        </c:ser>
        <c:ser>
          <c:idx val="3"/>
          <c:order val="3"/>
          <c:tx>
            <c:v>No post-baseline difference</c:v>
          </c:tx>
          <c:spPr>
            <a:ln xmlns:a="http://schemas.openxmlformats.org/drawingml/2006/main" w="14288">
              <a:solidFill>
                <a:srgbClr val="666666"/>
              </a:solidFill>
              <a:prstDash val="dash"/>
            </a:ln>
          </c:spPr>
          <c:marker>
            <c:symbol val="none"/>
            <c:size val="2"/>
          </c:marker>
          <c:cat>
            <c:numRef>
              <c:f>'Chart Data'!$G$2:$G$11</c:f>
              <c:numCache>
                <c:formatCode>General</c:formatCode>
                <c:ptCount val="10"/>
                <c:pt idx="0">
                  <c:v>5</c:v>
                </c:pt>
                <c:pt idx="1">
                  <c:v>10</c:v>
                </c:pt>
                <c:pt idx="2">
                  <c:v>15</c:v>
                </c:pt>
                <c:pt idx="3">
                  <c:v>20</c:v>
                </c:pt>
                <c:pt idx="4">
                  <c:v>25</c:v>
                </c:pt>
                <c:pt idx="5">
                  <c:v>30</c:v>
                </c:pt>
                <c:pt idx="6">
                  <c:v>35</c:v>
                </c:pt>
                <c:pt idx="7">
                  <c:v>40</c:v>
                </c:pt>
                <c:pt idx="8">
                  <c:v>45</c:v>
                </c:pt>
                <c:pt idx="9">
                  <c:v>50</c:v>
                </c:pt>
              </c:numCache>
            </c:numRef>
          </c:cat>
          <c:val>
            <c:numRef>
              <c:f>'Chart Data'!$H$2:$H$11</c:f>
              <c:numCache>
                <c:formatCode>0.0</c:formatCode>
                <c:ptCount val="10"/>
                <c:pt idx="0">
                  <c:v>0</c:v>
                </c:pt>
                <c:pt idx="1">
                  <c:v>0</c:v>
                </c:pt>
                <c:pt idx="2">
                  <c:v>0</c:v>
                </c:pt>
                <c:pt idx="3">
                  <c:v>0</c:v>
                </c:pt>
                <c:pt idx="4">
                  <c:v>0</c:v>
                </c:pt>
                <c:pt idx="5">
                  <c:v>0</c:v>
                </c:pt>
                <c:pt idx="6">
                  <c:v>0</c:v>
                </c:pt>
                <c:pt idx="7">
                  <c:v>0</c:v>
                </c:pt>
                <c:pt idx="8">
                  <c:v>0</c:v>
                </c:pt>
                <c:pt idx="9">
                  <c:v>0</c:v>
                </c:pt>
              </c:numCache>
            </c:numRef>
          </c:val>
          <c:smooth val="0"/>
        </c:ser>
        <c:ser>
          <c:idx val="4"/>
          <c:order val="4"/>
          <c:tx>
            <c:v>Mean paired change</c:v>
          </c:tx>
          <c:spPr>
            <a:ln xmlns:a="http://schemas.openxmlformats.org/drawingml/2006/main" w="28575">
              <a:solidFill>
                <a:srgbClr val="C23B86"/>
              </a:solidFill>
              <a:prstDash val="solid"/>
            </a:ln>
          </c:spPr>
          <c:marker>
            <c:symbol val="circle"/>
            <c:size val="4"/>
            <c:spPr>
              <a:solidFill xmlns:a="http://schemas.openxmlformats.org/drawingml/2006/main">
                <a:srgbClr val="C23B86"/>
              </a:solidFill>
            </c:spPr>
          </c:marker>
          <c:cat>
            <c:numRef>
              <c:f>'Chart Data'!$I$2:$I$11</c:f>
              <c:numCache>
                <c:formatCode>General</c:formatCode>
                <c:ptCount val="10"/>
                <c:pt idx="0">
                  <c:v>5</c:v>
                </c:pt>
                <c:pt idx="1">
                  <c:v>10</c:v>
                </c:pt>
                <c:pt idx="2">
                  <c:v>15</c:v>
                </c:pt>
                <c:pt idx="3">
                  <c:v>20</c:v>
                </c:pt>
                <c:pt idx="4">
                  <c:v>25</c:v>
                </c:pt>
                <c:pt idx="5">
                  <c:v>30</c:v>
                </c:pt>
                <c:pt idx="6">
                  <c:v>35</c:v>
                </c:pt>
                <c:pt idx="7">
                  <c:v>40</c:v>
                </c:pt>
                <c:pt idx="8">
                  <c:v>45</c:v>
                </c:pt>
                <c:pt idx="9">
                  <c:v>50</c:v>
                </c:pt>
              </c:numCache>
            </c:numRef>
          </c:cat>
          <c:val>
            <c:numRef>
              <c:f>'Chart Data'!$J$2:$J$11</c:f>
              <c:numCache>
                <c:formatCode>0.0</c:formatCode>
                <c:ptCount val="10"/>
                <c:pt idx="0">
                  <c:v>0</c:v>
                </c:pt>
                <c:pt idx="1">
                  <c:v>2.907</c:v>
                </c:pt>
                <c:pt idx="2">
                  <c:v>3.3</c:v>
                </c:pt>
                <c:pt idx="3">
                  <c:v>2.363</c:v>
                </c:pt>
                <c:pt idx="4">
                  <c:v>1.68</c:v>
                </c:pt>
                <c:pt idx="5">
                  <c:v>1.28</c:v>
                </c:pt>
                <c:pt idx="6">
                  <c:v>0.527</c:v>
                </c:pt>
                <c:pt idx="7">
                  <c:v>-0.087</c:v>
                </c:pt>
                <c:pt idx="8">
                  <c:v>-0.57</c:v>
                </c:pt>
                <c:pt idx="9">
                  <c:v>-0.873</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Epoch</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General"/>
        <c:majorTickMark val="none"/>
        <c:minorTickMark val="none"/>
        <c:spPr>
          <a:ln xmlns:a="http://schemas.openxmlformats.org/drawingml/2006/main" w="9525">
            <a:solidFill>
              <a:srgbClr val="A6A6A6"/>
            </a:solidFill>
            <a:prstDash val="solid"/>
          </a:ln>
        </c:spPr>
        <c:txPr>
          <a:bodyPr xmlns:a="http://schemas.openxmlformats.org/drawingml/2006/main" anchorCtr="1"/>
          <a:lstStyle xmlns:a="http://schemas.openxmlformats.org/drawingml/2006/main"/>
          <a:p xmlns:a="http://schemas.openxmlformats.org/drawingml/2006/main">
            <a:pPr>
              <a:defRPr sz="825">
                <a:solidFill>
                  <a:srgbClr val="333333"/>
                </a:solidFill>
                <a:latin typeface="Arial"/>
                <a:ea typeface="Arial"/>
                <a:cs typeface="Arial"/>
              </a:defRPr>
            </a:pPr>
          </a:p>
        </c:txPr>
        <c:crossAx val="48672768"/>
      </c:catAx>
      <c:valAx>
        <c:axId val="48672768"/>
        <c:scaling>
          <c:orientation val="minMax"/>
          <c:max val="4"/>
          <c:min val="-2.5"/>
        </c:scaling>
        <c:delete val="0"/>
        <c:axPos val="l"/>
        <c:majorGridlines>
          <c:spPr>
            <a:ln xmlns:a="http://schemas.openxmlformats.org/drawingml/2006/main" w="9525">
              <a:solidFill>
                <a:srgbClr val="E6E6E6"/>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333333"/>
                    </a:solidFill>
                    <a:latin typeface="Arial"/>
                    <a:ea typeface="Arial"/>
                    <a:cs typeface="Arial"/>
                  </a:rPr>
                  <a:t>Change in paired accuracy gap since epoch 5 (pp)</a:t>
                </a:r>
              </a:p>
            </c:rich>
          </c:tx>
          <c:overlay val="0"/>
          <c:txPr>
            <a:bodyPr xmlns:a="http://schemas.openxmlformats.org/drawingml/2006/main" anchorCtr="1"/>
            <a:lstStyle xmlns:a="http://schemas.openxmlformats.org/drawingml/2006/main"/>
            <a:p xmlns:a="http://schemas.openxmlformats.org/drawingml/2006/main">
              <a:pPr>
                <a:defRPr sz="900">
                  <a:solidFill>
                    <a:srgbClr val="333333"/>
                  </a:solidFill>
                  <a:latin typeface="Arial"/>
                  <a:ea typeface="Arial"/>
                  <a:cs typeface="Arial"/>
                </a:defRPr>
              </a:pPr>
            </a:p>
          </c:txPr>
        </c:title>
        <c:numFmt formatCode="0.0"/>
        <c:majorTickMark val="none"/>
        <c:minorTickMark val="none"/>
        <c:spPr>
          <a:ln xmlns:a="http://schemas.openxmlformats.org/drawingml/2006/main" w="9525">
            <a:solidFill>
              <a:srgbClr val="A6A6A6"/>
            </a:solidFill>
            <a:prstDash val="solid"/>
          </a:ln>
        </c:spPr>
        <c:txPr>
          <a:bodyPr xmlns:a="http://schemas.openxmlformats.org/drawingml/2006/main" anchorCtr="1"/>
          <a:lstStyle xmlns:a="http://schemas.openxmlformats.org/drawingml/2006/main"/>
          <a:p xmlns:a="http://schemas.openxmlformats.org/drawingml/2006/main">
            <a:pPr>
              <a:defRPr sz="825">
                <a:solidFill>
                  <a:srgbClr val="333333"/>
                </a:solidFill>
                <a:latin typeface="Arial"/>
                <a:ea typeface="Arial"/>
                <a:cs typeface="Arial"/>
              </a:defRPr>
            </a:pPr>
          </a:p>
        </c:txPr>
        <c:crossAx val="48650112"/>
        <c:crossBetween val="between"/>
        <c:majorUnit val="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eck-title">
            <a:extLst xmlns:a="http://schemas.openxmlformats.org/drawingml/2006/main">
              <a:ext uri="{FF2B5EF4-FFF2-40B4-BE49-F238E27FC236}">
                <a16:creationId xmlns:a16="http://schemas.microsoft.com/office/drawing/2014/main" id="{FC8DD8CC-65CE-4BFD-B43A-CA6E05E1194C}"/>
              </a:ext>
            </a:extLst>
          </p:cNvPr>
          <p:cNvSpPr>
            <a:spLocks xmlns:a="http://schemas.openxmlformats.org/drawingml/2006/main" noGrp="1"/>
          </p:cNvSpPr>
          <p:nvPr/>
        </p:nvSpPr>
        <p:spPr>
          <a:xfrm xmlns:a="http://schemas.openxmlformats.org/drawingml/2006/main">
            <a:off x="685800" y="1524000"/>
            <a:ext cx="1028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0" i="0">
                <a:solidFill>
                  <a:srgbClr val="282828"/>
                </a:solidFill>
                <a:latin typeface="Arial"/>
                <a:ea typeface="Arial"/>
                <a:cs typeface="Arial"/>
              </a:defRPr>
            </a:pPr>
            <a:r>
              <a:rPr sz="3300" b="0" i="0">
                <a:solidFill>
                  <a:srgbClr val="282828"/>
                </a:solidFill>
                <a:latin typeface="Arial"/>
                <a:ea typeface="Arial"/>
                <a:cs typeface="Arial"/>
              </a:rPr>
              <a:t>Underexplored mechanisms in Muon</a:t>
            </a:r>
          </a:p>
        </p:txBody>
      </p:sp>
      <p:sp>
        <p:nvSpPr>
          <p:cNvPr id="2" name="">
            <a:extLst xmlns:a="http://schemas.openxmlformats.org/drawingml/2006/main">
              <a:ext uri="{FF2B5EF4-FFF2-40B4-BE49-F238E27FC236}">
                <a16:creationId xmlns:a16="http://schemas.microsoft.com/office/drawing/2014/main" id="{E9AE6725-738A-4DB8-8346-1E156FF63EC9}"/>
              </a:ext>
            </a:extLst>
          </p:cNvPr>
          <p:cNvSpPr>
            <a:spLocks xmlns:a="http://schemas.openxmlformats.org/drawingml/2006/main" noGrp="1"/>
          </p:cNvSpPr>
          <p:nvPr/>
        </p:nvSpPr>
        <p:spPr>
          <a:xfrm xmlns:a="http://schemas.openxmlformats.org/drawingml/2006/main">
            <a:off x="685800" y="2381250"/>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ACC4C14F-F195-4F98-A95C-BF8D2FF96897}"/>
              </a:ext>
            </a:extLst>
          </p:cNvPr>
          <p:cNvSpPr>
            <a:spLocks xmlns:a="http://schemas.openxmlformats.org/drawingml/2006/main" noGrp="1"/>
          </p:cNvSpPr>
          <p:nvPr/>
        </p:nvSpPr>
        <p:spPr>
          <a:xfrm xmlns:a="http://schemas.openxmlformats.org/drawingml/2006/main">
            <a:off x="685800" y="262890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333333"/>
                </a:solidFill>
                <a:latin typeface="Arial"/>
                <a:ea typeface="Arial"/>
                <a:cs typeface="Arial"/>
              </a:defRPr>
            </a:pPr>
            <a:r>
              <a:rPr sz="1500" b="0" i="0">
                <a:solidFill>
                  <a:srgbClr val="333333"/>
                </a:solidFill>
                <a:latin typeface="Arial"/>
                <a:ea typeface="Arial"/>
                <a:cs typeface="Arial"/>
              </a:rPr>
              <a:t>Direction correction, learning-rate robustness, and momentum timing</a:t>
            </a:r>
          </a:p>
        </p:txBody>
      </p:sp>
      <p:sp>
        <p:nvSpPr>
          <p:cNvPr id="4" name="">
            <a:extLst xmlns:a="http://schemas.openxmlformats.org/drawingml/2006/main">
              <a:ext uri="{FF2B5EF4-FFF2-40B4-BE49-F238E27FC236}">
                <a16:creationId xmlns:a16="http://schemas.microsoft.com/office/drawing/2014/main" id="{961AACCC-9327-4335-9EE4-8BD60F4EADF5}"/>
              </a:ext>
            </a:extLst>
          </p:cNvPr>
          <p:cNvSpPr>
            <a:spLocks xmlns:a="http://schemas.openxmlformats.org/drawingml/2006/main" noGrp="1"/>
          </p:cNvSpPr>
          <p:nvPr/>
        </p:nvSpPr>
        <p:spPr>
          <a:xfrm xmlns:a="http://schemas.openxmlformats.org/drawingml/2006/main">
            <a:off x="685800" y="363855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282828"/>
                </a:solidFill>
                <a:latin typeface="Arial"/>
                <a:ea typeface="Arial"/>
                <a:cs typeface="Arial"/>
              </a:defRPr>
            </a:pPr>
            <a:r>
              <a:rPr sz="1200" b="1" i="0">
                <a:solidFill>
                  <a:srgbClr val="282828"/>
                </a:solidFill>
                <a:latin typeface="Arial"/>
                <a:ea typeface="Arial"/>
                <a:cs typeface="Arial"/>
              </a:rPr>
              <a:t>Students: Nevo Jonathan Sznajder, Itay Asolin</a:t>
            </a:r>
          </a:p>
        </p:txBody>
      </p:sp>
      <p:sp>
        <p:nvSpPr>
          <p:cNvPr id="5" name="">
            <a:extLst xmlns:a="http://schemas.openxmlformats.org/drawingml/2006/main">
              <a:ext uri="{FF2B5EF4-FFF2-40B4-BE49-F238E27FC236}">
                <a16:creationId xmlns:a16="http://schemas.microsoft.com/office/drawing/2014/main" id="{B82DFD79-1E55-4707-8143-AAB53CB721C3}"/>
              </a:ext>
            </a:extLst>
          </p:cNvPr>
          <p:cNvSpPr>
            <a:spLocks xmlns:a="http://schemas.openxmlformats.org/drawingml/2006/main" noGrp="1"/>
          </p:cNvSpPr>
          <p:nvPr/>
        </p:nvSpPr>
        <p:spPr>
          <a:xfrm xmlns:a="http://schemas.openxmlformats.org/drawingml/2006/main">
            <a:off x="685800" y="3981450"/>
            <a:ext cx="723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333333"/>
                </a:solidFill>
                <a:latin typeface="Arial"/>
                <a:ea typeface="Arial"/>
                <a:cs typeface="Arial"/>
              </a:defRPr>
            </a:pPr>
            <a:r>
              <a:rPr sz="1125" b="0" i="0">
                <a:solidFill>
                  <a:srgbClr val="333333"/>
                </a:solidFill>
                <a:latin typeface="Arial"/>
                <a:ea typeface="Arial"/>
                <a:cs typeface="Arial"/>
              </a:rPr>
              <a:t>Mentors: Tehila Dahan, Kfir Y. Levy</a:t>
            </a:r>
          </a:p>
        </p:txBody>
      </p:sp>
      <p:sp>
        <p:nvSpPr>
          <p:cNvPr id="6" name="">
            <a:extLst xmlns:a="http://schemas.openxmlformats.org/drawingml/2006/main">
              <a:ext uri="{FF2B5EF4-FFF2-40B4-BE49-F238E27FC236}">
                <a16:creationId xmlns:a16="http://schemas.microsoft.com/office/drawing/2014/main" id="{45B3C75E-C79E-49A7-A670-F705089191E6}"/>
              </a:ext>
            </a:extLst>
          </p:cNvPr>
          <p:cNvSpPr>
            <a:spLocks xmlns:a="http://schemas.openxmlformats.org/drawingml/2006/main" noGrp="1"/>
          </p:cNvSpPr>
          <p:nvPr/>
        </p:nvSpPr>
        <p:spPr>
          <a:xfrm xmlns:a="http://schemas.openxmlformats.org/drawingml/2006/main">
            <a:off x="685800" y="476250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333333"/>
                </a:solidFill>
                <a:latin typeface="Arial"/>
                <a:ea typeface="Arial"/>
                <a:cs typeface="Arial"/>
              </a:defRPr>
            </a:pPr>
            <a:r>
              <a:rPr sz="1200" b="0" i="0">
                <a:solidFill>
                  <a:srgbClr val="333333"/>
                </a:solidFill>
                <a:latin typeface="Arial"/>
                <a:ea typeface="Arial"/>
                <a:cs typeface="Arial"/>
              </a:rPr>
              <a:t>ResNet-18 / CIFAR-100 and TinyViT-5M / ImageNet-100</a:t>
            </a:r>
          </a:p>
        </p:txBody>
      </p:sp>
      <p:sp>
        <p:nvSpPr>
          <p:cNvPr id="7" name="">
            <a:extLst xmlns:a="http://schemas.openxmlformats.org/drawingml/2006/main">
              <a:ext uri="{FF2B5EF4-FFF2-40B4-BE49-F238E27FC236}">
                <a16:creationId xmlns:a16="http://schemas.microsoft.com/office/drawing/2014/main" id="{0F156550-5E48-40BB-A088-DFD9DDED94CE}"/>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4D53D49-EC77-4C2A-957F-C5D92D2F8F8B}"/>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9" name="">
            <a:extLst xmlns:a="http://schemas.openxmlformats.org/drawingml/2006/main">
              <a:ext uri="{FF2B5EF4-FFF2-40B4-BE49-F238E27FC236}">
                <a16:creationId xmlns:a16="http://schemas.microsoft.com/office/drawing/2014/main" id="{82F7676D-A656-4CFD-B490-D4A32F655705}"/>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1</a:t>
            </a:r>
          </a:p>
        </p:txBody>
      </p:sp>
    </p:spTree>
    <p:extLst>
      <p:ext uri="{BB962C8B-B14F-4D97-AF65-F5344CB8AC3E}">
        <p14:creationId xmlns:p14="http://schemas.microsoft.com/office/powerpoint/2010/main" val="59196281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E17BF50C-C6E9-4F8B-8023-005D9E00EE1F}"/>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Project summary</a:t>
            </a:r>
          </a:p>
        </p:txBody>
      </p:sp>
      <p:sp>
        <p:nvSpPr>
          <p:cNvPr id="2" name="">
            <a:extLst xmlns:a="http://schemas.openxmlformats.org/drawingml/2006/main">
              <a:ext uri="{FF2B5EF4-FFF2-40B4-BE49-F238E27FC236}">
                <a16:creationId xmlns:a16="http://schemas.microsoft.com/office/drawing/2014/main" id="{40C7D0E7-6482-430B-893F-B75A386109DA}"/>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6E16302D-A232-4278-A8D6-710982CD0D10}"/>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B5D6928-09CD-4570-BC33-8260FE321F72}"/>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2FBDC5A4-2806-4926-A910-DEF3C380DB76}"/>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2</a:t>
            </a:r>
          </a:p>
        </p:txBody>
      </p:sp>
      <p:sp>
        <p:nvSpPr>
          <p:cNvPr id="6" name="">
            <a:extLst xmlns:a="http://schemas.openxmlformats.org/drawingml/2006/main">
              <a:ext uri="{FF2B5EF4-FFF2-40B4-BE49-F238E27FC236}">
                <a16:creationId xmlns:a16="http://schemas.microsoft.com/office/drawing/2014/main" id="{156A4C45-AC5C-43D7-8A35-3997D3D8E149}"/>
              </a:ext>
            </a:extLst>
          </p:cNvPr>
          <p:cNvSpPr>
            <a:spLocks xmlns:a="http://schemas.openxmlformats.org/drawingml/2006/main" noGrp="1"/>
          </p:cNvSpPr>
          <p:nvPr/>
        </p:nvSpPr>
        <p:spPr>
          <a:xfrm xmlns:a="http://schemas.openxmlformats.org/drawingml/2006/main">
            <a:off x="685800" y="152400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CONDITIONAL</a:t>
            </a:r>
          </a:p>
        </p:txBody>
      </p:sp>
      <p:sp>
        <p:nvSpPr>
          <p:cNvPr id="7" name="">
            <a:extLst xmlns:a="http://schemas.openxmlformats.org/drawingml/2006/main">
              <a:ext uri="{FF2B5EF4-FFF2-40B4-BE49-F238E27FC236}">
                <a16:creationId xmlns:a16="http://schemas.microsoft.com/office/drawing/2014/main" id="{AB9E89D3-F3E5-42E1-B546-7AE87BE0B098}"/>
              </a:ext>
            </a:extLst>
          </p:cNvPr>
          <p:cNvSpPr>
            <a:spLocks xmlns:a="http://schemas.openxmlformats.org/drawingml/2006/main" noGrp="1"/>
          </p:cNvSpPr>
          <p:nvPr/>
        </p:nvSpPr>
        <p:spPr>
          <a:xfrm xmlns:a="http://schemas.openxmlformats.org/drawingml/2006/main">
            <a:off x="685800" y="17907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302"/>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MARS gives selected higher-LR gains</a:t>
            </a:r>
          </a:p>
        </p:txBody>
      </p:sp>
      <p:sp>
        <p:nvSpPr>
          <p:cNvPr id="8" name="">
            <a:extLst xmlns:a="http://schemas.openxmlformats.org/drawingml/2006/main">
              <a:ext uri="{FF2B5EF4-FFF2-40B4-BE49-F238E27FC236}">
                <a16:creationId xmlns:a16="http://schemas.microsoft.com/office/drawing/2014/main" id="{85B2DA75-C325-4D90-87EC-7DBDE41290FF}"/>
              </a:ext>
            </a:extLst>
          </p:cNvPr>
          <p:cNvSpPr>
            <a:spLocks xmlns:a="http://schemas.openxmlformats.org/drawingml/2006/main" noGrp="1"/>
          </p:cNvSpPr>
          <p:nvPr/>
        </p:nvSpPr>
        <p:spPr>
          <a:xfrm xmlns:a="http://schemas.openxmlformats.org/drawingml/2006/main">
            <a:off x="685800" y="223837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9" name="">
            <a:extLst xmlns:a="http://schemas.openxmlformats.org/drawingml/2006/main">
              <a:ext uri="{FF2B5EF4-FFF2-40B4-BE49-F238E27FC236}">
                <a16:creationId xmlns:a16="http://schemas.microsoft.com/office/drawing/2014/main" id="{C08B6A0E-5244-4001-AD15-4F5A5DECFEEA}"/>
              </a:ext>
            </a:extLst>
          </p:cNvPr>
          <p:cNvSpPr>
            <a:spLocks xmlns:a="http://schemas.openxmlformats.org/drawingml/2006/main" noGrp="1"/>
          </p:cNvSpPr>
          <p:nvPr/>
        </p:nvSpPr>
        <p:spPr>
          <a:xfrm xmlns:a="http://schemas.openxmlformats.org/drawingml/2006/main">
            <a:off x="685800" y="2381250"/>
            <a:ext cx="3352800" cy="281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333333"/>
                </a:solidFill>
                <a:latin typeface="Arial"/>
                <a:ea typeface="Arial"/>
                <a:cs typeface="Arial"/>
              </a:defRPr>
            </a:pPr>
            <a:r>
              <a:rPr sz="1200" b="0" i="0">
                <a:solidFill>
                  <a:srgbClr val="333333"/>
                </a:solidFill>
                <a:latin typeface="Arial"/>
                <a:ea typeface="Arial"/>
                <a:cs typeface="Arial"/>
              </a:rPr>
              <a:t>Clean ResNet confirmations show small improvements at the higher tested matrix learning rates. TinyViT gives a smaller matched improvement in one selected condition.</a:t>
            </a:r>
          </a:p>
        </p:txBody>
      </p:sp>
      <p:sp>
        <p:nvSpPr>
          <p:cNvPr id="10" name="">
            <a:extLst xmlns:a="http://schemas.openxmlformats.org/drawingml/2006/main">
              <a:ext uri="{FF2B5EF4-FFF2-40B4-BE49-F238E27FC236}">
                <a16:creationId xmlns:a16="http://schemas.microsoft.com/office/drawing/2014/main" id="{AC5C439C-B679-4BE5-9FD7-8AA149542497}"/>
              </a:ext>
            </a:extLst>
          </p:cNvPr>
          <p:cNvSpPr>
            <a:spLocks xmlns:a="http://schemas.openxmlformats.org/drawingml/2006/main" noGrp="1"/>
          </p:cNvSpPr>
          <p:nvPr/>
        </p:nvSpPr>
        <p:spPr>
          <a:xfrm xmlns:a="http://schemas.openxmlformats.org/drawingml/2006/main">
            <a:off x="4419600" y="152400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STRONGEST</a:t>
            </a:r>
          </a:p>
        </p:txBody>
      </p:sp>
      <p:sp>
        <p:nvSpPr>
          <p:cNvPr id="11" name="">
            <a:extLst xmlns:a="http://schemas.openxmlformats.org/drawingml/2006/main">
              <a:ext uri="{FF2B5EF4-FFF2-40B4-BE49-F238E27FC236}">
                <a16:creationId xmlns:a16="http://schemas.microsoft.com/office/drawing/2014/main" id="{AC3CAFFD-3B59-46A5-A5E0-21D5FB4D9D47}"/>
              </a:ext>
            </a:extLst>
          </p:cNvPr>
          <p:cNvSpPr>
            <a:spLocks xmlns:a="http://schemas.openxmlformats.org/drawingml/2006/main" noGrp="1"/>
          </p:cNvSpPr>
          <p:nvPr/>
        </p:nvSpPr>
        <p:spPr>
          <a:xfrm xmlns:a="http://schemas.openxmlformats.org/drawingml/2006/main">
            <a:off x="4419600" y="17907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2464"/>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Momentum decay is the clearest positive result</a:t>
            </a:r>
          </a:p>
        </p:txBody>
      </p:sp>
      <p:sp>
        <p:nvSpPr>
          <p:cNvPr id="12" name="">
            <a:extLst xmlns:a="http://schemas.openxmlformats.org/drawingml/2006/main">
              <a:ext uri="{FF2B5EF4-FFF2-40B4-BE49-F238E27FC236}">
                <a16:creationId xmlns:a16="http://schemas.microsoft.com/office/drawing/2014/main" id="{26BFF9F3-8307-4B51-8E7A-5FED4721DF55}"/>
              </a:ext>
            </a:extLst>
          </p:cNvPr>
          <p:cNvSpPr>
            <a:spLocks xmlns:a="http://schemas.openxmlformats.org/drawingml/2006/main" noGrp="1"/>
          </p:cNvSpPr>
          <p:nvPr/>
        </p:nvSpPr>
        <p:spPr>
          <a:xfrm xmlns:a="http://schemas.openxmlformats.org/drawingml/2006/main">
            <a:off x="4419600" y="223837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3" name="">
            <a:extLst xmlns:a="http://schemas.openxmlformats.org/drawingml/2006/main">
              <a:ext uri="{FF2B5EF4-FFF2-40B4-BE49-F238E27FC236}">
                <a16:creationId xmlns:a16="http://schemas.microsoft.com/office/drawing/2014/main" id="{47A65084-2904-4577-8D95-DD5BE7430DD9}"/>
              </a:ext>
            </a:extLst>
          </p:cNvPr>
          <p:cNvSpPr>
            <a:spLocks xmlns:a="http://schemas.openxmlformats.org/drawingml/2006/main" noGrp="1"/>
          </p:cNvSpPr>
          <p:nvPr/>
        </p:nvSpPr>
        <p:spPr>
          <a:xfrm xmlns:a="http://schemas.openxmlformats.org/drawingml/2006/main">
            <a:off x="4419600" y="2381250"/>
            <a:ext cx="3352800" cy="281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333333"/>
                </a:solidFill>
                <a:latin typeface="Arial"/>
                <a:ea typeface="Arial"/>
                <a:cs typeface="Arial"/>
              </a:defRPr>
            </a:pPr>
            <a:r>
              <a:rPr sz="1200" b="0" i="0">
                <a:solidFill>
                  <a:srgbClr val="333333"/>
                </a:solidFill>
                <a:latin typeface="Arial"/>
                <a:ea typeface="Arial"/>
                <a:cs typeface="Arial"/>
              </a:rPr>
              <a:t>Late β decay improves final accuracy under the tested constant-LR policy, but gives no mean improvement under the tested cosine-LR policy.</a:t>
            </a:r>
          </a:p>
        </p:txBody>
      </p:sp>
      <p:sp>
        <p:nvSpPr>
          <p:cNvPr id="14" name="">
            <a:extLst xmlns:a="http://schemas.openxmlformats.org/drawingml/2006/main">
              <a:ext uri="{FF2B5EF4-FFF2-40B4-BE49-F238E27FC236}">
                <a16:creationId xmlns:a16="http://schemas.microsoft.com/office/drawing/2014/main" id="{71E33FFF-9F4B-4674-8D93-9AC756985430}"/>
              </a:ext>
            </a:extLst>
          </p:cNvPr>
          <p:cNvSpPr>
            <a:spLocks xmlns:a="http://schemas.openxmlformats.org/drawingml/2006/main" noGrp="1"/>
          </p:cNvSpPr>
          <p:nvPr/>
        </p:nvSpPr>
        <p:spPr>
          <a:xfrm xmlns:a="http://schemas.openxmlformats.org/drawingml/2006/main">
            <a:off x="8153400" y="152400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NEGATIVE RESULT</a:t>
            </a:r>
          </a:p>
        </p:txBody>
      </p:sp>
      <p:sp>
        <p:nvSpPr>
          <p:cNvPr id="15" name="">
            <a:extLst xmlns:a="http://schemas.openxmlformats.org/drawingml/2006/main">
              <a:ext uri="{FF2B5EF4-FFF2-40B4-BE49-F238E27FC236}">
                <a16:creationId xmlns:a16="http://schemas.microsoft.com/office/drawing/2014/main" id="{B5F75621-918E-4AFF-93B7-BD691B5133FF}"/>
              </a:ext>
            </a:extLst>
          </p:cNvPr>
          <p:cNvSpPr>
            <a:spLocks xmlns:a="http://schemas.openxmlformats.org/drawingml/2006/main" noGrp="1"/>
          </p:cNvSpPr>
          <p:nvPr/>
        </p:nvSpPr>
        <p:spPr>
          <a:xfrm xmlns:a="http://schemas.openxmlformats.org/drawingml/2006/main">
            <a:off x="8153400" y="17907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046"/>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Mu² changes direction, not outcomes</a:t>
            </a:r>
          </a:p>
        </p:txBody>
      </p:sp>
      <p:sp>
        <p:nvSpPr>
          <p:cNvPr id="16" name="">
            <a:extLst xmlns:a="http://schemas.openxmlformats.org/drawingml/2006/main">
              <a:ext uri="{FF2B5EF4-FFF2-40B4-BE49-F238E27FC236}">
                <a16:creationId xmlns:a16="http://schemas.microsoft.com/office/drawing/2014/main" id="{BB73BAA3-5DF6-4507-8B79-A3D089794FE9}"/>
              </a:ext>
            </a:extLst>
          </p:cNvPr>
          <p:cNvSpPr>
            <a:spLocks xmlns:a="http://schemas.openxmlformats.org/drawingml/2006/main" noGrp="1"/>
          </p:cNvSpPr>
          <p:nvPr/>
        </p:nvSpPr>
        <p:spPr>
          <a:xfrm xmlns:a="http://schemas.openxmlformats.org/drawingml/2006/main">
            <a:off x="8153400" y="223837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7" name="">
            <a:extLst xmlns:a="http://schemas.openxmlformats.org/drawingml/2006/main">
              <a:ext uri="{FF2B5EF4-FFF2-40B4-BE49-F238E27FC236}">
                <a16:creationId xmlns:a16="http://schemas.microsoft.com/office/drawing/2014/main" id="{4C84172D-F162-40F5-B184-DB4A70BEB48A}"/>
              </a:ext>
            </a:extLst>
          </p:cNvPr>
          <p:cNvSpPr>
            <a:spLocks xmlns:a="http://schemas.openxmlformats.org/drawingml/2006/main" noGrp="1"/>
          </p:cNvSpPr>
          <p:nvPr/>
        </p:nvSpPr>
        <p:spPr>
          <a:xfrm xmlns:a="http://schemas.openxmlformats.org/drawingml/2006/main">
            <a:off x="8153400" y="2381250"/>
            <a:ext cx="3352800" cy="281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333333"/>
                </a:solidFill>
                <a:latin typeface="Arial"/>
                <a:ea typeface="Arial"/>
                <a:cs typeface="Arial"/>
              </a:defRPr>
            </a:pPr>
            <a:r>
              <a:rPr sz="1200" b="0" i="0">
                <a:solidFill>
                  <a:srgbClr val="333333"/>
                </a:solidFill>
                <a:latin typeface="Arial"/>
                <a:ea typeface="Arial"/>
                <a:cs typeface="Arial"/>
              </a:rPr>
              <a:t>The correction survives Muon's polar transform, yet broad sweeps and three-seed stress tests show no consistent accuracy benefit.</a:t>
            </a:r>
          </a:p>
        </p:txBody>
      </p:sp>
    </p:spTree>
    <p:extLst>
      <p:ext uri="{BB962C8B-B14F-4D97-AF65-F5344CB8AC3E}">
        <p14:creationId xmlns:p14="http://schemas.microsoft.com/office/powerpoint/2010/main" val="129738028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
            <a:extLst xmlns:a="http://schemas.openxmlformats.org/drawingml/2006/main">
              <a:ext uri="{FF2B5EF4-FFF2-40B4-BE49-F238E27FC236}">
                <a16:creationId xmlns:a16="http://schemas.microsoft.com/office/drawing/2014/main" id="{BD066094-8AB1-421C-B96C-2ED83BA0CEC0}"/>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Presentation outline</a:t>
            </a:r>
          </a:p>
        </p:txBody>
      </p:sp>
      <p:sp>
        <p:nvSpPr>
          <p:cNvPr id="2" name="">
            <a:extLst xmlns:a="http://schemas.openxmlformats.org/drawingml/2006/main">
              <a:ext uri="{FF2B5EF4-FFF2-40B4-BE49-F238E27FC236}">
                <a16:creationId xmlns:a16="http://schemas.microsoft.com/office/drawing/2014/main" id="{7F9EF48E-AB3E-41A6-B855-E3E63D82FEA6}"/>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388C190F-8243-490A-9407-B934F4E9E215}"/>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F518D7D-00F5-4EDB-830A-1C24EAB6BF71}"/>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CD8D2C9F-BEEB-4D89-A879-8A5FFDFF1363}"/>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3</a:t>
            </a:r>
          </a:p>
        </p:txBody>
      </p:sp>
      <p:sp>
        <p:nvSpPr>
          <p:cNvPr id="6" name="">
            <a:extLst xmlns:a="http://schemas.openxmlformats.org/drawingml/2006/main">
              <a:ext uri="{FF2B5EF4-FFF2-40B4-BE49-F238E27FC236}">
                <a16:creationId xmlns:a16="http://schemas.microsoft.com/office/drawing/2014/main" id="{86AAAEFB-D364-45E2-B27C-47D8BCC7B620}"/>
              </a:ext>
            </a:extLst>
          </p:cNvPr>
          <p:cNvSpPr>
            <a:spLocks xmlns:a="http://schemas.openxmlformats.org/drawingml/2006/main" noGrp="1"/>
          </p:cNvSpPr>
          <p:nvPr/>
        </p:nvSpPr>
        <p:spPr>
          <a:xfrm xmlns:a="http://schemas.openxmlformats.org/drawingml/2006/main">
            <a:off x="800100" y="1809750"/>
            <a:ext cx="2247900" cy="2857500"/>
          </a:xfrm>
          <a:prstGeom xmlns:a="http://schemas.openxmlformats.org/drawingml/2006/main" prst="roundRect">
            <a:avLst>
              <a:gd name="adj" fmla="val 7627"/>
            </a:avLst>
          </a:prstGeom>
          <a:solidFill xmlns:a="http://schemas.openxmlformats.org/drawingml/2006/main">
            <a:srgbClr val="FFFFFF"/>
          </a:solidFill>
          <a:ln xmlns:a="http://schemas.openxmlformats.org/drawingml/2006/main" w="9525">
            <a:solidFill>
              <a:srgbClr val="A6A6A6"/>
            </a:solidFill>
            <a:prstDash val="solid"/>
          </a:ln>
        </p:spPr>
      </p:sp>
      <p:sp>
        <p:nvSpPr>
          <p:cNvPr id="7" name="">
            <a:extLst xmlns:a="http://schemas.openxmlformats.org/drawingml/2006/main">
              <a:ext uri="{FF2B5EF4-FFF2-40B4-BE49-F238E27FC236}">
                <a16:creationId xmlns:a16="http://schemas.microsoft.com/office/drawing/2014/main" id="{C906D20E-E363-4C79-B6BF-D92D07FBBBC6}"/>
              </a:ext>
            </a:extLst>
          </p:cNvPr>
          <p:cNvSpPr>
            <a:spLocks xmlns:a="http://schemas.openxmlformats.org/drawingml/2006/main" noGrp="1"/>
          </p:cNvSpPr>
          <p:nvPr/>
        </p:nvSpPr>
        <p:spPr>
          <a:xfrm xmlns:a="http://schemas.openxmlformats.org/drawingml/2006/main">
            <a:off x="1028700" y="2057400"/>
            <a:ext cx="47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i="0">
                <a:solidFill>
                  <a:srgbClr val="555555"/>
                </a:solidFill>
                <a:latin typeface="Arial"/>
                <a:ea typeface="Arial"/>
                <a:cs typeface="Arial"/>
              </a:defRPr>
            </a:pPr>
            <a:r>
              <a:rPr sz="2550" b="1" i="0">
                <a:solidFill>
                  <a:srgbClr val="555555"/>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36655766-0012-475E-9C9E-2050B15C7126}"/>
              </a:ext>
            </a:extLst>
          </p:cNvPr>
          <p:cNvSpPr>
            <a:spLocks xmlns:a="http://schemas.openxmlformats.org/drawingml/2006/main" noGrp="1"/>
          </p:cNvSpPr>
          <p:nvPr/>
        </p:nvSpPr>
        <p:spPr>
          <a:xfrm xmlns:a="http://schemas.openxmlformats.org/drawingml/2006/main">
            <a:off x="1028700" y="2686050"/>
            <a:ext cx="1790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282828"/>
                </a:solidFill>
                <a:latin typeface="Arial"/>
                <a:ea typeface="Arial"/>
                <a:cs typeface="Arial"/>
              </a:defRPr>
            </a:pPr>
            <a:r>
              <a:rPr sz="1650" b="1" i="0">
                <a:solidFill>
                  <a:srgbClr val="282828"/>
                </a:solidFill>
                <a:latin typeface="Arial"/>
                <a:ea typeface="Arial"/>
                <a:cs typeface="Arial"/>
              </a:rPr>
              <a:t>Background</a:t>
            </a:r>
          </a:p>
        </p:txBody>
      </p:sp>
      <p:sp>
        <p:nvSpPr>
          <p:cNvPr id="9" name="">
            <a:extLst xmlns:a="http://schemas.openxmlformats.org/drawingml/2006/main">
              <a:ext uri="{FF2B5EF4-FFF2-40B4-BE49-F238E27FC236}">
                <a16:creationId xmlns:a16="http://schemas.microsoft.com/office/drawing/2014/main" id="{CA3BCB13-E827-413B-97F9-80629A040808}"/>
              </a:ext>
            </a:extLst>
          </p:cNvPr>
          <p:cNvSpPr>
            <a:spLocks xmlns:a="http://schemas.openxmlformats.org/drawingml/2006/main" noGrp="1"/>
          </p:cNvSpPr>
          <p:nvPr/>
        </p:nvSpPr>
        <p:spPr>
          <a:xfrm xmlns:a="http://schemas.openxmlformats.org/drawingml/2006/main">
            <a:off x="1028700" y="3238500"/>
            <a:ext cx="17907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333333"/>
                </a:solidFill>
                <a:latin typeface="Arial"/>
                <a:ea typeface="Arial"/>
                <a:cs typeface="Arial"/>
              </a:defRPr>
            </a:pPr>
            <a:r>
              <a:rPr sz="1200" b="0" i="0">
                <a:solidFill>
                  <a:srgbClr val="333333"/>
                </a:solidFill>
                <a:latin typeface="Arial"/>
                <a:ea typeface="Arial"/>
                <a:cs typeface="Arial"/>
              </a:rPr>
              <a:t>Gradient descent, momentum, and Muon</a:t>
            </a:r>
          </a:p>
        </p:txBody>
      </p:sp>
      <p:sp>
        <p:nvSpPr>
          <p:cNvPr id="10" name="">
            <a:extLst xmlns:a="http://schemas.openxmlformats.org/drawingml/2006/main">
              <a:ext uri="{FF2B5EF4-FFF2-40B4-BE49-F238E27FC236}">
                <a16:creationId xmlns:a16="http://schemas.microsoft.com/office/drawing/2014/main" id="{C8C7F1FD-4CE3-43F5-A7BF-227E1F89B6F2}"/>
              </a:ext>
            </a:extLst>
          </p:cNvPr>
          <p:cNvSpPr>
            <a:spLocks xmlns:a="http://schemas.openxmlformats.org/drawingml/2006/main" noGrp="1"/>
          </p:cNvSpPr>
          <p:nvPr/>
        </p:nvSpPr>
        <p:spPr>
          <a:xfrm xmlns:a="http://schemas.openxmlformats.org/drawingml/2006/main">
            <a:off x="3124200" y="3000375"/>
            <a:ext cx="38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0" i="0">
                <a:solidFill>
                  <a:srgbClr val="A6A6A6"/>
                </a:solidFill>
                <a:latin typeface="Arial"/>
                <a:ea typeface="Arial"/>
                <a:cs typeface="Arial"/>
              </a:defRPr>
            </a:pPr>
            <a:r>
              <a:rPr sz="2250" b="0" i="0">
                <a:solidFill>
                  <a:srgbClr val="A6A6A6"/>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208DDBEA-8BB0-46B9-B640-CA1763245864}"/>
              </a:ext>
            </a:extLst>
          </p:cNvPr>
          <p:cNvSpPr>
            <a:spLocks xmlns:a="http://schemas.openxmlformats.org/drawingml/2006/main" noGrp="1"/>
          </p:cNvSpPr>
          <p:nvPr/>
        </p:nvSpPr>
        <p:spPr>
          <a:xfrm xmlns:a="http://schemas.openxmlformats.org/drawingml/2006/main">
            <a:off x="3581400" y="1809750"/>
            <a:ext cx="2247900" cy="2857500"/>
          </a:xfrm>
          <a:prstGeom xmlns:a="http://schemas.openxmlformats.org/drawingml/2006/main" prst="roundRect">
            <a:avLst>
              <a:gd name="adj" fmla="val 7627"/>
            </a:avLst>
          </a:prstGeom>
          <a:solidFill xmlns:a="http://schemas.openxmlformats.org/drawingml/2006/main">
            <a:srgbClr val="FFFFFF"/>
          </a:solidFill>
          <a:ln xmlns:a="http://schemas.openxmlformats.org/drawingml/2006/main" w="9525">
            <a:solidFill>
              <a:srgbClr val="A6A6A6"/>
            </a:solidFill>
            <a:prstDash val="solid"/>
          </a:ln>
        </p:spPr>
      </p:sp>
      <p:sp>
        <p:nvSpPr>
          <p:cNvPr id="12" name="">
            <a:extLst xmlns:a="http://schemas.openxmlformats.org/drawingml/2006/main">
              <a:ext uri="{FF2B5EF4-FFF2-40B4-BE49-F238E27FC236}">
                <a16:creationId xmlns:a16="http://schemas.microsoft.com/office/drawing/2014/main" id="{A5C3F8F1-C4B0-4E59-B906-F12834A2F391}"/>
              </a:ext>
            </a:extLst>
          </p:cNvPr>
          <p:cNvSpPr>
            <a:spLocks xmlns:a="http://schemas.openxmlformats.org/drawingml/2006/main" noGrp="1"/>
          </p:cNvSpPr>
          <p:nvPr/>
        </p:nvSpPr>
        <p:spPr>
          <a:xfrm xmlns:a="http://schemas.openxmlformats.org/drawingml/2006/main">
            <a:off x="3810000" y="2057400"/>
            <a:ext cx="47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i="0">
                <a:solidFill>
                  <a:srgbClr val="555555"/>
                </a:solidFill>
                <a:latin typeface="Arial"/>
                <a:ea typeface="Arial"/>
                <a:cs typeface="Arial"/>
              </a:defRPr>
            </a:pPr>
            <a:r>
              <a:rPr sz="2550" b="1" i="0">
                <a:solidFill>
                  <a:srgbClr val="555555"/>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C55BE653-0D5A-4DCA-B563-C260AE0FFDBF}"/>
              </a:ext>
            </a:extLst>
          </p:cNvPr>
          <p:cNvSpPr>
            <a:spLocks xmlns:a="http://schemas.openxmlformats.org/drawingml/2006/main" noGrp="1"/>
          </p:cNvSpPr>
          <p:nvPr/>
        </p:nvSpPr>
        <p:spPr>
          <a:xfrm xmlns:a="http://schemas.openxmlformats.org/drawingml/2006/main">
            <a:off x="3810000" y="2686050"/>
            <a:ext cx="1790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282828"/>
                </a:solidFill>
                <a:latin typeface="Arial"/>
                <a:ea typeface="Arial"/>
                <a:cs typeface="Arial"/>
              </a:defRPr>
            </a:pPr>
            <a:r>
              <a:rPr sz="1650" b="1" i="0">
                <a:solidFill>
                  <a:srgbClr val="282828"/>
                </a:solidFill>
                <a:latin typeface="Arial"/>
                <a:ea typeface="Arial"/>
                <a:cs typeface="Arial"/>
              </a:rPr>
              <a:t>Protocol</a:t>
            </a:r>
          </a:p>
        </p:txBody>
      </p:sp>
      <p:sp>
        <p:nvSpPr>
          <p:cNvPr id="14" name="">
            <a:extLst xmlns:a="http://schemas.openxmlformats.org/drawingml/2006/main">
              <a:ext uri="{FF2B5EF4-FFF2-40B4-BE49-F238E27FC236}">
                <a16:creationId xmlns:a16="http://schemas.microsoft.com/office/drawing/2014/main" id="{EF43BE13-D0C6-48F1-9543-B0E8A0114F37}"/>
              </a:ext>
            </a:extLst>
          </p:cNvPr>
          <p:cNvSpPr>
            <a:spLocks xmlns:a="http://schemas.openxmlformats.org/drawingml/2006/main" noGrp="1"/>
          </p:cNvSpPr>
          <p:nvPr/>
        </p:nvSpPr>
        <p:spPr>
          <a:xfrm xmlns:a="http://schemas.openxmlformats.org/drawingml/2006/main">
            <a:off x="3810000" y="3238500"/>
            <a:ext cx="17907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333333"/>
                </a:solidFill>
                <a:latin typeface="Arial"/>
                <a:ea typeface="Arial"/>
                <a:cs typeface="Arial"/>
              </a:defRPr>
            </a:pPr>
            <a:r>
              <a:rPr sz="1200" b="0" i="0">
                <a:solidFill>
                  <a:srgbClr val="333333"/>
                </a:solidFill>
                <a:latin typeface="Arial"/>
                <a:ea typeface="Arial"/>
                <a:cs typeface="Arial"/>
              </a:rPr>
              <a:t>Models, datasets, parameter split, and schedules</a:t>
            </a:r>
          </a:p>
        </p:txBody>
      </p:sp>
      <p:sp>
        <p:nvSpPr>
          <p:cNvPr id="15" name="">
            <a:extLst xmlns:a="http://schemas.openxmlformats.org/drawingml/2006/main">
              <a:ext uri="{FF2B5EF4-FFF2-40B4-BE49-F238E27FC236}">
                <a16:creationId xmlns:a16="http://schemas.microsoft.com/office/drawing/2014/main" id="{675E57C7-535C-4928-85D2-F86367989E11}"/>
              </a:ext>
            </a:extLst>
          </p:cNvPr>
          <p:cNvSpPr>
            <a:spLocks xmlns:a="http://schemas.openxmlformats.org/drawingml/2006/main" noGrp="1"/>
          </p:cNvSpPr>
          <p:nvPr/>
        </p:nvSpPr>
        <p:spPr>
          <a:xfrm xmlns:a="http://schemas.openxmlformats.org/drawingml/2006/main">
            <a:off x="5905500" y="3000375"/>
            <a:ext cx="38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0" i="0">
                <a:solidFill>
                  <a:srgbClr val="A6A6A6"/>
                </a:solidFill>
                <a:latin typeface="Arial"/>
                <a:ea typeface="Arial"/>
                <a:cs typeface="Arial"/>
              </a:defRPr>
            </a:pPr>
            <a:r>
              <a:rPr sz="2250" b="0" i="0">
                <a:solidFill>
                  <a:srgbClr val="A6A6A6"/>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04FEAC36-2F97-41D3-A032-DE5B4E5AE9B1}"/>
              </a:ext>
            </a:extLst>
          </p:cNvPr>
          <p:cNvSpPr>
            <a:spLocks xmlns:a="http://schemas.openxmlformats.org/drawingml/2006/main" noGrp="1"/>
          </p:cNvSpPr>
          <p:nvPr/>
        </p:nvSpPr>
        <p:spPr>
          <a:xfrm xmlns:a="http://schemas.openxmlformats.org/drawingml/2006/main">
            <a:off x="6362700" y="1809750"/>
            <a:ext cx="2247900" cy="2857500"/>
          </a:xfrm>
          <a:prstGeom xmlns:a="http://schemas.openxmlformats.org/drawingml/2006/main" prst="roundRect">
            <a:avLst>
              <a:gd name="adj" fmla="val 7627"/>
            </a:avLst>
          </a:prstGeom>
          <a:solidFill xmlns:a="http://schemas.openxmlformats.org/drawingml/2006/main">
            <a:srgbClr val="FFFFFF"/>
          </a:solidFill>
          <a:ln xmlns:a="http://schemas.openxmlformats.org/drawingml/2006/main" w="9525">
            <a:solidFill>
              <a:srgbClr val="B9DEDA"/>
            </a:solidFill>
            <a:prstDash val="solid"/>
          </a:ln>
        </p:spPr>
      </p:sp>
      <p:sp>
        <p:nvSpPr>
          <p:cNvPr id="17" name="">
            <a:extLst xmlns:a="http://schemas.openxmlformats.org/drawingml/2006/main">
              <a:ext uri="{FF2B5EF4-FFF2-40B4-BE49-F238E27FC236}">
                <a16:creationId xmlns:a16="http://schemas.microsoft.com/office/drawing/2014/main" id="{ACD9EF7B-B5E8-43C2-8008-36B803C56D1F}"/>
              </a:ext>
            </a:extLst>
          </p:cNvPr>
          <p:cNvSpPr>
            <a:spLocks xmlns:a="http://schemas.openxmlformats.org/drawingml/2006/main" noGrp="1"/>
          </p:cNvSpPr>
          <p:nvPr/>
        </p:nvSpPr>
        <p:spPr>
          <a:xfrm xmlns:a="http://schemas.openxmlformats.org/drawingml/2006/main">
            <a:off x="6591300" y="2057400"/>
            <a:ext cx="47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i="0">
                <a:solidFill>
                  <a:srgbClr val="444444"/>
                </a:solidFill>
                <a:latin typeface="Arial"/>
                <a:ea typeface="Arial"/>
                <a:cs typeface="Arial"/>
              </a:defRPr>
            </a:pPr>
            <a:r>
              <a:rPr sz="2550" b="1" i="0">
                <a:solidFill>
                  <a:srgbClr val="444444"/>
                </a:solidFill>
                <a:latin typeface="Arial"/>
                <a:ea typeface="Arial"/>
                <a:cs typeface="Arial"/>
              </a:rPr>
              <a:t>3</a:t>
            </a:r>
          </a:p>
        </p:txBody>
      </p:sp>
      <p:sp>
        <p:nvSpPr>
          <p:cNvPr id="18" name="">
            <a:extLst xmlns:a="http://schemas.openxmlformats.org/drawingml/2006/main">
              <a:ext uri="{FF2B5EF4-FFF2-40B4-BE49-F238E27FC236}">
                <a16:creationId xmlns:a16="http://schemas.microsoft.com/office/drawing/2014/main" id="{EC7F8870-0D2B-402B-9026-62BAED66DB72}"/>
              </a:ext>
            </a:extLst>
          </p:cNvPr>
          <p:cNvSpPr>
            <a:spLocks xmlns:a="http://schemas.openxmlformats.org/drawingml/2006/main" noGrp="1"/>
          </p:cNvSpPr>
          <p:nvPr/>
        </p:nvSpPr>
        <p:spPr>
          <a:xfrm xmlns:a="http://schemas.openxmlformats.org/drawingml/2006/main">
            <a:off x="6591300" y="2686050"/>
            <a:ext cx="1790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282828"/>
                </a:solidFill>
                <a:latin typeface="Arial"/>
                <a:ea typeface="Arial"/>
                <a:cs typeface="Arial"/>
              </a:defRPr>
            </a:pPr>
            <a:r>
              <a:rPr sz="1650" b="1" i="0">
                <a:solidFill>
                  <a:srgbClr val="282828"/>
                </a:solidFill>
                <a:latin typeface="Arial"/>
                <a:ea typeface="Arial"/>
                <a:cs typeface="Arial"/>
              </a:rPr>
              <a:t>Ablations</a:t>
            </a:r>
          </a:p>
        </p:txBody>
      </p:sp>
      <p:sp>
        <p:nvSpPr>
          <p:cNvPr id="19" name="">
            <a:extLst xmlns:a="http://schemas.openxmlformats.org/drawingml/2006/main">
              <a:ext uri="{FF2B5EF4-FFF2-40B4-BE49-F238E27FC236}">
                <a16:creationId xmlns:a16="http://schemas.microsoft.com/office/drawing/2014/main" id="{5B08FA11-4887-45DE-A3B1-26DBFCF96A1C}"/>
              </a:ext>
            </a:extLst>
          </p:cNvPr>
          <p:cNvSpPr>
            <a:spLocks xmlns:a="http://schemas.openxmlformats.org/drawingml/2006/main" noGrp="1"/>
          </p:cNvSpPr>
          <p:nvPr/>
        </p:nvSpPr>
        <p:spPr>
          <a:xfrm xmlns:a="http://schemas.openxmlformats.org/drawingml/2006/main">
            <a:off x="6591300" y="3238500"/>
            <a:ext cx="17907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333333"/>
                </a:solidFill>
                <a:latin typeface="Arial"/>
                <a:ea typeface="Arial"/>
                <a:cs typeface="Arial"/>
              </a:defRPr>
            </a:pPr>
            <a:r>
              <a:rPr sz="1200" b="0" i="0">
                <a:solidFill>
                  <a:srgbClr val="333333"/>
                </a:solidFill>
                <a:latin typeface="Arial"/>
                <a:ea typeface="Arial"/>
                <a:cs typeface="Arial"/>
              </a:rPr>
              <a:t>MARS, momentum decay, and Mu²</a:t>
            </a:r>
          </a:p>
        </p:txBody>
      </p:sp>
      <p:sp>
        <p:nvSpPr>
          <p:cNvPr id="20" name="">
            <a:extLst xmlns:a="http://schemas.openxmlformats.org/drawingml/2006/main">
              <a:ext uri="{FF2B5EF4-FFF2-40B4-BE49-F238E27FC236}">
                <a16:creationId xmlns:a16="http://schemas.microsoft.com/office/drawing/2014/main" id="{AD6181B1-3575-4045-95FD-7235C042BAFF}"/>
              </a:ext>
            </a:extLst>
          </p:cNvPr>
          <p:cNvSpPr>
            <a:spLocks xmlns:a="http://schemas.openxmlformats.org/drawingml/2006/main" noGrp="1"/>
          </p:cNvSpPr>
          <p:nvPr/>
        </p:nvSpPr>
        <p:spPr>
          <a:xfrm xmlns:a="http://schemas.openxmlformats.org/drawingml/2006/main">
            <a:off x="8686800" y="3000375"/>
            <a:ext cx="38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0" i="0">
                <a:solidFill>
                  <a:srgbClr val="A6A6A6"/>
                </a:solidFill>
                <a:latin typeface="Arial"/>
                <a:ea typeface="Arial"/>
                <a:cs typeface="Arial"/>
              </a:defRPr>
            </a:pPr>
            <a:r>
              <a:rPr sz="2250" b="0" i="0">
                <a:solidFill>
                  <a:srgbClr val="A6A6A6"/>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6D2F99EF-C4B7-44CF-AC58-B90229D35D41}"/>
              </a:ext>
            </a:extLst>
          </p:cNvPr>
          <p:cNvSpPr>
            <a:spLocks xmlns:a="http://schemas.openxmlformats.org/drawingml/2006/main" noGrp="1"/>
          </p:cNvSpPr>
          <p:nvPr/>
        </p:nvSpPr>
        <p:spPr>
          <a:xfrm xmlns:a="http://schemas.openxmlformats.org/drawingml/2006/main">
            <a:off x="9144000" y="1809750"/>
            <a:ext cx="2247900" cy="2857500"/>
          </a:xfrm>
          <a:prstGeom xmlns:a="http://schemas.openxmlformats.org/drawingml/2006/main" prst="roundRect">
            <a:avLst>
              <a:gd name="adj" fmla="val 7627"/>
            </a:avLst>
          </a:prstGeom>
          <a:solidFill xmlns:a="http://schemas.openxmlformats.org/drawingml/2006/main">
            <a:srgbClr val="FFFFFF"/>
          </a:solidFill>
          <a:ln xmlns:a="http://schemas.openxmlformats.org/drawingml/2006/main" w="9525">
            <a:solidFill>
              <a:srgbClr val="A6A6A6"/>
            </a:solidFill>
            <a:prstDash val="solid"/>
          </a:ln>
        </p:spPr>
      </p:sp>
      <p:sp>
        <p:nvSpPr>
          <p:cNvPr id="22" name="">
            <a:extLst xmlns:a="http://schemas.openxmlformats.org/drawingml/2006/main">
              <a:ext uri="{FF2B5EF4-FFF2-40B4-BE49-F238E27FC236}">
                <a16:creationId xmlns:a16="http://schemas.microsoft.com/office/drawing/2014/main" id="{D17CDC5B-8539-401D-93FC-89640ECC2EBF}"/>
              </a:ext>
            </a:extLst>
          </p:cNvPr>
          <p:cNvSpPr>
            <a:spLocks xmlns:a="http://schemas.openxmlformats.org/drawingml/2006/main" noGrp="1"/>
          </p:cNvSpPr>
          <p:nvPr/>
        </p:nvSpPr>
        <p:spPr>
          <a:xfrm xmlns:a="http://schemas.openxmlformats.org/drawingml/2006/main">
            <a:off x="9372600" y="2057400"/>
            <a:ext cx="47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i="0">
                <a:solidFill>
                  <a:srgbClr val="555555"/>
                </a:solidFill>
                <a:latin typeface="Arial"/>
                <a:ea typeface="Arial"/>
                <a:cs typeface="Arial"/>
              </a:defRPr>
            </a:pPr>
            <a:r>
              <a:rPr sz="2550" b="1" i="0">
                <a:solidFill>
                  <a:srgbClr val="555555"/>
                </a:solidFill>
                <a:latin typeface="Arial"/>
                <a:ea typeface="Arial"/>
                <a:cs typeface="Arial"/>
              </a:rPr>
              <a:t>4</a:t>
            </a:r>
          </a:p>
        </p:txBody>
      </p:sp>
      <p:sp>
        <p:nvSpPr>
          <p:cNvPr id="23" name="">
            <a:extLst xmlns:a="http://schemas.openxmlformats.org/drawingml/2006/main">
              <a:ext uri="{FF2B5EF4-FFF2-40B4-BE49-F238E27FC236}">
                <a16:creationId xmlns:a16="http://schemas.microsoft.com/office/drawing/2014/main" id="{016A4559-A3A6-4D1A-8673-C0333DE975A8}"/>
              </a:ext>
            </a:extLst>
          </p:cNvPr>
          <p:cNvSpPr>
            <a:spLocks xmlns:a="http://schemas.openxmlformats.org/drawingml/2006/main" noGrp="1"/>
          </p:cNvSpPr>
          <p:nvPr/>
        </p:nvSpPr>
        <p:spPr>
          <a:xfrm xmlns:a="http://schemas.openxmlformats.org/drawingml/2006/main">
            <a:off x="9372600" y="2686050"/>
            <a:ext cx="1790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282828"/>
                </a:solidFill>
                <a:latin typeface="Arial"/>
                <a:ea typeface="Arial"/>
                <a:cs typeface="Arial"/>
              </a:defRPr>
            </a:pPr>
            <a:r>
              <a:rPr sz="1650" b="1" i="0">
                <a:solidFill>
                  <a:srgbClr val="282828"/>
                </a:solidFill>
                <a:latin typeface="Arial"/>
                <a:ea typeface="Arial"/>
                <a:cs typeface="Arial"/>
              </a:rPr>
              <a:t>Synthesis</a:t>
            </a:r>
          </a:p>
        </p:txBody>
      </p:sp>
      <p:sp>
        <p:nvSpPr>
          <p:cNvPr id="24" name="">
            <a:extLst xmlns:a="http://schemas.openxmlformats.org/drawingml/2006/main">
              <a:ext uri="{FF2B5EF4-FFF2-40B4-BE49-F238E27FC236}">
                <a16:creationId xmlns:a16="http://schemas.microsoft.com/office/drawing/2014/main" id="{C5146301-658D-49EC-89CA-0B9C1F66884F}"/>
              </a:ext>
            </a:extLst>
          </p:cNvPr>
          <p:cNvSpPr>
            <a:spLocks xmlns:a="http://schemas.openxmlformats.org/drawingml/2006/main" noGrp="1"/>
          </p:cNvSpPr>
          <p:nvPr/>
        </p:nvSpPr>
        <p:spPr>
          <a:xfrm xmlns:a="http://schemas.openxmlformats.org/drawingml/2006/main">
            <a:off x="9372600" y="3238500"/>
            <a:ext cx="17907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333333"/>
                </a:solidFill>
                <a:latin typeface="Arial"/>
                <a:ea typeface="Arial"/>
                <a:cs typeface="Arial"/>
              </a:defRPr>
            </a:pPr>
            <a:r>
              <a:rPr sz="1200" b="0" i="0">
                <a:solidFill>
                  <a:srgbClr val="333333"/>
                </a:solidFill>
                <a:latin typeface="Arial"/>
                <a:ea typeface="Arial"/>
                <a:cs typeface="Arial"/>
              </a:rPr>
              <a:t>Interactions, limitations, and claims</a:t>
            </a:r>
          </a:p>
        </p:txBody>
      </p:sp>
    </p:spTree>
    <p:extLst>
      <p:ext uri="{BB962C8B-B14F-4D97-AF65-F5344CB8AC3E}">
        <p14:creationId xmlns:p14="http://schemas.microsoft.com/office/powerpoint/2010/main" val="12087521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slide-title">
            <a:extLst xmlns:a="http://schemas.openxmlformats.org/drawingml/2006/main">
              <a:ext uri="{FF2B5EF4-FFF2-40B4-BE49-F238E27FC236}">
                <a16:creationId xmlns:a16="http://schemas.microsoft.com/office/drawing/2014/main" id="{17CA57F8-698E-4AA7-BAE0-B5AFB74FB864}"/>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Gradient descent</a:t>
            </a:r>
          </a:p>
        </p:txBody>
      </p:sp>
      <p:sp>
        <p:nvSpPr>
          <p:cNvPr id="2" name="">
            <a:extLst xmlns:a="http://schemas.openxmlformats.org/drawingml/2006/main">
              <a:ext uri="{FF2B5EF4-FFF2-40B4-BE49-F238E27FC236}">
                <a16:creationId xmlns:a16="http://schemas.microsoft.com/office/drawing/2014/main" id="{4F30DFF3-8536-493E-93A2-1EF8E5060589}"/>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slide-subtitle">
            <a:extLst xmlns:a="http://schemas.openxmlformats.org/drawingml/2006/main">
              <a:ext uri="{FF2B5EF4-FFF2-40B4-BE49-F238E27FC236}">
                <a16:creationId xmlns:a16="http://schemas.microsoft.com/office/drawing/2014/main" id="{D57667FC-B479-4719-B87F-29F4B5C01D3E}"/>
              </a:ext>
            </a:extLst>
          </p:cNvPr>
          <p:cNvSpPr>
            <a:spLocks xmlns:a="http://schemas.openxmlformats.org/drawingml/2006/main" noGrp="1"/>
          </p:cNvSpPr>
          <p:nvPr/>
        </p:nvSpPr>
        <p:spPr>
          <a:xfrm xmlns:a="http://schemas.openxmlformats.org/drawingml/2006/main">
            <a:off x="685800" y="10668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666666"/>
                </a:solidFill>
                <a:latin typeface="Arial"/>
                <a:ea typeface="Arial"/>
                <a:cs typeface="Arial"/>
              </a:defRPr>
            </a:pPr>
            <a:r>
              <a:rPr sz="1125" b="0" i="0">
                <a:solidFill>
                  <a:srgbClr val="666666"/>
                </a:solidFill>
                <a:latin typeface="Arial"/>
                <a:ea typeface="Arial"/>
                <a:cs typeface="Arial"/>
              </a:rPr>
              <a:t>A model predicts, a loss measures error, and the optimizer chooses the next parameter update.</a:t>
            </a:r>
          </a:p>
        </p:txBody>
      </p:sp>
      <p:sp>
        <p:nvSpPr>
          <p:cNvPr id="4" name="">
            <a:extLst xmlns:a="http://schemas.openxmlformats.org/drawingml/2006/main">
              <a:ext uri="{FF2B5EF4-FFF2-40B4-BE49-F238E27FC236}">
                <a16:creationId xmlns:a16="http://schemas.microsoft.com/office/drawing/2014/main" id="{B0A40EE3-3ED1-42C5-B0E4-28B21DED1ACD}"/>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F0C1C97-24C7-4D7E-BEEF-214FFCCD06DB}"/>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6" name="">
            <a:extLst xmlns:a="http://schemas.openxmlformats.org/drawingml/2006/main">
              <a:ext uri="{FF2B5EF4-FFF2-40B4-BE49-F238E27FC236}">
                <a16:creationId xmlns:a16="http://schemas.microsoft.com/office/drawing/2014/main" id="{57C0E504-5C92-467B-BDF3-DF435CA34691}"/>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4</a:t>
            </a:r>
          </a:p>
        </p:txBody>
      </p:sp>
      <p:sp>
        <p:nvSpPr>
          <p:cNvPr id="7" name="">
            <a:extLst xmlns:a="http://schemas.openxmlformats.org/drawingml/2006/main">
              <a:ext uri="{FF2B5EF4-FFF2-40B4-BE49-F238E27FC236}">
                <a16:creationId xmlns:a16="http://schemas.microsoft.com/office/drawing/2014/main" id="{D8EC7216-CDD5-45B6-BA0D-DD447F8F1CA3}"/>
              </a:ext>
            </a:extLst>
          </p:cNvPr>
          <p:cNvSpPr>
            <a:spLocks xmlns:a="http://schemas.openxmlformats.org/drawingml/2006/main" noGrp="1"/>
          </p:cNvSpPr>
          <p:nvPr/>
        </p:nvSpPr>
        <p:spPr>
          <a:xfrm xmlns:a="http://schemas.openxmlformats.org/drawingml/2006/main">
            <a:off x="666750" y="2019300"/>
            <a:ext cx="2266950" cy="200025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A6A6A6"/>
            </a:solidFill>
            <a:prstDash val="solid"/>
          </a:ln>
        </p:spPr>
      </p:sp>
      <p:sp>
        <p:nvSpPr>
          <p:cNvPr id="8" name="">
            <a:extLst xmlns:a="http://schemas.openxmlformats.org/drawingml/2006/main">
              <a:ext uri="{FF2B5EF4-FFF2-40B4-BE49-F238E27FC236}">
                <a16:creationId xmlns:a16="http://schemas.microsoft.com/office/drawing/2014/main" id="{F8771106-8254-44BE-B9EA-EC7A6085EB7D}"/>
              </a:ext>
            </a:extLst>
          </p:cNvPr>
          <p:cNvSpPr>
            <a:spLocks xmlns:a="http://schemas.openxmlformats.org/drawingml/2006/main" noGrp="1"/>
          </p:cNvSpPr>
          <p:nvPr/>
        </p:nvSpPr>
        <p:spPr>
          <a:xfrm xmlns:a="http://schemas.openxmlformats.org/drawingml/2006/main">
            <a:off x="857250" y="22479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i="0">
                <a:solidFill>
                  <a:srgbClr val="333333"/>
                </a:solidFill>
                <a:latin typeface="Arial"/>
                <a:ea typeface="Arial"/>
                <a:cs typeface="Arial"/>
              </a:defRPr>
            </a:pPr>
            <a:r>
              <a:rPr sz="825" b="1" i="0">
                <a:solidFill>
                  <a:srgbClr val="333333"/>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19FFD7AC-7E48-4D37-BDCD-B5E1F73CE4CA}"/>
              </a:ext>
            </a:extLst>
          </p:cNvPr>
          <p:cNvSpPr>
            <a:spLocks xmlns:a="http://schemas.openxmlformats.org/drawingml/2006/main" noGrp="1"/>
          </p:cNvSpPr>
          <p:nvPr/>
        </p:nvSpPr>
        <p:spPr>
          <a:xfrm xmlns:a="http://schemas.openxmlformats.org/drawingml/2006/main">
            <a:off x="876300" y="2724150"/>
            <a:ext cx="1847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282828"/>
                </a:solidFill>
                <a:latin typeface="Arial"/>
                <a:ea typeface="Arial"/>
                <a:cs typeface="Arial"/>
              </a:defRPr>
            </a:pPr>
            <a:r>
              <a:rPr sz="1650" b="1" i="0">
                <a:solidFill>
                  <a:srgbClr val="282828"/>
                </a:solidFill>
                <a:latin typeface="Arial"/>
                <a:ea typeface="Arial"/>
                <a:cs typeface="Arial"/>
              </a:rPr>
              <a:t>Mini-batch</a:t>
            </a:r>
          </a:p>
        </p:txBody>
      </p:sp>
      <p:sp>
        <p:nvSpPr>
          <p:cNvPr id="10" name="">
            <a:extLst xmlns:a="http://schemas.openxmlformats.org/drawingml/2006/main">
              <a:ext uri="{FF2B5EF4-FFF2-40B4-BE49-F238E27FC236}">
                <a16:creationId xmlns:a16="http://schemas.microsoft.com/office/drawing/2014/main" id="{6B77F201-E785-47AA-84FF-839554D2694C}"/>
              </a:ext>
            </a:extLst>
          </p:cNvPr>
          <p:cNvSpPr>
            <a:spLocks xmlns:a="http://schemas.openxmlformats.org/drawingml/2006/main" noGrp="1"/>
          </p:cNvSpPr>
          <p:nvPr/>
        </p:nvSpPr>
        <p:spPr>
          <a:xfrm xmlns:a="http://schemas.openxmlformats.org/drawingml/2006/main">
            <a:off x="876300" y="3276600"/>
            <a:ext cx="1847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333333"/>
                </a:solidFill>
                <a:latin typeface="Arial"/>
                <a:ea typeface="Arial"/>
                <a:cs typeface="Arial"/>
              </a:defRPr>
            </a:pPr>
            <a:r>
              <a:rPr sz="1200" b="0" i="0">
                <a:solidFill>
                  <a:srgbClr val="333333"/>
                </a:solidFill>
                <a:latin typeface="Arial"/>
                <a:ea typeface="Arial"/>
                <a:cs typeface="Arial"/>
              </a:rPr>
              <a:t>images + labels</a:t>
            </a:r>
          </a:p>
        </p:txBody>
      </p:sp>
      <p:sp>
        <p:nvSpPr>
          <p:cNvPr id="11" name="">
            <a:extLst xmlns:a="http://schemas.openxmlformats.org/drawingml/2006/main">
              <a:ext uri="{FF2B5EF4-FFF2-40B4-BE49-F238E27FC236}">
                <a16:creationId xmlns:a16="http://schemas.microsoft.com/office/drawing/2014/main" id="{EDA00D56-0987-4B2C-9E62-D68220DF4131}"/>
              </a:ext>
            </a:extLst>
          </p:cNvPr>
          <p:cNvSpPr>
            <a:spLocks xmlns:a="http://schemas.openxmlformats.org/drawingml/2006/main" noGrp="1"/>
          </p:cNvSpPr>
          <p:nvPr/>
        </p:nvSpPr>
        <p:spPr>
          <a:xfrm xmlns:a="http://schemas.openxmlformats.org/drawingml/2006/main">
            <a:off x="3009900" y="27813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0" i="0">
                <a:solidFill>
                  <a:srgbClr val="666666"/>
                </a:solidFill>
                <a:latin typeface="Arial"/>
                <a:ea typeface="Arial"/>
                <a:cs typeface="Arial"/>
              </a:defRPr>
            </a:pPr>
            <a:r>
              <a:rPr sz="2250" b="0" i="0">
                <a:solidFill>
                  <a:srgbClr val="666666"/>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39CCFBE8-3A55-4FF2-829A-47180A1AB4BD}"/>
              </a:ext>
            </a:extLst>
          </p:cNvPr>
          <p:cNvSpPr>
            <a:spLocks xmlns:a="http://schemas.openxmlformats.org/drawingml/2006/main" noGrp="1"/>
          </p:cNvSpPr>
          <p:nvPr/>
        </p:nvSpPr>
        <p:spPr>
          <a:xfrm xmlns:a="http://schemas.openxmlformats.org/drawingml/2006/main">
            <a:off x="3524250" y="2019300"/>
            <a:ext cx="2266950" cy="200025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A6A6A6"/>
            </a:solidFill>
            <a:prstDash val="solid"/>
          </a:ln>
        </p:spPr>
      </p:sp>
      <p:sp>
        <p:nvSpPr>
          <p:cNvPr id="13" name="">
            <a:extLst xmlns:a="http://schemas.openxmlformats.org/drawingml/2006/main">
              <a:ext uri="{FF2B5EF4-FFF2-40B4-BE49-F238E27FC236}">
                <a16:creationId xmlns:a16="http://schemas.microsoft.com/office/drawing/2014/main" id="{E5A27013-6797-43A3-BD69-9DDC33ED1F54}"/>
              </a:ext>
            </a:extLst>
          </p:cNvPr>
          <p:cNvSpPr>
            <a:spLocks xmlns:a="http://schemas.openxmlformats.org/drawingml/2006/main" noGrp="1"/>
          </p:cNvSpPr>
          <p:nvPr/>
        </p:nvSpPr>
        <p:spPr>
          <a:xfrm xmlns:a="http://schemas.openxmlformats.org/drawingml/2006/main">
            <a:off x="3714750" y="22479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i="0">
                <a:solidFill>
                  <a:srgbClr val="333333"/>
                </a:solidFill>
                <a:latin typeface="Arial"/>
                <a:ea typeface="Arial"/>
                <a:cs typeface="Arial"/>
              </a:defRPr>
            </a:pPr>
            <a:r>
              <a:rPr sz="825" b="1" i="0">
                <a:solidFill>
                  <a:srgbClr val="333333"/>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0841D783-8881-4A3A-A465-157DDFEEA5F4}"/>
              </a:ext>
            </a:extLst>
          </p:cNvPr>
          <p:cNvSpPr>
            <a:spLocks xmlns:a="http://schemas.openxmlformats.org/drawingml/2006/main" noGrp="1"/>
          </p:cNvSpPr>
          <p:nvPr/>
        </p:nvSpPr>
        <p:spPr>
          <a:xfrm xmlns:a="http://schemas.openxmlformats.org/drawingml/2006/main">
            <a:off x="3733800" y="2724150"/>
            <a:ext cx="1847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282828"/>
                </a:solidFill>
                <a:latin typeface="Arial"/>
                <a:ea typeface="Arial"/>
                <a:cs typeface="Arial"/>
              </a:defRPr>
            </a:pPr>
            <a:r>
              <a:rPr sz="1650" b="1" i="0">
                <a:solidFill>
                  <a:srgbClr val="282828"/>
                </a:solidFill>
                <a:latin typeface="Arial"/>
                <a:ea typeface="Arial"/>
                <a:cs typeface="Arial"/>
              </a:rPr>
              <a:t>Forward pass</a:t>
            </a:r>
          </a:p>
        </p:txBody>
      </p:sp>
      <p:sp>
        <p:nvSpPr>
          <p:cNvPr id="15" name="">
            <a:extLst xmlns:a="http://schemas.openxmlformats.org/drawingml/2006/main">
              <a:ext uri="{FF2B5EF4-FFF2-40B4-BE49-F238E27FC236}">
                <a16:creationId xmlns:a16="http://schemas.microsoft.com/office/drawing/2014/main" id="{E759EFE4-8388-4788-81CC-A4AF40FCA4BE}"/>
              </a:ext>
            </a:extLst>
          </p:cNvPr>
          <p:cNvSpPr>
            <a:spLocks xmlns:a="http://schemas.openxmlformats.org/drawingml/2006/main" noGrp="1"/>
          </p:cNvSpPr>
          <p:nvPr/>
        </p:nvSpPr>
        <p:spPr>
          <a:xfrm xmlns:a="http://schemas.openxmlformats.org/drawingml/2006/main">
            <a:off x="3733800" y="3276600"/>
            <a:ext cx="1847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333333"/>
                </a:solidFill>
                <a:latin typeface="Arial"/>
                <a:ea typeface="Arial"/>
                <a:cs typeface="Arial"/>
              </a:defRPr>
            </a:pPr>
            <a:r>
              <a:rPr sz="1200" b="0" i="0">
                <a:solidFill>
                  <a:srgbClr val="333333"/>
                </a:solidFill>
                <a:latin typeface="Arial"/>
                <a:ea typeface="Arial"/>
                <a:cs typeface="Arial"/>
              </a:rPr>
              <a:t>model predictions</a:t>
            </a:r>
          </a:p>
        </p:txBody>
      </p:sp>
      <p:sp>
        <p:nvSpPr>
          <p:cNvPr id="16" name="">
            <a:extLst xmlns:a="http://schemas.openxmlformats.org/drawingml/2006/main">
              <a:ext uri="{FF2B5EF4-FFF2-40B4-BE49-F238E27FC236}">
                <a16:creationId xmlns:a16="http://schemas.microsoft.com/office/drawing/2014/main" id="{1716F41F-BC58-4EFE-8C5C-71AAD3D206F8}"/>
              </a:ext>
            </a:extLst>
          </p:cNvPr>
          <p:cNvSpPr>
            <a:spLocks xmlns:a="http://schemas.openxmlformats.org/drawingml/2006/main" noGrp="1"/>
          </p:cNvSpPr>
          <p:nvPr/>
        </p:nvSpPr>
        <p:spPr>
          <a:xfrm xmlns:a="http://schemas.openxmlformats.org/drawingml/2006/main">
            <a:off x="5867400" y="27813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0" i="0">
                <a:solidFill>
                  <a:srgbClr val="666666"/>
                </a:solidFill>
                <a:latin typeface="Arial"/>
                <a:ea typeface="Arial"/>
                <a:cs typeface="Arial"/>
              </a:defRPr>
            </a:pPr>
            <a:r>
              <a:rPr sz="2250" b="0" i="0">
                <a:solidFill>
                  <a:srgbClr val="666666"/>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0A3F2700-2FDA-43EC-8742-79B39A815DF3}"/>
              </a:ext>
            </a:extLst>
          </p:cNvPr>
          <p:cNvSpPr>
            <a:spLocks xmlns:a="http://schemas.openxmlformats.org/drawingml/2006/main" noGrp="1"/>
          </p:cNvSpPr>
          <p:nvPr/>
        </p:nvSpPr>
        <p:spPr>
          <a:xfrm xmlns:a="http://schemas.openxmlformats.org/drawingml/2006/main">
            <a:off x="6381750" y="2019300"/>
            <a:ext cx="2266950" cy="200025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A6A6A6"/>
            </a:solidFill>
            <a:prstDash val="solid"/>
          </a:ln>
        </p:spPr>
      </p:sp>
      <p:sp>
        <p:nvSpPr>
          <p:cNvPr id="18" name="">
            <a:extLst xmlns:a="http://schemas.openxmlformats.org/drawingml/2006/main">
              <a:ext uri="{FF2B5EF4-FFF2-40B4-BE49-F238E27FC236}">
                <a16:creationId xmlns:a16="http://schemas.microsoft.com/office/drawing/2014/main" id="{17F7DC9F-A3E2-4E03-98B7-AA4AF7C82AF2}"/>
              </a:ext>
            </a:extLst>
          </p:cNvPr>
          <p:cNvSpPr>
            <a:spLocks xmlns:a="http://schemas.openxmlformats.org/drawingml/2006/main" noGrp="1"/>
          </p:cNvSpPr>
          <p:nvPr/>
        </p:nvSpPr>
        <p:spPr>
          <a:xfrm xmlns:a="http://schemas.openxmlformats.org/drawingml/2006/main">
            <a:off x="6572250" y="22479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i="0">
                <a:solidFill>
                  <a:srgbClr val="333333"/>
                </a:solidFill>
                <a:latin typeface="Arial"/>
                <a:ea typeface="Arial"/>
                <a:cs typeface="Arial"/>
              </a:defRPr>
            </a:pPr>
            <a:r>
              <a:rPr sz="825" b="1" i="0">
                <a:solidFill>
                  <a:srgbClr val="333333"/>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A375BE8F-FEA2-43A3-AC20-F528502C482A}"/>
              </a:ext>
            </a:extLst>
          </p:cNvPr>
          <p:cNvSpPr>
            <a:spLocks xmlns:a="http://schemas.openxmlformats.org/drawingml/2006/main" noGrp="1"/>
          </p:cNvSpPr>
          <p:nvPr/>
        </p:nvSpPr>
        <p:spPr>
          <a:xfrm xmlns:a="http://schemas.openxmlformats.org/drawingml/2006/main">
            <a:off x="6591300" y="2724150"/>
            <a:ext cx="1847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282828"/>
                </a:solidFill>
                <a:latin typeface="Arial"/>
                <a:ea typeface="Arial"/>
                <a:cs typeface="Arial"/>
              </a:defRPr>
            </a:pPr>
            <a:r>
              <a:rPr sz="1650" b="1" i="0">
                <a:solidFill>
                  <a:srgbClr val="282828"/>
                </a:solidFill>
                <a:latin typeface="Arial"/>
                <a:ea typeface="Arial"/>
                <a:cs typeface="Arial"/>
              </a:rPr>
              <a:t>Loss + gradient</a:t>
            </a:r>
          </a:p>
        </p:txBody>
      </p:sp>
      <p:sp>
        <p:nvSpPr>
          <p:cNvPr id="20" name="">
            <a:extLst xmlns:a="http://schemas.openxmlformats.org/drawingml/2006/main">
              <a:ext uri="{FF2B5EF4-FFF2-40B4-BE49-F238E27FC236}">
                <a16:creationId xmlns:a16="http://schemas.microsoft.com/office/drawing/2014/main" id="{28F5BF89-2F3D-40A4-882B-944312EB599D}"/>
              </a:ext>
            </a:extLst>
          </p:cNvPr>
          <p:cNvSpPr>
            <a:spLocks xmlns:a="http://schemas.openxmlformats.org/drawingml/2006/main" noGrp="1"/>
          </p:cNvSpPr>
          <p:nvPr/>
        </p:nvSpPr>
        <p:spPr>
          <a:xfrm xmlns:a="http://schemas.openxmlformats.org/drawingml/2006/main">
            <a:off x="6591300" y="3276600"/>
            <a:ext cx="1847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333333"/>
                </a:solidFill>
                <a:latin typeface="Arial"/>
                <a:ea typeface="Arial"/>
                <a:cs typeface="Arial"/>
              </a:defRPr>
            </a:pPr>
            <a:r>
              <a:rPr sz="1200" b="0" i="0">
                <a:solidFill>
                  <a:srgbClr val="333333"/>
                </a:solidFill>
                <a:latin typeface="Arial"/>
                <a:ea typeface="Arial"/>
                <a:cs typeface="Arial"/>
              </a:rPr>
              <a:t>local direction</a:t>
            </a:r>
          </a:p>
        </p:txBody>
      </p:sp>
      <p:sp>
        <p:nvSpPr>
          <p:cNvPr id="21" name="">
            <a:extLst xmlns:a="http://schemas.openxmlformats.org/drawingml/2006/main">
              <a:ext uri="{FF2B5EF4-FFF2-40B4-BE49-F238E27FC236}">
                <a16:creationId xmlns:a16="http://schemas.microsoft.com/office/drawing/2014/main" id="{EA0A9C84-6D4A-4564-92AB-DEBCABA338F7}"/>
              </a:ext>
            </a:extLst>
          </p:cNvPr>
          <p:cNvSpPr>
            <a:spLocks xmlns:a="http://schemas.openxmlformats.org/drawingml/2006/main" noGrp="1"/>
          </p:cNvSpPr>
          <p:nvPr/>
        </p:nvSpPr>
        <p:spPr>
          <a:xfrm xmlns:a="http://schemas.openxmlformats.org/drawingml/2006/main">
            <a:off x="8724900" y="27813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0" i="0">
                <a:solidFill>
                  <a:srgbClr val="666666"/>
                </a:solidFill>
                <a:latin typeface="Arial"/>
                <a:ea typeface="Arial"/>
                <a:cs typeface="Arial"/>
              </a:defRPr>
            </a:pPr>
            <a:r>
              <a:rPr sz="2250" b="0" i="0">
                <a:solidFill>
                  <a:srgbClr val="666666"/>
                </a:solidFill>
                <a:latin typeface="Arial"/>
                <a:ea typeface="Arial"/>
                <a:cs typeface="Arial"/>
              </a:rPr>
              <a:t>→</a:t>
            </a:r>
          </a:p>
        </p:txBody>
      </p:sp>
      <p:sp>
        <p:nvSpPr>
          <p:cNvPr id="22" name="">
            <a:extLst xmlns:a="http://schemas.openxmlformats.org/drawingml/2006/main">
              <a:ext uri="{FF2B5EF4-FFF2-40B4-BE49-F238E27FC236}">
                <a16:creationId xmlns:a16="http://schemas.microsoft.com/office/drawing/2014/main" id="{2133175C-9476-44D5-BC87-F6C3DF91D892}"/>
              </a:ext>
            </a:extLst>
          </p:cNvPr>
          <p:cNvSpPr>
            <a:spLocks xmlns:a="http://schemas.openxmlformats.org/drawingml/2006/main" noGrp="1"/>
          </p:cNvSpPr>
          <p:nvPr/>
        </p:nvSpPr>
        <p:spPr>
          <a:xfrm xmlns:a="http://schemas.openxmlformats.org/drawingml/2006/main">
            <a:off x="9239250" y="2019300"/>
            <a:ext cx="2266950" cy="200025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A8D5D1"/>
            </a:solidFill>
            <a:prstDash val="solid"/>
          </a:ln>
        </p:spPr>
      </p:sp>
      <p:sp>
        <p:nvSpPr>
          <p:cNvPr id="23" name="">
            <a:extLst xmlns:a="http://schemas.openxmlformats.org/drawingml/2006/main">
              <a:ext uri="{FF2B5EF4-FFF2-40B4-BE49-F238E27FC236}">
                <a16:creationId xmlns:a16="http://schemas.microsoft.com/office/drawing/2014/main" id="{DA4CC2CF-87BF-4F31-A691-CD543DE3E329}"/>
              </a:ext>
            </a:extLst>
          </p:cNvPr>
          <p:cNvSpPr>
            <a:spLocks xmlns:a="http://schemas.openxmlformats.org/drawingml/2006/main" noGrp="1"/>
          </p:cNvSpPr>
          <p:nvPr/>
        </p:nvSpPr>
        <p:spPr>
          <a:xfrm xmlns:a="http://schemas.openxmlformats.org/drawingml/2006/main">
            <a:off x="9429750" y="22479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i="0">
                <a:solidFill>
                  <a:srgbClr val="333333"/>
                </a:solidFill>
                <a:latin typeface="Arial"/>
                <a:ea typeface="Arial"/>
                <a:cs typeface="Arial"/>
              </a:defRPr>
            </a:pPr>
            <a:r>
              <a:rPr sz="825" b="1" i="0">
                <a:solidFill>
                  <a:srgbClr val="333333"/>
                </a:solidFill>
                <a:latin typeface="Arial"/>
                <a:ea typeface="Arial"/>
                <a:cs typeface="Arial"/>
              </a:rPr>
              <a:t>4</a:t>
            </a:r>
          </a:p>
        </p:txBody>
      </p:sp>
      <p:sp>
        <p:nvSpPr>
          <p:cNvPr id="24" name="">
            <a:extLst xmlns:a="http://schemas.openxmlformats.org/drawingml/2006/main">
              <a:ext uri="{FF2B5EF4-FFF2-40B4-BE49-F238E27FC236}">
                <a16:creationId xmlns:a16="http://schemas.microsoft.com/office/drawing/2014/main" id="{ACCAA823-99FB-4E6C-A006-6AC55180DDD8}"/>
              </a:ext>
            </a:extLst>
          </p:cNvPr>
          <p:cNvSpPr>
            <a:spLocks xmlns:a="http://schemas.openxmlformats.org/drawingml/2006/main" noGrp="1"/>
          </p:cNvSpPr>
          <p:nvPr/>
        </p:nvSpPr>
        <p:spPr>
          <a:xfrm xmlns:a="http://schemas.openxmlformats.org/drawingml/2006/main">
            <a:off x="9448800" y="2724150"/>
            <a:ext cx="1847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282828"/>
                </a:solidFill>
                <a:latin typeface="Arial"/>
                <a:ea typeface="Arial"/>
                <a:cs typeface="Arial"/>
              </a:defRPr>
            </a:pPr>
            <a:r>
              <a:rPr sz="1650" b="1" i="0">
                <a:solidFill>
                  <a:srgbClr val="282828"/>
                </a:solidFill>
                <a:latin typeface="Arial"/>
                <a:ea typeface="Arial"/>
                <a:cs typeface="Arial"/>
              </a:rPr>
              <a:t>Optimizer</a:t>
            </a:r>
          </a:p>
        </p:txBody>
      </p:sp>
      <p:sp>
        <p:nvSpPr>
          <p:cNvPr id="25" name="">
            <a:extLst xmlns:a="http://schemas.openxmlformats.org/drawingml/2006/main">
              <a:ext uri="{FF2B5EF4-FFF2-40B4-BE49-F238E27FC236}">
                <a16:creationId xmlns:a16="http://schemas.microsoft.com/office/drawing/2014/main" id="{048E0C11-311C-4514-B68A-9495EF94F47E}"/>
              </a:ext>
            </a:extLst>
          </p:cNvPr>
          <p:cNvSpPr>
            <a:spLocks xmlns:a="http://schemas.openxmlformats.org/drawingml/2006/main" noGrp="1"/>
          </p:cNvSpPr>
          <p:nvPr/>
        </p:nvSpPr>
        <p:spPr>
          <a:xfrm xmlns:a="http://schemas.openxmlformats.org/drawingml/2006/main">
            <a:off x="9448800" y="3276600"/>
            <a:ext cx="1847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333333"/>
                </a:solidFill>
                <a:latin typeface="Arial"/>
                <a:ea typeface="Arial"/>
                <a:cs typeface="Arial"/>
              </a:defRPr>
            </a:pPr>
            <a:r>
              <a:rPr sz="1200" b="0" i="0">
                <a:solidFill>
                  <a:srgbClr val="333333"/>
                </a:solidFill>
                <a:latin typeface="Arial"/>
                <a:ea typeface="Arial"/>
                <a:cs typeface="Arial"/>
              </a:rPr>
              <a:t>filtered matrix update</a:t>
            </a:r>
          </a:p>
        </p:txBody>
      </p:sp>
      <p:sp>
        <p:nvSpPr>
          <p:cNvPr id="26" name="">
            <a:extLst xmlns:a="http://schemas.openxmlformats.org/drawingml/2006/main">
              <a:ext uri="{FF2B5EF4-FFF2-40B4-BE49-F238E27FC236}">
                <a16:creationId xmlns:a16="http://schemas.microsoft.com/office/drawing/2014/main" id="{4E573A0F-81BC-4666-90F3-02B37949936E}"/>
              </a:ext>
            </a:extLst>
          </p:cNvPr>
          <p:cNvSpPr>
            <a:spLocks xmlns:a="http://schemas.openxmlformats.org/drawingml/2006/main" noGrp="1"/>
          </p:cNvSpPr>
          <p:nvPr/>
        </p:nvSpPr>
        <p:spPr>
          <a:xfrm xmlns:a="http://schemas.openxmlformats.org/drawingml/2006/main">
            <a:off x="3333750" y="4686300"/>
            <a:ext cx="552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400" b="1" i="0">
                <a:solidFill>
                  <a:srgbClr val="282828"/>
                </a:solidFill>
                <a:latin typeface="Arial"/>
                <a:ea typeface="Arial"/>
                <a:cs typeface="Arial"/>
              </a:defRPr>
            </a:pPr>
            <a:r>
              <a:rPr sz="2400" b="1" i="0">
                <a:solidFill>
                  <a:srgbClr val="282828"/>
                </a:solidFill>
                <a:latin typeface="Arial"/>
                <a:ea typeface="Arial"/>
                <a:cs typeface="Arial"/>
              </a:rPr>
              <a:t>θₜ₊₁ = θₜ − ηₜ · updateₜ</a:t>
            </a:r>
          </a:p>
        </p:txBody>
      </p:sp>
    </p:spTree>
    <p:extLst>
      <p:ext uri="{BB962C8B-B14F-4D97-AF65-F5344CB8AC3E}">
        <p14:creationId xmlns:p14="http://schemas.microsoft.com/office/powerpoint/2010/main" val="106526308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CFE77560-ADA3-4514-AED8-107AD478464B}"/>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Learning rate and momentum</a:t>
            </a:r>
          </a:p>
        </p:txBody>
      </p:sp>
      <p:sp>
        <p:nvSpPr>
          <p:cNvPr id="2" name="">
            <a:extLst xmlns:a="http://schemas.openxmlformats.org/drawingml/2006/main">
              <a:ext uri="{FF2B5EF4-FFF2-40B4-BE49-F238E27FC236}">
                <a16:creationId xmlns:a16="http://schemas.microsoft.com/office/drawing/2014/main" id="{31ECF4B2-F3AB-4231-8493-8CC8018E5607}"/>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CCA52754-DD50-49FF-B5F2-8A70DA7A987F}"/>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22BC9D0-F89D-4E62-9431-A8132B73CE86}"/>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361220DD-642F-4864-B08A-71C721E8F35E}"/>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5</a:t>
            </a:r>
          </a:p>
        </p:txBody>
      </p:sp>
      <p:sp>
        <p:nvSpPr>
          <p:cNvPr id="6" name="">
            <a:extLst xmlns:a="http://schemas.openxmlformats.org/drawingml/2006/main">
              <a:ext uri="{FF2B5EF4-FFF2-40B4-BE49-F238E27FC236}">
                <a16:creationId xmlns:a16="http://schemas.microsoft.com/office/drawing/2014/main" id="{7DB6C2AA-3498-4749-8199-6B1F47AD0A13}"/>
              </a:ext>
            </a:extLst>
          </p:cNvPr>
          <p:cNvSpPr>
            <a:spLocks xmlns:a="http://schemas.openxmlformats.org/drawingml/2006/main" noGrp="1"/>
          </p:cNvSpPr>
          <p:nvPr/>
        </p:nvSpPr>
        <p:spPr>
          <a:xfrm xmlns:a="http://schemas.openxmlformats.org/drawingml/2006/main">
            <a:off x="685800" y="1447800"/>
            <a:ext cx="5095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SCALE</a:t>
            </a:r>
          </a:p>
        </p:txBody>
      </p:sp>
      <p:sp>
        <p:nvSpPr>
          <p:cNvPr id="7" name="">
            <a:extLst xmlns:a="http://schemas.openxmlformats.org/drawingml/2006/main">
              <a:ext uri="{FF2B5EF4-FFF2-40B4-BE49-F238E27FC236}">
                <a16:creationId xmlns:a16="http://schemas.microsoft.com/office/drawing/2014/main" id="{01A60842-24A2-408B-B2C4-19B6D35C4B63}"/>
              </a:ext>
            </a:extLst>
          </p:cNvPr>
          <p:cNvSpPr>
            <a:spLocks xmlns:a="http://schemas.openxmlformats.org/drawingml/2006/main" noGrp="1"/>
          </p:cNvSpPr>
          <p:nvPr/>
        </p:nvSpPr>
        <p:spPr>
          <a:xfrm xmlns:a="http://schemas.openxmlformats.org/drawingml/2006/main">
            <a:off x="685800" y="17145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282828"/>
                </a:solidFill>
                <a:latin typeface="Arial"/>
                <a:ea typeface="Arial"/>
                <a:cs typeface="Arial"/>
              </a:defRPr>
            </a:pPr>
            <a:r>
              <a:rPr sz="2100" b="1" i="0">
                <a:solidFill>
                  <a:srgbClr val="282828"/>
                </a:solidFill>
                <a:latin typeface="Arial"/>
                <a:ea typeface="Arial"/>
                <a:cs typeface="Arial"/>
              </a:rPr>
              <a:t>Learning rate ηₜ</a:t>
            </a:r>
          </a:p>
        </p:txBody>
      </p:sp>
      <p:sp>
        <p:nvSpPr>
          <p:cNvPr id="8" name="">
            <a:extLst xmlns:a="http://schemas.openxmlformats.org/drawingml/2006/main">
              <a:ext uri="{FF2B5EF4-FFF2-40B4-BE49-F238E27FC236}">
                <a16:creationId xmlns:a16="http://schemas.microsoft.com/office/drawing/2014/main" id="{732FE500-E8F6-48DE-8040-BC8983560F81}"/>
              </a:ext>
            </a:extLst>
          </p:cNvPr>
          <p:cNvSpPr>
            <a:spLocks xmlns:a="http://schemas.openxmlformats.org/drawingml/2006/main" noGrp="1"/>
          </p:cNvSpPr>
          <p:nvPr/>
        </p:nvSpPr>
        <p:spPr>
          <a:xfrm xmlns:a="http://schemas.openxmlformats.org/drawingml/2006/main">
            <a:off x="685800" y="2162175"/>
            <a:ext cx="5095875"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9" name="">
            <a:extLst xmlns:a="http://schemas.openxmlformats.org/drawingml/2006/main">
              <a:ext uri="{FF2B5EF4-FFF2-40B4-BE49-F238E27FC236}">
                <a16:creationId xmlns:a16="http://schemas.microsoft.com/office/drawing/2014/main" id="{33F9FF9E-9C6D-4008-9C73-D3867ADEE7D1}"/>
              </a:ext>
            </a:extLst>
          </p:cNvPr>
          <p:cNvSpPr>
            <a:spLocks xmlns:a="http://schemas.openxmlformats.org/drawingml/2006/main" noGrp="1"/>
          </p:cNvSpPr>
          <p:nvPr/>
        </p:nvSpPr>
        <p:spPr>
          <a:xfrm xmlns:a="http://schemas.openxmlformats.org/drawingml/2006/main">
            <a:off x="685800" y="2305050"/>
            <a:ext cx="5095875"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333333"/>
                </a:solidFill>
                <a:latin typeface="Arial"/>
                <a:ea typeface="Arial"/>
                <a:cs typeface="Arial"/>
              </a:defRPr>
            </a:pPr>
            <a:r>
              <a:rPr sz="1425" b="0" i="0">
                <a:solidFill>
                  <a:srgbClr val="333333"/>
                </a:solidFill>
                <a:latin typeface="Arial"/>
                <a:ea typeface="Arial"/>
                <a:cs typeface="Arial"/>
              </a:rPr>
              <a:t>Multiplies the final update. A high value moves quickly but can destabilize training; a cosine schedule gradually reduces the reachable distance late in training.</a:t>
            </a:r>
          </a:p>
        </p:txBody>
      </p:sp>
      <p:sp>
        <p:nvSpPr>
          <p:cNvPr id="10" name="">
            <a:extLst xmlns:a="http://schemas.openxmlformats.org/drawingml/2006/main">
              <a:ext uri="{FF2B5EF4-FFF2-40B4-BE49-F238E27FC236}">
                <a16:creationId xmlns:a16="http://schemas.microsoft.com/office/drawing/2014/main" id="{ECD63874-00C2-4238-8BF2-2A698C0DBD4F}"/>
              </a:ext>
            </a:extLst>
          </p:cNvPr>
          <p:cNvSpPr>
            <a:spLocks xmlns:a="http://schemas.openxmlformats.org/drawingml/2006/main" noGrp="1"/>
          </p:cNvSpPr>
          <p:nvPr/>
        </p:nvSpPr>
        <p:spPr>
          <a:xfrm xmlns:a="http://schemas.openxmlformats.org/drawingml/2006/main">
            <a:off x="1104900" y="3905250"/>
            <a:ext cx="4095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555555"/>
                </a:solidFill>
                <a:latin typeface="Arial"/>
                <a:ea typeface="Arial"/>
                <a:cs typeface="Arial"/>
              </a:defRPr>
            </a:pPr>
            <a:r>
              <a:rPr sz="1725" b="1" i="0">
                <a:solidFill>
                  <a:srgbClr val="555555"/>
                </a:solidFill>
                <a:latin typeface="Arial"/>
                <a:ea typeface="Arial"/>
                <a:cs typeface="Arial"/>
              </a:rPr>
              <a:t>η high  →  larger step</a:t>
            </a:r>
          </a:p>
          <a:p xmlns:a="http://schemas.openxmlformats.org/drawingml/2006/main">
            <a:pPr algn="ctr">
              <a:defRPr sz="1725" b="1" i="0">
                <a:solidFill>
                  <a:srgbClr val="555555"/>
                </a:solidFill>
                <a:latin typeface="Arial"/>
                <a:ea typeface="Arial"/>
                <a:cs typeface="Arial"/>
              </a:defRPr>
            </a:pPr>
            <a:r>
              <a:rPr sz="1725" b="1" i="0">
                <a:solidFill>
                  <a:srgbClr val="555555"/>
                </a:solidFill>
                <a:latin typeface="Arial"/>
                <a:ea typeface="Arial"/>
                <a:cs typeface="Arial"/>
              </a:rPr>
              <a:t>η low   →  smaller step</a:t>
            </a:r>
          </a:p>
        </p:txBody>
      </p:sp>
      <p:sp>
        <p:nvSpPr>
          <p:cNvPr id="11" name="">
            <a:extLst xmlns:a="http://schemas.openxmlformats.org/drawingml/2006/main">
              <a:ext uri="{FF2B5EF4-FFF2-40B4-BE49-F238E27FC236}">
                <a16:creationId xmlns:a16="http://schemas.microsoft.com/office/drawing/2014/main" id="{E81504E3-4D86-4777-A2F9-FBC6DAB7747B}"/>
              </a:ext>
            </a:extLst>
          </p:cNvPr>
          <p:cNvSpPr>
            <a:spLocks xmlns:a="http://schemas.openxmlformats.org/drawingml/2006/main" noGrp="1"/>
          </p:cNvSpPr>
          <p:nvPr/>
        </p:nvSpPr>
        <p:spPr>
          <a:xfrm xmlns:a="http://schemas.openxmlformats.org/drawingml/2006/main">
            <a:off x="6410325" y="1447800"/>
            <a:ext cx="5095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MEMORY</a:t>
            </a:r>
          </a:p>
        </p:txBody>
      </p:sp>
      <p:sp>
        <p:nvSpPr>
          <p:cNvPr id="12" name="">
            <a:extLst xmlns:a="http://schemas.openxmlformats.org/drawingml/2006/main">
              <a:ext uri="{FF2B5EF4-FFF2-40B4-BE49-F238E27FC236}">
                <a16:creationId xmlns:a16="http://schemas.microsoft.com/office/drawing/2014/main" id="{C9E59B2E-A6E7-4C9C-BC40-A020BE56E760}"/>
              </a:ext>
            </a:extLst>
          </p:cNvPr>
          <p:cNvSpPr>
            <a:spLocks xmlns:a="http://schemas.openxmlformats.org/drawingml/2006/main" noGrp="1"/>
          </p:cNvSpPr>
          <p:nvPr/>
        </p:nvSpPr>
        <p:spPr>
          <a:xfrm xmlns:a="http://schemas.openxmlformats.org/drawingml/2006/main">
            <a:off x="6410325" y="17145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282828"/>
                </a:solidFill>
                <a:latin typeface="Arial"/>
                <a:ea typeface="Arial"/>
                <a:cs typeface="Arial"/>
              </a:defRPr>
            </a:pPr>
            <a:r>
              <a:rPr sz="2100" b="1" i="0">
                <a:solidFill>
                  <a:srgbClr val="282828"/>
                </a:solidFill>
                <a:latin typeface="Arial"/>
                <a:ea typeface="Arial"/>
                <a:cs typeface="Arial"/>
              </a:rPr>
              <a:t>Momentum βₜ</a:t>
            </a:r>
          </a:p>
        </p:txBody>
      </p:sp>
      <p:sp>
        <p:nvSpPr>
          <p:cNvPr id="13" name="">
            <a:extLst xmlns:a="http://schemas.openxmlformats.org/drawingml/2006/main">
              <a:ext uri="{FF2B5EF4-FFF2-40B4-BE49-F238E27FC236}">
                <a16:creationId xmlns:a16="http://schemas.microsoft.com/office/drawing/2014/main" id="{9CD0D8E4-6A8B-482A-94B5-CCC79575A98D}"/>
              </a:ext>
            </a:extLst>
          </p:cNvPr>
          <p:cNvSpPr>
            <a:spLocks xmlns:a="http://schemas.openxmlformats.org/drawingml/2006/main" noGrp="1"/>
          </p:cNvSpPr>
          <p:nvPr/>
        </p:nvSpPr>
        <p:spPr>
          <a:xfrm xmlns:a="http://schemas.openxmlformats.org/drawingml/2006/main">
            <a:off x="6410325" y="2162175"/>
            <a:ext cx="5095875"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4" name="">
            <a:extLst xmlns:a="http://schemas.openxmlformats.org/drawingml/2006/main">
              <a:ext uri="{FF2B5EF4-FFF2-40B4-BE49-F238E27FC236}">
                <a16:creationId xmlns:a16="http://schemas.microsoft.com/office/drawing/2014/main" id="{B65E99AD-A26E-488E-ADB0-BFF6775D0D33}"/>
              </a:ext>
            </a:extLst>
          </p:cNvPr>
          <p:cNvSpPr>
            <a:spLocks xmlns:a="http://schemas.openxmlformats.org/drawingml/2006/main" noGrp="1"/>
          </p:cNvSpPr>
          <p:nvPr/>
        </p:nvSpPr>
        <p:spPr>
          <a:xfrm xmlns:a="http://schemas.openxmlformats.org/drawingml/2006/main">
            <a:off x="6410325" y="2305050"/>
            <a:ext cx="5095875"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333333"/>
                </a:solidFill>
                <a:latin typeface="Arial"/>
                <a:ea typeface="Arial"/>
                <a:cs typeface="Arial"/>
              </a:defRPr>
            </a:pPr>
            <a:r>
              <a:rPr sz="1425" b="0" i="0">
                <a:solidFill>
                  <a:srgbClr val="333333"/>
                </a:solidFill>
                <a:latin typeface="Arial"/>
                <a:ea typeface="Arial"/>
                <a:cs typeface="Arial"/>
              </a:rPr>
              <a:t>Averages recent directions. High β retains a long memory; lowering β makes the estimate respond more quickly to the latest gradients.</a:t>
            </a:r>
          </a:p>
        </p:txBody>
      </p:sp>
      <p:sp>
        <p:nvSpPr>
          <p:cNvPr id="15" name="">
            <a:extLst xmlns:a="http://schemas.openxmlformats.org/drawingml/2006/main">
              <a:ext uri="{FF2B5EF4-FFF2-40B4-BE49-F238E27FC236}">
                <a16:creationId xmlns:a16="http://schemas.microsoft.com/office/drawing/2014/main" id="{79488E85-22C6-45BD-A721-4699284790F9}"/>
              </a:ext>
            </a:extLst>
          </p:cNvPr>
          <p:cNvSpPr>
            <a:spLocks xmlns:a="http://schemas.openxmlformats.org/drawingml/2006/main" noGrp="1"/>
          </p:cNvSpPr>
          <p:nvPr/>
        </p:nvSpPr>
        <p:spPr>
          <a:xfrm xmlns:a="http://schemas.openxmlformats.org/drawingml/2006/main">
            <a:off x="6829425" y="3905250"/>
            <a:ext cx="4095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444444"/>
                </a:solidFill>
                <a:latin typeface="Arial"/>
                <a:ea typeface="Arial"/>
                <a:cs typeface="Arial"/>
              </a:defRPr>
            </a:pPr>
            <a:r>
              <a:rPr sz="1725" b="1" i="0">
                <a:solidFill>
                  <a:srgbClr val="444444"/>
                </a:solidFill>
                <a:latin typeface="Arial"/>
                <a:ea typeface="Arial"/>
                <a:cs typeface="Arial"/>
              </a:rPr>
              <a:t>β high  →  longer memory</a:t>
            </a:r>
          </a:p>
          <a:p xmlns:a="http://schemas.openxmlformats.org/drawingml/2006/main">
            <a:pPr algn="ctr">
              <a:defRPr sz="1725" b="1" i="0">
                <a:solidFill>
                  <a:srgbClr val="444444"/>
                </a:solidFill>
                <a:latin typeface="Arial"/>
                <a:ea typeface="Arial"/>
                <a:cs typeface="Arial"/>
              </a:defRPr>
            </a:pPr>
            <a:r>
              <a:rPr sz="1725" b="1" i="0">
                <a:solidFill>
                  <a:srgbClr val="444444"/>
                </a:solidFill>
                <a:latin typeface="Arial"/>
                <a:ea typeface="Arial"/>
                <a:cs typeface="Arial"/>
              </a:rPr>
              <a:t>β low   →  shorter memory</a:t>
            </a:r>
          </a:p>
        </p:txBody>
      </p:sp>
    </p:spTree>
    <p:extLst>
      <p:ext uri="{BB962C8B-B14F-4D97-AF65-F5344CB8AC3E}">
        <p14:creationId xmlns:p14="http://schemas.microsoft.com/office/powerpoint/2010/main" val="35158101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lide-title">
            <a:extLst xmlns:a="http://schemas.openxmlformats.org/drawingml/2006/main">
              <a:ext uri="{FF2B5EF4-FFF2-40B4-BE49-F238E27FC236}">
                <a16:creationId xmlns:a16="http://schemas.microsoft.com/office/drawing/2014/main" id="{46681856-666C-4FEE-9AC8-4ECB5324CCFF}"/>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Muon</a:t>
            </a:r>
          </a:p>
        </p:txBody>
      </p:sp>
      <p:sp>
        <p:nvSpPr>
          <p:cNvPr id="2" name="">
            <a:extLst xmlns:a="http://schemas.openxmlformats.org/drawingml/2006/main">
              <a:ext uri="{FF2B5EF4-FFF2-40B4-BE49-F238E27FC236}">
                <a16:creationId xmlns:a16="http://schemas.microsoft.com/office/drawing/2014/main" id="{CE0813C3-C3F5-4C49-ABB1-4933553EDF09}"/>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slide-subtitle">
            <a:extLst xmlns:a="http://schemas.openxmlformats.org/drawingml/2006/main">
              <a:ext uri="{FF2B5EF4-FFF2-40B4-BE49-F238E27FC236}">
                <a16:creationId xmlns:a16="http://schemas.microsoft.com/office/drawing/2014/main" id="{19062906-FD63-468A-BE8E-8B5259A2282A}"/>
              </a:ext>
            </a:extLst>
          </p:cNvPr>
          <p:cNvSpPr>
            <a:spLocks xmlns:a="http://schemas.openxmlformats.org/drawingml/2006/main" noGrp="1"/>
          </p:cNvSpPr>
          <p:nvPr/>
        </p:nvSpPr>
        <p:spPr>
          <a:xfrm xmlns:a="http://schemas.openxmlformats.org/drawingml/2006/main">
            <a:off x="685800" y="10668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666666"/>
                </a:solidFill>
                <a:latin typeface="Arial"/>
                <a:ea typeface="Arial"/>
                <a:cs typeface="Arial"/>
              </a:defRPr>
            </a:pPr>
            <a:r>
              <a:rPr sz="1125" b="0" i="0">
                <a:solidFill>
                  <a:srgbClr val="666666"/>
                </a:solidFill>
                <a:latin typeface="Arial"/>
                <a:ea typeface="Arial"/>
                <a:cs typeface="Arial"/>
              </a:rPr>
              <a:t>It replaces the raw matrix direction by an approximate polar factor before applying the learning rate.</a:t>
            </a:r>
          </a:p>
        </p:txBody>
      </p:sp>
      <p:sp>
        <p:nvSpPr>
          <p:cNvPr id="4" name="">
            <a:extLst xmlns:a="http://schemas.openxmlformats.org/drawingml/2006/main">
              <a:ext uri="{FF2B5EF4-FFF2-40B4-BE49-F238E27FC236}">
                <a16:creationId xmlns:a16="http://schemas.microsoft.com/office/drawing/2014/main" id="{27A12D28-46E7-4E4B-A096-9996C1F23A18}"/>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F0F3254-7BBE-4230-95B0-BAA5F2B2AD02}"/>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6" name="">
            <a:extLst xmlns:a="http://schemas.openxmlformats.org/drawingml/2006/main">
              <a:ext uri="{FF2B5EF4-FFF2-40B4-BE49-F238E27FC236}">
                <a16:creationId xmlns:a16="http://schemas.microsoft.com/office/drawing/2014/main" id="{DB4629FB-9CBE-4D19-8A27-DFC572E56C33}"/>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6</a:t>
            </a:r>
          </a:p>
        </p:txBody>
      </p:sp>
      <p:sp>
        <p:nvSpPr>
          <p:cNvPr id="7" name="">
            <a:extLst xmlns:a="http://schemas.openxmlformats.org/drawingml/2006/main">
              <a:ext uri="{FF2B5EF4-FFF2-40B4-BE49-F238E27FC236}">
                <a16:creationId xmlns:a16="http://schemas.microsoft.com/office/drawing/2014/main" id="{DD3E10FC-8E94-42C6-BCB4-2E8A1B53E6BD}"/>
              </a:ext>
            </a:extLst>
          </p:cNvPr>
          <p:cNvSpPr>
            <a:spLocks xmlns:a="http://schemas.openxmlformats.org/drawingml/2006/main" noGrp="1"/>
          </p:cNvSpPr>
          <p:nvPr/>
        </p:nvSpPr>
        <p:spPr>
          <a:xfrm xmlns:a="http://schemas.openxmlformats.org/drawingml/2006/main">
            <a:off x="685800" y="1619250"/>
            <a:ext cx="3714750" cy="3714750"/>
          </a:xfrm>
          <a:prstGeom xmlns:a="http://schemas.openxmlformats.org/drawingml/2006/main" prst="roundRect">
            <a:avLst>
              <a:gd name="adj" fmla="val 4103"/>
            </a:avLst>
          </a:prstGeom>
          <a:solidFill xmlns:a="http://schemas.openxmlformats.org/drawingml/2006/main">
            <a:srgbClr val="FFFFFF"/>
          </a:solidFill>
          <a:ln xmlns:a="http://schemas.openxmlformats.org/drawingml/2006/main" w="9525">
            <a:solidFill>
              <a:srgbClr val="A6A6A6"/>
            </a:solidFill>
            <a:prstDash val="solid"/>
          </a:ln>
        </p:spPr>
      </p:sp>
      <p:sp>
        <p:nvSpPr>
          <p:cNvPr id="8" name="">
            <a:extLst xmlns:a="http://schemas.openxmlformats.org/drawingml/2006/main">
              <a:ext uri="{FF2B5EF4-FFF2-40B4-BE49-F238E27FC236}">
                <a16:creationId xmlns:a16="http://schemas.microsoft.com/office/drawing/2014/main" id="{E16E6EFD-4B71-4399-90B5-E795722C4DAF}"/>
              </a:ext>
            </a:extLst>
          </p:cNvPr>
          <p:cNvSpPr>
            <a:spLocks xmlns:a="http://schemas.openxmlformats.org/drawingml/2006/main" noGrp="1"/>
          </p:cNvSpPr>
          <p:nvPr/>
        </p:nvSpPr>
        <p:spPr>
          <a:xfrm xmlns:a="http://schemas.openxmlformats.org/drawingml/2006/main">
            <a:off x="1066800" y="1981200"/>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i="0">
                <a:solidFill>
                  <a:srgbClr val="282828"/>
                </a:solidFill>
                <a:latin typeface="Arial"/>
                <a:ea typeface="Arial"/>
                <a:cs typeface="Arial"/>
              </a:defRPr>
            </a:pPr>
            <a:r>
              <a:rPr sz="1800" b="1" i="0">
                <a:solidFill>
                  <a:srgbClr val="282828"/>
                </a:solidFill>
                <a:latin typeface="Arial"/>
                <a:ea typeface="Arial"/>
                <a:cs typeface="Arial"/>
              </a:rPr>
              <a:t>Matrix gradient</a:t>
            </a:r>
          </a:p>
        </p:txBody>
      </p:sp>
      <p:sp>
        <p:nvSpPr>
          <p:cNvPr id="9" name="">
            <a:extLst xmlns:a="http://schemas.openxmlformats.org/drawingml/2006/main">
              <a:ext uri="{FF2B5EF4-FFF2-40B4-BE49-F238E27FC236}">
                <a16:creationId xmlns:a16="http://schemas.microsoft.com/office/drawing/2014/main" id="{902A1F3A-2CC9-41C8-9802-C72864F1CD13}"/>
              </a:ext>
            </a:extLst>
          </p:cNvPr>
          <p:cNvSpPr>
            <a:spLocks xmlns:a="http://schemas.openxmlformats.org/drawingml/2006/main" noGrp="1"/>
          </p:cNvSpPr>
          <p:nvPr/>
        </p:nvSpPr>
        <p:spPr>
          <a:xfrm xmlns:a="http://schemas.openxmlformats.org/drawingml/2006/main">
            <a:off x="1066800" y="2524125"/>
            <a:ext cx="295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450" b="1" i="0">
                <a:solidFill>
                  <a:srgbClr val="555555"/>
                </a:solidFill>
                <a:latin typeface="Arial"/>
                <a:ea typeface="Arial"/>
                <a:cs typeface="Arial"/>
              </a:defRPr>
            </a:pPr>
            <a:r>
              <a:rPr sz="3450" b="1" i="0">
                <a:solidFill>
                  <a:srgbClr val="555555"/>
                </a:solidFill>
                <a:latin typeface="Arial"/>
                <a:ea typeface="Arial"/>
                <a:cs typeface="Arial"/>
              </a:rPr>
              <a:t>Gₜ</a:t>
            </a:r>
          </a:p>
        </p:txBody>
      </p:sp>
      <p:sp>
        <p:nvSpPr>
          <p:cNvPr id="10" name="">
            <a:extLst xmlns:a="http://schemas.openxmlformats.org/drawingml/2006/main">
              <a:ext uri="{FF2B5EF4-FFF2-40B4-BE49-F238E27FC236}">
                <a16:creationId xmlns:a16="http://schemas.microsoft.com/office/drawing/2014/main" id="{DBC87473-DBD9-4EFC-805A-CFEBD107D5C9}"/>
              </a:ext>
            </a:extLst>
          </p:cNvPr>
          <p:cNvSpPr>
            <a:spLocks xmlns:a="http://schemas.openxmlformats.org/drawingml/2006/main" noGrp="1"/>
          </p:cNvSpPr>
          <p:nvPr/>
        </p:nvSpPr>
        <p:spPr>
          <a:xfrm xmlns:a="http://schemas.openxmlformats.org/drawingml/2006/main">
            <a:off x="1066800" y="352425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333333"/>
                </a:solidFill>
                <a:latin typeface="Arial"/>
                <a:ea typeface="Arial"/>
                <a:cs typeface="Arial"/>
              </a:defRPr>
            </a:pPr>
            <a:r>
              <a:rPr sz="1350" b="0" i="0">
                <a:solidFill>
                  <a:srgbClr val="333333"/>
                </a:solidFill>
                <a:latin typeface="Arial"/>
                <a:ea typeface="Arial"/>
                <a:cs typeface="Arial"/>
              </a:rPr>
              <a:t>momentum + Nesterov</a:t>
            </a:r>
          </a:p>
        </p:txBody>
      </p:sp>
      <p:sp>
        <p:nvSpPr>
          <p:cNvPr id="11" name="">
            <a:extLst xmlns:a="http://schemas.openxmlformats.org/drawingml/2006/main">
              <a:ext uri="{FF2B5EF4-FFF2-40B4-BE49-F238E27FC236}">
                <a16:creationId xmlns:a16="http://schemas.microsoft.com/office/drawing/2014/main" id="{92BFE851-E2D7-4169-8FB0-3D6BF4EF61A7}"/>
              </a:ext>
            </a:extLst>
          </p:cNvPr>
          <p:cNvSpPr>
            <a:spLocks xmlns:a="http://schemas.openxmlformats.org/drawingml/2006/main" noGrp="1"/>
          </p:cNvSpPr>
          <p:nvPr/>
        </p:nvSpPr>
        <p:spPr>
          <a:xfrm xmlns:a="http://schemas.openxmlformats.org/drawingml/2006/main">
            <a:off x="2000250" y="3981450"/>
            <a:ext cx="104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0" i="0">
                <a:solidFill>
                  <a:srgbClr val="666666"/>
                </a:solidFill>
                <a:latin typeface="Arial"/>
                <a:ea typeface="Arial"/>
                <a:cs typeface="Arial"/>
              </a:defRPr>
            </a:pPr>
            <a:r>
              <a:rPr sz="2400" b="0" i="0">
                <a:solidFill>
                  <a:srgbClr val="666666"/>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368A02F7-30C9-436C-9547-9A71C667BAA6}"/>
              </a:ext>
            </a:extLst>
          </p:cNvPr>
          <p:cNvSpPr>
            <a:spLocks xmlns:a="http://schemas.openxmlformats.org/drawingml/2006/main" noGrp="1"/>
          </p:cNvSpPr>
          <p:nvPr/>
        </p:nvSpPr>
        <p:spPr>
          <a:xfrm xmlns:a="http://schemas.openxmlformats.org/drawingml/2006/main">
            <a:off x="1066800" y="451485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444444"/>
                </a:solidFill>
                <a:latin typeface="Arial"/>
                <a:ea typeface="Arial"/>
                <a:cs typeface="Arial"/>
              </a:defRPr>
            </a:pPr>
            <a:r>
              <a:rPr sz="1350" b="1" i="0">
                <a:solidFill>
                  <a:srgbClr val="444444"/>
                </a:solidFill>
                <a:latin typeface="Arial"/>
                <a:ea typeface="Arial"/>
                <a:cs typeface="Arial"/>
              </a:rPr>
              <a:t>Newton–Schulz ×5</a:t>
            </a:r>
          </a:p>
        </p:txBody>
      </p:sp>
      <p:sp>
        <p:nvSpPr>
          <p:cNvPr id="13" name="">
            <a:extLst xmlns:a="http://schemas.openxmlformats.org/drawingml/2006/main">
              <a:ext uri="{FF2B5EF4-FFF2-40B4-BE49-F238E27FC236}">
                <a16:creationId xmlns:a16="http://schemas.microsoft.com/office/drawing/2014/main" id="{5AB953F0-1A8F-4C3E-9530-6468322DE51D}"/>
              </a:ext>
            </a:extLst>
          </p:cNvPr>
          <p:cNvSpPr>
            <a:spLocks xmlns:a="http://schemas.openxmlformats.org/drawingml/2006/main" noGrp="1"/>
          </p:cNvSpPr>
          <p:nvPr/>
        </p:nvSpPr>
        <p:spPr>
          <a:xfrm xmlns:a="http://schemas.openxmlformats.org/drawingml/2006/main">
            <a:off x="4552950" y="3105150"/>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300" b="0" i="0">
                <a:solidFill>
                  <a:srgbClr val="666666"/>
                </a:solidFill>
                <a:latin typeface="Arial"/>
                <a:ea typeface="Arial"/>
                <a:cs typeface="Arial"/>
              </a:defRPr>
            </a:pPr>
            <a:r>
              <a:rPr sz="3300" b="0" i="0">
                <a:solidFill>
                  <a:srgbClr val="666666"/>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3EE0288B-5D1D-4F7D-8285-D1A42764AEAC}"/>
              </a:ext>
            </a:extLst>
          </p:cNvPr>
          <p:cNvSpPr>
            <a:spLocks xmlns:a="http://schemas.openxmlformats.org/drawingml/2006/main" noGrp="1"/>
          </p:cNvSpPr>
          <p:nvPr/>
        </p:nvSpPr>
        <p:spPr>
          <a:xfrm xmlns:a="http://schemas.openxmlformats.org/drawingml/2006/main">
            <a:off x="5429250" y="1619250"/>
            <a:ext cx="6076950" cy="3714750"/>
          </a:xfrm>
          <a:prstGeom xmlns:a="http://schemas.openxmlformats.org/drawingml/2006/main" prst="roundRect">
            <a:avLst>
              <a:gd name="adj" fmla="val 4103"/>
            </a:avLst>
          </a:prstGeom>
          <a:solidFill xmlns:a="http://schemas.openxmlformats.org/drawingml/2006/main">
            <a:srgbClr val="FFFFFF"/>
          </a:solidFill>
          <a:ln xmlns:a="http://schemas.openxmlformats.org/drawingml/2006/main" w="9525">
            <a:solidFill>
              <a:srgbClr val="A8D5D1"/>
            </a:solidFill>
            <a:prstDash val="solid"/>
          </a:ln>
        </p:spPr>
      </p:sp>
      <p:sp>
        <p:nvSpPr>
          <p:cNvPr id="15" name="">
            <a:extLst xmlns:a="http://schemas.openxmlformats.org/drawingml/2006/main">
              <a:ext uri="{FF2B5EF4-FFF2-40B4-BE49-F238E27FC236}">
                <a16:creationId xmlns:a16="http://schemas.microsoft.com/office/drawing/2014/main" id="{86C78098-A4F5-4724-B1AB-02E648C6A056}"/>
              </a:ext>
            </a:extLst>
          </p:cNvPr>
          <p:cNvSpPr>
            <a:spLocks xmlns:a="http://schemas.openxmlformats.org/drawingml/2006/main" noGrp="1"/>
          </p:cNvSpPr>
          <p:nvPr/>
        </p:nvSpPr>
        <p:spPr>
          <a:xfrm xmlns:a="http://schemas.openxmlformats.org/drawingml/2006/main">
            <a:off x="5810250" y="1981200"/>
            <a:ext cx="5314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950" b="1" i="0">
                <a:solidFill>
                  <a:srgbClr val="282828"/>
                </a:solidFill>
                <a:latin typeface="Arial"/>
                <a:ea typeface="Arial"/>
                <a:cs typeface="Arial"/>
              </a:defRPr>
            </a:pPr>
            <a:r>
              <a:rPr sz="1950" b="1" i="0">
                <a:solidFill>
                  <a:srgbClr val="282828"/>
                </a:solidFill>
                <a:latin typeface="Arial"/>
                <a:ea typeface="Arial"/>
                <a:cs typeface="Arial"/>
              </a:rPr>
              <a:t>Approximate polar update</a:t>
            </a:r>
          </a:p>
        </p:txBody>
      </p:sp>
      <p:sp>
        <p:nvSpPr>
          <p:cNvPr id="16" name="">
            <a:extLst xmlns:a="http://schemas.openxmlformats.org/drawingml/2006/main">
              <a:ext uri="{FF2B5EF4-FFF2-40B4-BE49-F238E27FC236}">
                <a16:creationId xmlns:a16="http://schemas.microsoft.com/office/drawing/2014/main" id="{CEDCBBCA-B246-47D3-806A-1746F37F277E}"/>
              </a:ext>
            </a:extLst>
          </p:cNvPr>
          <p:cNvSpPr>
            <a:spLocks xmlns:a="http://schemas.openxmlformats.org/drawingml/2006/main" noGrp="1"/>
          </p:cNvSpPr>
          <p:nvPr/>
        </p:nvSpPr>
        <p:spPr>
          <a:xfrm xmlns:a="http://schemas.openxmlformats.org/drawingml/2006/main">
            <a:off x="5810250" y="2686050"/>
            <a:ext cx="5314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250" b="1" i="0">
                <a:solidFill>
                  <a:srgbClr val="282828"/>
                </a:solidFill>
                <a:latin typeface="Arial"/>
                <a:ea typeface="Arial"/>
                <a:cs typeface="Arial"/>
              </a:defRPr>
            </a:pPr>
            <a:r>
              <a:rPr sz="2250" b="1" i="0">
                <a:solidFill>
                  <a:srgbClr val="282828"/>
                </a:solidFill>
                <a:latin typeface="Arial"/>
                <a:ea typeface="Arial"/>
                <a:cs typeface="Arial"/>
              </a:rPr>
              <a:t>If Z = UΣVᵀ, then  O(Z) ≈ UVᵀ</a:t>
            </a:r>
          </a:p>
        </p:txBody>
      </p:sp>
      <p:sp>
        <p:nvSpPr>
          <p:cNvPr id="17" name="">
            <a:extLst xmlns:a="http://schemas.openxmlformats.org/drawingml/2006/main">
              <a:ext uri="{FF2B5EF4-FFF2-40B4-BE49-F238E27FC236}">
                <a16:creationId xmlns:a16="http://schemas.microsoft.com/office/drawing/2014/main" id="{B37D77CB-D6B8-4AEA-88DD-22742A934118}"/>
              </a:ext>
            </a:extLst>
          </p:cNvPr>
          <p:cNvSpPr>
            <a:spLocks xmlns:a="http://schemas.openxmlformats.org/drawingml/2006/main" noGrp="1"/>
          </p:cNvSpPr>
          <p:nvPr/>
        </p:nvSpPr>
        <p:spPr>
          <a:xfrm xmlns:a="http://schemas.openxmlformats.org/drawingml/2006/main">
            <a:off x="6267450" y="3638550"/>
            <a:ext cx="44005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0" i="0">
                <a:solidFill>
                  <a:srgbClr val="333333"/>
                </a:solidFill>
                <a:latin typeface="Arial"/>
                <a:ea typeface="Arial"/>
                <a:cs typeface="Arial"/>
              </a:defRPr>
            </a:pPr>
            <a:r>
              <a:rPr sz="1575" b="0" i="0">
                <a:solidFill>
                  <a:srgbClr val="333333"/>
                </a:solidFill>
                <a:latin typeface="Arial"/>
                <a:ea typeface="Arial"/>
                <a:cs typeface="Arial"/>
              </a:rPr>
              <a:t>Magnitude information is strongly normalized.</a:t>
            </a:r>
          </a:p>
          <a:p xmlns:a="http://schemas.openxmlformats.org/drawingml/2006/main">
            <a:pPr algn="ctr">
              <a:defRPr sz="1575" b="0" i="0">
                <a:solidFill>
                  <a:srgbClr val="333333"/>
                </a:solidFill>
                <a:latin typeface="Arial"/>
                <a:ea typeface="Arial"/>
                <a:cs typeface="Arial"/>
              </a:defRPr>
            </a:pPr>
            <a:r>
              <a:rPr sz="1575" b="0" i="0">
                <a:solidFill>
                  <a:srgbClr val="333333"/>
                </a:solidFill>
                <a:latin typeface="Arial"/>
                <a:ea typeface="Arial"/>
                <a:cs typeface="Arial"/>
              </a:rPr>
              <a:t>Orientation remains central.</a:t>
            </a:r>
          </a:p>
        </p:txBody>
      </p:sp>
      <p:sp>
        <p:nvSpPr>
          <p:cNvPr id="18" name="">
            <a:extLst xmlns:a="http://schemas.openxmlformats.org/drawingml/2006/main">
              <a:ext uri="{FF2B5EF4-FFF2-40B4-BE49-F238E27FC236}">
                <a16:creationId xmlns:a16="http://schemas.microsoft.com/office/drawing/2014/main" id="{D39FE1EE-F95E-430E-83A3-3B343C76A9CE}"/>
              </a:ext>
            </a:extLst>
          </p:cNvPr>
          <p:cNvSpPr>
            <a:spLocks xmlns:a="http://schemas.openxmlformats.org/drawingml/2006/main" noGrp="1"/>
          </p:cNvSpPr>
          <p:nvPr/>
        </p:nvSpPr>
        <p:spPr>
          <a:xfrm xmlns:a="http://schemas.openxmlformats.org/drawingml/2006/main">
            <a:off x="6267450" y="4591050"/>
            <a:ext cx="440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i="0">
                <a:solidFill>
                  <a:srgbClr val="444444"/>
                </a:solidFill>
                <a:latin typeface="Arial"/>
                <a:ea typeface="Arial"/>
                <a:cs typeface="Arial"/>
              </a:defRPr>
            </a:pPr>
            <a:r>
              <a:rPr sz="1875" b="1" i="0">
                <a:solidFill>
                  <a:srgbClr val="444444"/>
                </a:solidFill>
                <a:latin typeface="Arial"/>
                <a:ea typeface="Arial"/>
                <a:cs typeface="Arial"/>
              </a:rPr>
              <a:t>θₜ₊₁ = θₜ − ηₜ O(Zₜ)</a:t>
            </a:r>
          </a:p>
        </p:txBody>
      </p:sp>
      <p:sp>
        <p:nvSpPr>
          <p:cNvPr id="19" name="">
            <a:extLst xmlns:a="http://schemas.openxmlformats.org/drawingml/2006/main">
              <a:ext uri="{FF2B5EF4-FFF2-40B4-BE49-F238E27FC236}">
                <a16:creationId xmlns:a16="http://schemas.microsoft.com/office/drawing/2014/main" id="{368897E1-2DFF-43BC-A83E-16266F1CA317}"/>
              </a:ext>
            </a:extLst>
          </p:cNvPr>
          <p:cNvSpPr>
            <a:spLocks xmlns:a="http://schemas.openxmlformats.org/drawingml/2006/main" noGrp="1"/>
          </p:cNvSpPr>
          <p:nvPr/>
        </p:nvSpPr>
        <p:spPr>
          <a:xfrm xmlns:a="http://schemas.openxmlformats.org/drawingml/2006/main">
            <a:off x="685800" y="6324600"/>
            <a:ext cx="9525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i="0">
                <a:solidFill>
                  <a:srgbClr val="666666"/>
                </a:solidFill>
                <a:latin typeface="Arial"/>
                <a:ea typeface="Arial"/>
                <a:cs typeface="Arial"/>
              </a:defRPr>
            </a:pPr>
            <a:r>
              <a:rPr sz="750" b="0" i="0">
                <a:solidFill>
                  <a:srgbClr val="666666"/>
                </a:solidFill>
                <a:latin typeface="Arial"/>
                <a:ea typeface="Arial"/>
                <a:cs typeface="Arial"/>
              </a:rPr>
              <a:t>Source: Jordan (2024), Muon: An optimizer for hidden layers in neural networks.</a:t>
            </a:r>
          </a:p>
        </p:txBody>
      </p:sp>
    </p:spTree>
    <p:extLst>
      <p:ext uri="{BB962C8B-B14F-4D97-AF65-F5344CB8AC3E}">
        <p14:creationId xmlns:p14="http://schemas.microsoft.com/office/powerpoint/2010/main" val="90730757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34C91F4A-4C58-4738-A091-36DDF81DFC5C}"/>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Methods tested</a:t>
            </a:r>
          </a:p>
        </p:txBody>
      </p:sp>
      <p:sp>
        <p:nvSpPr>
          <p:cNvPr id="2" name="">
            <a:extLst xmlns:a="http://schemas.openxmlformats.org/drawingml/2006/main">
              <a:ext uri="{FF2B5EF4-FFF2-40B4-BE49-F238E27FC236}">
                <a16:creationId xmlns:a16="http://schemas.microsoft.com/office/drawing/2014/main" id="{FC64481A-FCFE-416B-84B5-40342F3E5001}"/>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2533C804-806A-4707-9B78-936B4F5C357A}"/>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19F1EB4-C890-4849-93FE-1B57449CB004}"/>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AE29DB7B-A6C8-4BBE-8CFF-5CF9E4125C8A}"/>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7</a:t>
            </a:r>
          </a:p>
        </p:txBody>
      </p:sp>
      <p:sp>
        <p:nvSpPr>
          <p:cNvPr id="6" name="">
            <a:extLst xmlns:a="http://schemas.openxmlformats.org/drawingml/2006/main">
              <a:ext uri="{FF2B5EF4-FFF2-40B4-BE49-F238E27FC236}">
                <a16:creationId xmlns:a16="http://schemas.microsoft.com/office/drawing/2014/main" id="{213B5695-E05C-4A23-9183-BB7E448791D8}"/>
              </a:ext>
            </a:extLst>
          </p:cNvPr>
          <p:cNvSpPr>
            <a:spLocks xmlns:a="http://schemas.openxmlformats.org/drawingml/2006/main" noGrp="1"/>
          </p:cNvSpPr>
          <p:nvPr/>
        </p:nvSpPr>
        <p:spPr>
          <a:xfrm xmlns:a="http://schemas.openxmlformats.org/drawingml/2006/main">
            <a:off x="685800" y="146685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DIRECTION CORRECTION</a:t>
            </a:r>
          </a:p>
        </p:txBody>
      </p:sp>
      <p:sp>
        <p:nvSpPr>
          <p:cNvPr id="7" name="">
            <a:extLst xmlns:a="http://schemas.openxmlformats.org/drawingml/2006/main">
              <a:ext uri="{FF2B5EF4-FFF2-40B4-BE49-F238E27FC236}">
                <a16:creationId xmlns:a16="http://schemas.microsoft.com/office/drawing/2014/main" id="{67F19791-8FC9-4866-A006-D79BE0D0317A}"/>
              </a:ext>
            </a:extLst>
          </p:cNvPr>
          <p:cNvSpPr>
            <a:spLocks xmlns:a="http://schemas.openxmlformats.org/drawingml/2006/main" noGrp="1"/>
          </p:cNvSpPr>
          <p:nvPr/>
        </p:nvSpPr>
        <p:spPr>
          <a:xfrm xmlns:a="http://schemas.openxmlformats.org/drawingml/2006/main">
            <a:off x="685800" y="173355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MARS-inspired</a:t>
            </a:r>
          </a:p>
        </p:txBody>
      </p:sp>
      <p:sp>
        <p:nvSpPr>
          <p:cNvPr id="8" name="">
            <a:extLst xmlns:a="http://schemas.openxmlformats.org/drawingml/2006/main">
              <a:ext uri="{FF2B5EF4-FFF2-40B4-BE49-F238E27FC236}">
                <a16:creationId xmlns:a16="http://schemas.microsoft.com/office/drawing/2014/main" id="{7DDA0285-E044-4F03-9B4E-B8D3EA04E3C4}"/>
              </a:ext>
            </a:extLst>
          </p:cNvPr>
          <p:cNvSpPr>
            <a:spLocks xmlns:a="http://schemas.openxmlformats.org/drawingml/2006/main" noGrp="1"/>
          </p:cNvSpPr>
          <p:nvPr/>
        </p:nvSpPr>
        <p:spPr>
          <a:xfrm xmlns:a="http://schemas.openxmlformats.org/drawingml/2006/main">
            <a:off x="685800" y="218122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9" name="">
            <a:extLst xmlns:a="http://schemas.openxmlformats.org/drawingml/2006/main">
              <a:ext uri="{FF2B5EF4-FFF2-40B4-BE49-F238E27FC236}">
                <a16:creationId xmlns:a16="http://schemas.microsoft.com/office/drawing/2014/main" id="{A34B19AF-B7BA-4743-912F-69381B1CEE2A}"/>
              </a:ext>
            </a:extLst>
          </p:cNvPr>
          <p:cNvSpPr>
            <a:spLocks xmlns:a="http://schemas.openxmlformats.org/drawingml/2006/main" noGrp="1"/>
          </p:cNvSpPr>
          <p:nvPr/>
        </p:nvSpPr>
        <p:spPr>
          <a:xfrm xmlns:a="http://schemas.openxmlformats.org/drawingml/2006/main">
            <a:off x="685800" y="2324100"/>
            <a:ext cx="3352800" cy="2628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333333"/>
                </a:solidFill>
                <a:latin typeface="Arial"/>
                <a:ea typeface="Arial"/>
                <a:cs typeface="Arial"/>
              </a:defRPr>
            </a:pPr>
            <a:r>
              <a:rPr sz="1350" b="0" i="0">
                <a:solidFill>
                  <a:srgbClr val="333333"/>
                </a:solidFill>
                <a:latin typeface="Arial"/>
                <a:ea typeface="Arial"/>
                <a:cs typeface="Arial"/>
              </a:rPr>
              <a:t>mₜ = gₜ + γₜ(gₜ − gₜ₋₁)</a:t>
            </a:r>
          </a:p>
          <a:p xmlns:a="http://schemas.openxmlformats.org/drawingml/2006/main">
            <a:r>
              <a:t/>
            </a:r>
          </a:p>
          <a:p xmlns:a="http://schemas.openxmlformats.org/drawingml/2006/main">
            <a:pPr algn="l">
              <a:lnSpc>
                <a:spcPct val="108000"/>
              </a:lnSpc>
              <a:buNone/>
              <a:defRPr sz="1350" b="0" i="0">
                <a:solidFill>
                  <a:srgbClr val="333333"/>
                </a:solidFill>
                <a:latin typeface="Arial"/>
                <a:ea typeface="Arial"/>
                <a:cs typeface="Arial"/>
              </a:defRPr>
            </a:pPr>
            <a:r>
              <a:rPr sz="1350" b="0" i="0">
                <a:solidFill>
                  <a:srgbClr val="333333"/>
                </a:solidFill>
                <a:latin typeface="Arial"/>
                <a:ea typeface="Arial"/>
                <a:cs typeface="Arial"/>
              </a:rPr>
              <a:t>Does a local gradient-difference correction improve robustness at stressed learning rates?</a:t>
            </a:r>
          </a:p>
        </p:txBody>
      </p:sp>
      <p:sp>
        <p:nvSpPr>
          <p:cNvPr id="10" name="">
            <a:extLst xmlns:a="http://schemas.openxmlformats.org/drawingml/2006/main">
              <a:ext uri="{FF2B5EF4-FFF2-40B4-BE49-F238E27FC236}">
                <a16:creationId xmlns:a16="http://schemas.microsoft.com/office/drawing/2014/main" id="{50383359-7CB3-45B3-B1FD-42445D92C5C3}"/>
              </a:ext>
            </a:extLst>
          </p:cNvPr>
          <p:cNvSpPr>
            <a:spLocks xmlns:a="http://schemas.openxmlformats.org/drawingml/2006/main" noGrp="1"/>
          </p:cNvSpPr>
          <p:nvPr/>
        </p:nvSpPr>
        <p:spPr>
          <a:xfrm xmlns:a="http://schemas.openxmlformats.org/drawingml/2006/main">
            <a:off x="4419600" y="146685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MEMORY CONTROL</a:t>
            </a:r>
          </a:p>
        </p:txBody>
      </p:sp>
      <p:sp>
        <p:nvSpPr>
          <p:cNvPr id="11" name="">
            <a:extLst xmlns:a="http://schemas.openxmlformats.org/drawingml/2006/main">
              <a:ext uri="{FF2B5EF4-FFF2-40B4-BE49-F238E27FC236}">
                <a16:creationId xmlns:a16="http://schemas.microsoft.com/office/drawing/2014/main" id="{7915FC86-A06A-4968-81AD-A0A001164642}"/>
              </a:ext>
            </a:extLst>
          </p:cNvPr>
          <p:cNvSpPr>
            <a:spLocks xmlns:a="http://schemas.openxmlformats.org/drawingml/2006/main" noGrp="1"/>
          </p:cNvSpPr>
          <p:nvPr/>
        </p:nvSpPr>
        <p:spPr>
          <a:xfrm xmlns:a="http://schemas.openxmlformats.org/drawingml/2006/main">
            <a:off x="4419600" y="173355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Momentum decay</a:t>
            </a:r>
          </a:p>
        </p:txBody>
      </p:sp>
      <p:sp>
        <p:nvSpPr>
          <p:cNvPr id="12" name="">
            <a:extLst xmlns:a="http://schemas.openxmlformats.org/drawingml/2006/main">
              <a:ext uri="{FF2B5EF4-FFF2-40B4-BE49-F238E27FC236}">
                <a16:creationId xmlns:a16="http://schemas.microsoft.com/office/drawing/2014/main" id="{3978EF12-50E9-4F81-85B2-1B4208ED057F}"/>
              </a:ext>
            </a:extLst>
          </p:cNvPr>
          <p:cNvSpPr>
            <a:spLocks xmlns:a="http://schemas.openxmlformats.org/drawingml/2006/main" noGrp="1"/>
          </p:cNvSpPr>
          <p:nvPr/>
        </p:nvSpPr>
        <p:spPr>
          <a:xfrm xmlns:a="http://schemas.openxmlformats.org/drawingml/2006/main">
            <a:off x="4419600" y="218122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3" name="">
            <a:extLst xmlns:a="http://schemas.openxmlformats.org/drawingml/2006/main">
              <a:ext uri="{FF2B5EF4-FFF2-40B4-BE49-F238E27FC236}">
                <a16:creationId xmlns:a16="http://schemas.microsoft.com/office/drawing/2014/main" id="{E212149B-89B3-4AED-9EA4-2B7A5CF5A10A}"/>
              </a:ext>
            </a:extLst>
          </p:cNvPr>
          <p:cNvSpPr>
            <a:spLocks xmlns:a="http://schemas.openxmlformats.org/drawingml/2006/main" noGrp="1"/>
          </p:cNvSpPr>
          <p:nvPr/>
        </p:nvSpPr>
        <p:spPr>
          <a:xfrm xmlns:a="http://schemas.openxmlformats.org/drawingml/2006/main">
            <a:off x="4419600" y="2324100"/>
            <a:ext cx="3352800" cy="2628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333333"/>
                </a:solidFill>
                <a:latin typeface="Arial"/>
                <a:ea typeface="Arial"/>
                <a:cs typeface="Arial"/>
              </a:defRPr>
            </a:pPr>
            <a:r>
              <a:rPr sz="1350" b="0" i="0">
                <a:solidFill>
                  <a:srgbClr val="333333"/>
                </a:solidFill>
                <a:latin typeface="Arial"/>
                <a:ea typeface="Arial"/>
                <a:cs typeface="Arial"/>
              </a:rPr>
              <a:t>βₜ decreases during a chosen window.</a:t>
            </a:r>
          </a:p>
          <a:p xmlns:a="http://schemas.openxmlformats.org/drawingml/2006/main">
            <a:r>
              <a:t/>
            </a:r>
          </a:p>
          <a:p xmlns:a="http://schemas.openxmlformats.org/drawingml/2006/main">
            <a:pPr algn="l">
              <a:lnSpc>
                <a:spcPct val="108000"/>
              </a:lnSpc>
              <a:buNone/>
              <a:defRPr sz="1350" b="0" i="0">
                <a:solidFill>
                  <a:srgbClr val="333333"/>
                </a:solidFill>
                <a:latin typeface="Arial"/>
                <a:ea typeface="Arial"/>
                <a:cs typeface="Arial"/>
              </a:defRPr>
            </a:pPr>
            <a:r>
              <a:rPr sz="1350" b="0" i="0">
                <a:solidFill>
                  <a:srgbClr val="333333"/>
                </a:solidFill>
                <a:latin typeface="Arial"/>
                <a:ea typeface="Arial"/>
                <a:cs typeface="Arial"/>
              </a:rPr>
              <a:t>Does shortening memory accelerate or improve late training, and how does the LR schedule change that effect?</a:t>
            </a:r>
          </a:p>
        </p:txBody>
      </p:sp>
      <p:sp>
        <p:nvSpPr>
          <p:cNvPr id="14" name="">
            <a:extLst xmlns:a="http://schemas.openxmlformats.org/drawingml/2006/main">
              <a:ext uri="{FF2B5EF4-FFF2-40B4-BE49-F238E27FC236}">
                <a16:creationId xmlns:a16="http://schemas.microsoft.com/office/drawing/2014/main" id="{587DEF29-6F92-4CF1-9315-B296D62E6E43}"/>
              </a:ext>
            </a:extLst>
          </p:cNvPr>
          <p:cNvSpPr>
            <a:spLocks xmlns:a="http://schemas.openxmlformats.org/drawingml/2006/main" noGrp="1"/>
          </p:cNvSpPr>
          <p:nvPr/>
        </p:nvSpPr>
        <p:spPr>
          <a:xfrm xmlns:a="http://schemas.openxmlformats.org/drawingml/2006/main">
            <a:off x="8153400" y="146685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RECURSIVE HISTORY</a:t>
            </a:r>
          </a:p>
        </p:txBody>
      </p:sp>
      <p:sp>
        <p:nvSpPr>
          <p:cNvPr id="15" name="">
            <a:extLst xmlns:a="http://schemas.openxmlformats.org/drawingml/2006/main">
              <a:ext uri="{FF2B5EF4-FFF2-40B4-BE49-F238E27FC236}">
                <a16:creationId xmlns:a16="http://schemas.microsoft.com/office/drawing/2014/main" id="{331801D7-10ED-44DF-B20B-99042F0AF0A7}"/>
              </a:ext>
            </a:extLst>
          </p:cNvPr>
          <p:cNvSpPr>
            <a:spLocks xmlns:a="http://schemas.openxmlformats.org/drawingml/2006/main" noGrp="1"/>
          </p:cNvSpPr>
          <p:nvPr/>
        </p:nvSpPr>
        <p:spPr>
          <a:xfrm xmlns:a="http://schemas.openxmlformats.org/drawingml/2006/main">
            <a:off x="8153400" y="173355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Mu²-inspired</a:t>
            </a:r>
          </a:p>
        </p:txBody>
      </p:sp>
      <p:sp>
        <p:nvSpPr>
          <p:cNvPr id="16" name="">
            <a:extLst xmlns:a="http://schemas.openxmlformats.org/drawingml/2006/main">
              <a:ext uri="{FF2B5EF4-FFF2-40B4-BE49-F238E27FC236}">
                <a16:creationId xmlns:a16="http://schemas.microsoft.com/office/drawing/2014/main" id="{CB5F5A16-7799-4F66-B74A-B79301405DD2}"/>
              </a:ext>
            </a:extLst>
          </p:cNvPr>
          <p:cNvSpPr>
            <a:spLocks xmlns:a="http://schemas.openxmlformats.org/drawingml/2006/main" noGrp="1"/>
          </p:cNvSpPr>
          <p:nvPr/>
        </p:nvSpPr>
        <p:spPr>
          <a:xfrm xmlns:a="http://schemas.openxmlformats.org/drawingml/2006/main">
            <a:off x="8153400" y="218122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7" name="">
            <a:extLst xmlns:a="http://schemas.openxmlformats.org/drawingml/2006/main">
              <a:ext uri="{FF2B5EF4-FFF2-40B4-BE49-F238E27FC236}">
                <a16:creationId xmlns:a16="http://schemas.microsoft.com/office/drawing/2014/main" id="{91BE5509-751E-4921-A171-567601C3BB07}"/>
              </a:ext>
            </a:extLst>
          </p:cNvPr>
          <p:cNvSpPr>
            <a:spLocks xmlns:a="http://schemas.openxmlformats.org/drawingml/2006/main" noGrp="1"/>
          </p:cNvSpPr>
          <p:nvPr/>
        </p:nvSpPr>
        <p:spPr>
          <a:xfrm xmlns:a="http://schemas.openxmlformats.org/drawingml/2006/main">
            <a:off x="8153400" y="2324100"/>
            <a:ext cx="3352800" cy="2628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333333"/>
                </a:solidFill>
                <a:latin typeface="Arial"/>
                <a:ea typeface="Arial"/>
                <a:cs typeface="Arial"/>
              </a:defRPr>
            </a:pPr>
            <a:r>
              <a:rPr sz="1350" b="0" i="0">
                <a:solidFill>
                  <a:srgbClr val="333333"/>
                </a:solidFill>
                <a:latin typeface="Arial"/>
                <a:ea typeface="Arial"/>
                <a:cs typeface="Arial"/>
              </a:rPr>
              <a:t>rₜ = gₜ + αₜ(hₜ₋₁ − gₜ₋₁)</a:t>
            </a:r>
          </a:p>
          <a:p xmlns:a="http://schemas.openxmlformats.org/drawingml/2006/main">
            <a:r>
              <a:t/>
            </a:r>
          </a:p>
          <a:p xmlns:a="http://schemas.openxmlformats.org/drawingml/2006/main">
            <a:pPr algn="l">
              <a:lnSpc>
                <a:spcPct val="108000"/>
              </a:lnSpc>
              <a:buNone/>
              <a:defRPr sz="1350" b="0" i="0">
                <a:solidFill>
                  <a:srgbClr val="333333"/>
                </a:solidFill>
                <a:latin typeface="Arial"/>
                <a:ea typeface="Arial"/>
                <a:cs typeface="Arial"/>
              </a:defRPr>
            </a:pPr>
            <a:r>
              <a:rPr sz="1350" b="0" i="0">
                <a:solidFill>
                  <a:srgbClr val="333333"/>
                </a:solidFill>
                <a:latin typeface="Arial"/>
                <a:ea typeface="Arial"/>
                <a:cs typeface="Arial"/>
              </a:rPr>
              <a:t>hₜ₋₁ is the stored previous Nesterov signal. Does this history correction improve Muon?</a:t>
            </a:r>
          </a:p>
        </p:txBody>
      </p:sp>
    </p:spTree>
    <p:extLst>
      <p:ext uri="{BB962C8B-B14F-4D97-AF65-F5344CB8AC3E}">
        <p14:creationId xmlns:p14="http://schemas.microsoft.com/office/powerpoint/2010/main" val="206890027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slide-title">
            <a:extLst xmlns:a="http://schemas.openxmlformats.org/drawingml/2006/main">
              <a:ext uri="{FF2B5EF4-FFF2-40B4-BE49-F238E27FC236}">
                <a16:creationId xmlns:a16="http://schemas.microsoft.com/office/drawing/2014/main" id="{68BB97AC-D030-4E98-A51B-1B0C4B5606A0}"/>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Prior work and the remaining question</a:t>
            </a:r>
          </a:p>
        </p:txBody>
      </p:sp>
      <p:sp>
        <p:nvSpPr>
          <p:cNvPr id="2" name="">
            <a:extLst xmlns:a="http://schemas.openxmlformats.org/drawingml/2006/main">
              <a:ext uri="{FF2B5EF4-FFF2-40B4-BE49-F238E27FC236}">
                <a16:creationId xmlns:a16="http://schemas.microsoft.com/office/drawing/2014/main" id="{926511DF-6199-4F16-B22F-9392B59267A3}"/>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A36B4732-750A-4C4B-8A03-68B938F7DEFA}"/>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3322F3E-3F77-4391-B092-D3E318E140B2}"/>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F26F14AB-E6C9-4259-880D-D3FAEF37165F}"/>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8</a:t>
            </a:r>
          </a:p>
        </p:txBody>
      </p:sp>
      <p:sp>
        <p:nvSpPr>
          <p:cNvPr id="6" name="">
            <a:extLst xmlns:a="http://schemas.openxmlformats.org/drawingml/2006/main">
              <a:ext uri="{FF2B5EF4-FFF2-40B4-BE49-F238E27FC236}">
                <a16:creationId xmlns:a16="http://schemas.microsoft.com/office/drawing/2014/main" id="{6A84B91A-D18B-4AA2-B383-65F27120584B}"/>
              </a:ext>
            </a:extLst>
          </p:cNvPr>
          <p:cNvSpPr>
            <a:spLocks xmlns:a="http://schemas.openxmlformats.org/drawingml/2006/main" noGrp="1"/>
          </p:cNvSpPr>
          <p:nvPr/>
        </p:nvSpPr>
        <p:spPr>
          <a:xfrm xmlns:a="http://schemas.openxmlformats.org/drawingml/2006/main">
            <a:off x="781050" y="13716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666666"/>
                </a:solidFill>
                <a:latin typeface="Arial"/>
                <a:ea typeface="Arial"/>
                <a:cs typeface="Arial"/>
              </a:defRPr>
            </a:pPr>
            <a:r>
              <a:rPr sz="975" b="1" i="0">
                <a:solidFill>
                  <a:srgbClr val="666666"/>
                </a:solidFill>
                <a:latin typeface="Arial"/>
                <a:ea typeface="Arial"/>
                <a:cs typeface="Arial"/>
              </a:rPr>
              <a:t>Work</a:t>
            </a:r>
          </a:p>
        </p:txBody>
      </p:sp>
      <p:sp>
        <p:nvSpPr>
          <p:cNvPr id="7" name="">
            <a:extLst xmlns:a="http://schemas.openxmlformats.org/drawingml/2006/main">
              <a:ext uri="{FF2B5EF4-FFF2-40B4-BE49-F238E27FC236}">
                <a16:creationId xmlns:a16="http://schemas.microsoft.com/office/drawing/2014/main" id="{1DC1D896-6813-47A6-A177-EF8D4525E292}"/>
              </a:ext>
            </a:extLst>
          </p:cNvPr>
          <p:cNvSpPr>
            <a:spLocks xmlns:a="http://schemas.openxmlformats.org/drawingml/2006/main" noGrp="1"/>
          </p:cNvSpPr>
          <p:nvPr/>
        </p:nvSpPr>
        <p:spPr>
          <a:xfrm xmlns:a="http://schemas.openxmlformats.org/drawingml/2006/main">
            <a:off x="3124200" y="137160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666666"/>
                </a:solidFill>
                <a:latin typeface="Arial"/>
                <a:ea typeface="Arial"/>
                <a:cs typeface="Arial"/>
              </a:defRPr>
            </a:pPr>
            <a:r>
              <a:rPr sz="975" b="1" i="0">
                <a:solidFill>
                  <a:srgbClr val="666666"/>
                </a:solidFill>
                <a:latin typeface="Arial"/>
                <a:ea typeface="Arial"/>
                <a:cs typeface="Arial"/>
              </a:rPr>
              <a:t>Core mechanism</a:t>
            </a:r>
          </a:p>
        </p:txBody>
      </p:sp>
      <p:sp>
        <p:nvSpPr>
          <p:cNvPr id="8" name="">
            <a:extLst xmlns:a="http://schemas.openxmlformats.org/drawingml/2006/main">
              <a:ext uri="{FF2B5EF4-FFF2-40B4-BE49-F238E27FC236}">
                <a16:creationId xmlns:a16="http://schemas.microsoft.com/office/drawing/2014/main" id="{78EB6A37-F994-4D3B-9C65-189EB34CC4B0}"/>
              </a:ext>
            </a:extLst>
          </p:cNvPr>
          <p:cNvSpPr>
            <a:spLocks xmlns:a="http://schemas.openxmlformats.org/drawingml/2006/main" noGrp="1"/>
          </p:cNvSpPr>
          <p:nvPr/>
        </p:nvSpPr>
        <p:spPr>
          <a:xfrm xmlns:a="http://schemas.openxmlformats.org/drawingml/2006/main">
            <a:off x="7219950" y="1371600"/>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666666"/>
                </a:solidFill>
                <a:latin typeface="Arial"/>
                <a:ea typeface="Arial"/>
                <a:cs typeface="Arial"/>
              </a:defRPr>
            </a:pPr>
            <a:r>
              <a:rPr sz="975" b="1" i="0">
                <a:solidFill>
                  <a:srgbClr val="666666"/>
                </a:solidFill>
                <a:latin typeface="Arial"/>
                <a:ea typeface="Arial"/>
                <a:cs typeface="Arial"/>
              </a:rPr>
              <a:t>What was already established</a:t>
            </a:r>
          </a:p>
        </p:txBody>
      </p:sp>
      <p:sp>
        <p:nvSpPr>
          <p:cNvPr id="9" name="">
            <a:extLst xmlns:a="http://schemas.openxmlformats.org/drawingml/2006/main">
              <a:ext uri="{FF2B5EF4-FFF2-40B4-BE49-F238E27FC236}">
                <a16:creationId xmlns:a16="http://schemas.microsoft.com/office/drawing/2014/main" id="{CF94B5C7-1DC9-42D7-8B4B-E4562F51A361}"/>
              </a:ext>
            </a:extLst>
          </p:cNvPr>
          <p:cNvSpPr>
            <a:spLocks xmlns:a="http://schemas.openxmlformats.org/drawingml/2006/main" noGrp="1"/>
          </p:cNvSpPr>
          <p:nvPr/>
        </p:nvSpPr>
        <p:spPr>
          <a:xfrm xmlns:a="http://schemas.openxmlformats.org/drawingml/2006/main">
            <a:off x="685800" y="1638300"/>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0" name="">
            <a:extLst xmlns:a="http://schemas.openxmlformats.org/drawingml/2006/main">
              <a:ext uri="{FF2B5EF4-FFF2-40B4-BE49-F238E27FC236}">
                <a16:creationId xmlns:a16="http://schemas.microsoft.com/office/drawing/2014/main" id="{C2F08074-EDC7-4CF0-B79F-AAADF2D0DA7B}"/>
              </a:ext>
            </a:extLst>
          </p:cNvPr>
          <p:cNvSpPr>
            <a:spLocks xmlns:a="http://schemas.openxmlformats.org/drawingml/2006/main" noGrp="1"/>
          </p:cNvSpPr>
          <p:nvPr/>
        </p:nvSpPr>
        <p:spPr>
          <a:xfrm xmlns:a="http://schemas.openxmlformats.org/drawingml/2006/main">
            <a:off x="781050" y="1752600"/>
            <a:ext cx="209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i="0">
                <a:solidFill>
                  <a:srgbClr val="282828"/>
                </a:solidFill>
                <a:latin typeface="Arial"/>
                <a:ea typeface="Arial"/>
                <a:cs typeface="Arial"/>
              </a:defRPr>
            </a:pPr>
            <a:r>
              <a:rPr sz="1425" b="1" i="0">
                <a:solidFill>
                  <a:srgbClr val="282828"/>
                </a:solidFill>
                <a:latin typeface="Arial"/>
                <a:ea typeface="Arial"/>
                <a:cs typeface="Arial"/>
              </a:rPr>
              <a:t>STORM / μ²-SGD</a:t>
            </a:r>
          </a:p>
        </p:txBody>
      </p:sp>
      <p:sp>
        <p:nvSpPr>
          <p:cNvPr id="11" name="">
            <a:extLst xmlns:a="http://schemas.openxmlformats.org/drawingml/2006/main">
              <a:ext uri="{FF2B5EF4-FFF2-40B4-BE49-F238E27FC236}">
                <a16:creationId xmlns:a16="http://schemas.microsoft.com/office/drawing/2014/main" id="{7601DEFA-E6E8-4718-8660-C324EB6C87FB}"/>
              </a:ext>
            </a:extLst>
          </p:cNvPr>
          <p:cNvSpPr>
            <a:spLocks xmlns:a="http://schemas.openxmlformats.org/drawingml/2006/main" noGrp="1"/>
          </p:cNvSpPr>
          <p:nvPr/>
        </p:nvSpPr>
        <p:spPr>
          <a:xfrm xmlns:a="http://schemas.openxmlformats.org/drawingml/2006/main">
            <a:off x="3124200" y="17526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i="0">
                <a:solidFill>
                  <a:srgbClr val="333333"/>
                </a:solidFill>
                <a:latin typeface="Arial"/>
                <a:ea typeface="Arial"/>
                <a:cs typeface="Arial"/>
              </a:defRPr>
            </a:pPr>
            <a:r>
              <a:rPr sz="1200" b="0" i="0">
                <a:solidFill>
                  <a:srgbClr val="333333"/>
                </a:solidFill>
                <a:latin typeface="Arial"/>
                <a:ea typeface="Arial"/>
                <a:cs typeface="Arial"/>
              </a:rPr>
              <a:t>Same-sample recursive correction; μ² adds Anytime averaging</a:t>
            </a:r>
          </a:p>
        </p:txBody>
      </p:sp>
      <p:sp>
        <p:nvSpPr>
          <p:cNvPr id="12" name="">
            <a:extLst xmlns:a="http://schemas.openxmlformats.org/drawingml/2006/main">
              <a:ext uri="{FF2B5EF4-FFF2-40B4-BE49-F238E27FC236}">
                <a16:creationId xmlns:a16="http://schemas.microsoft.com/office/drawing/2014/main" id="{3A710008-7683-4A92-BEBE-AE766EA26F48}"/>
              </a:ext>
            </a:extLst>
          </p:cNvPr>
          <p:cNvSpPr>
            <a:spLocks xmlns:a="http://schemas.openxmlformats.org/drawingml/2006/main" noGrp="1"/>
          </p:cNvSpPr>
          <p:nvPr/>
        </p:nvSpPr>
        <p:spPr>
          <a:xfrm xmlns:a="http://schemas.openxmlformats.org/drawingml/2006/main">
            <a:off x="7219950" y="1752600"/>
            <a:ext cx="4191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i="0">
                <a:solidFill>
                  <a:srgbClr val="333333"/>
                </a:solidFill>
                <a:latin typeface="Arial"/>
                <a:ea typeface="Arial"/>
                <a:cs typeface="Arial"/>
              </a:defRPr>
            </a:pPr>
            <a:r>
              <a:rPr sz="1200" b="0" i="0">
                <a:solidFill>
                  <a:srgbClr val="333333"/>
                </a:solidFill>
                <a:latin typeface="Arial"/>
                <a:ea typeface="Arial"/>
                <a:cs typeface="Arial"/>
              </a:rPr>
              <a:t>Variance reduction and LR robustness under stated theory assumptions</a:t>
            </a:r>
          </a:p>
        </p:txBody>
      </p:sp>
      <p:sp>
        <p:nvSpPr>
          <p:cNvPr id="13" name="">
            <a:extLst xmlns:a="http://schemas.openxmlformats.org/drawingml/2006/main">
              <a:ext uri="{FF2B5EF4-FFF2-40B4-BE49-F238E27FC236}">
                <a16:creationId xmlns:a16="http://schemas.microsoft.com/office/drawing/2014/main" id="{6DC77461-6C2D-4AF0-84BA-6E01229425CB}"/>
              </a:ext>
            </a:extLst>
          </p:cNvPr>
          <p:cNvSpPr>
            <a:spLocks xmlns:a="http://schemas.openxmlformats.org/drawingml/2006/main" noGrp="1"/>
          </p:cNvSpPr>
          <p:nvPr/>
        </p:nvSpPr>
        <p:spPr>
          <a:xfrm xmlns:a="http://schemas.openxmlformats.org/drawingml/2006/main">
            <a:off x="685800" y="250507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4" name="">
            <a:extLst xmlns:a="http://schemas.openxmlformats.org/drawingml/2006/main">
              <a:ext uri="{FF2B5EF4-FFF2-40B4-BE49-F238E27FC236}">
                <a16:creationId xmlns:a16="http://schemas.microsoft.com/office/drawing/2014/main" id="{9BAC3F53-41D1-4B77-9657-1EB2BBFFDC85}"/>
              </a:ext>
            </a:extLst>
          </p:cNvPr>
          <p:cNvSpPr>
            <a:spLocks xmlns:a="http://schemas.openxmlformats.org/drawingml/2006/main" noGrp="1"/>
          </p:cNvSpPr>
          <p:nvPr/>
        </p:nvSpPr>
        <p:spPr>
          <a:xfrm xmlns:a="http://schemas.openxmlformats.org/drawingml/2006/main">
            <a:off x="781050" y="2619375"/>
            <a:ext cx="209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i="0">
                <a:solidFill>
                  <a:srgbClr val="282828"/>
                </a:solidFill>
                <a:latin typeface="Arial"/>
                <a:ea typeface="Arial"/>
                <a:cs typeface="Arial"/>
              </a:defRPr>
            </a:pPr>
            <a:r>
              <a:rPr sz="1425" b="1" i="0">
                <a:solidFill>
                  <a:srgbClr val="282828"/>
                </a:solidFill>
                <a:latin typeface="Arial"/>
                <a:ea typeface="Arial"/>
                <a:cs typeface="Arial"/>
              </a:rPr>
              <a:t>MARS</a:t>
            </a:r>
          </a:p>
        </p:txBody>
      </p:sp>
      <p:sp>
        <p:nvSpPr>
          <p:cNvPr id="15" name="">
            <a:extLst xmlns:a="http://schemas.openxmlformats.org/drawingml/2006/main">
              <a:ext uri="{FF2B5EF4-FFF2-40B4-BE49-F238E27FC236}">
                <a16:creationId xmlns:a16="http://schemas.microsoft.com/office/drawing/2014/main" id="{7C108F7C-7B98-43E5-A973-EE9B6C4BADBB}"/>
              </a:ext>
            </a:extLst>
          </p:cNvPr>
          <p:cNvSpPr>
            <a:spLocks xmlns:a="http://schemas.openxmlformats.org/drawingml/2006/main" noGrp="1"/>
          </p:cNvSpPr>
          <p:nvPr/>
        </p:nvSpPr>
        <p:spPr>
          <a:xfrm xmlns:a="http://schemas.openxmlformats.org/drawingml/2006/main">
            <a:off x="3124200" y="2619375"/>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i="0">
                <a:solidFill>
                  <a:srgbClr val="333333"/>
                </a:solidFill>
                <a:latin typeface="Arial"/>
                <a:ea typeface="Arial"/>
                <a:cs typeface="Arial"/>
              </a:defRPr>
            </a:pPr>
            <a:r>
              <a:rPr sz="1200" b="0" i="0">
                <a:solidFill>
                  <a:srgbClr val="333333"/>
                </a:solidFill>
                <a:latin typeface="Arial"/>
                <a:ea typeface="Arial"/>
                <a:cs typeface="Arial"/>
              </a:rPr>
              <a:t>Scaled correction for preconditioned optimizers</a:t>
            </a:r>
          </a:p>
        </p:txBody>
      </p:sp>
      <p:sp>
        <p:nvSpPr>
          <p:cNvPr id="16" name="">
            <a:extLst xmlns:a="http://schemas.openxmlformats.org/drawingml/2006/main">
              <a:ext uri="{FF2B5EF4-FFF2-40B4-BE49-F238E27FC236}">
                <a16:creationId xmlns:a16="http://schemas.microsoft.com/office/drawing/2014/main" id="{C1AFBED3-BD67-4DB8-A737-AA6E5E748FEB}"/>
              </a:ext>
            </a:extLst>
          </p:cNvPr>
          <p:cNvSpPr>
            <a:spLocks xmlns:a="http://schemas.openxmlformats.org/drawingml/2006/main" noGrp="1"/>
          </p:cNvSpPr>
          <p:nvPr/>
        </p:nvSpPr>
        <p:spPr>
          <a:xfrm xmlns:a="http://schemas.openxmlformats.org/drawingml/2006/main">
            <a:off x="7219950" y="2619375"/>
            <a:ext cx="4191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i="0">
                <a:solidFill>
                  <a:srgbClr val="333333"/>
                </a:solidFill>
                <a:latin typeface="Arial"/>
                <a:ea typeface="Arial"/>
                <a:cs typeface="Arial"/>
              </a:defRPr>
            </a:pPr>
            <a:r>
              <a:rPr sz="1200" b="0" i="0">
                <a:solidFill>
                  <a:srgbClr val="333333"/>
                </a:solidFill>
                <a:latin typeface="Arial"/>
                <a:ea typeface="Arial"/>
                <a:cs typeface="Arial"/>
              </a:rPr>
              <a:t>AdamW, Lion, and Shampoo variants</a:t>
            </a:r>
          </a:p>
        </p:txBody>
      </p:sp>
      <p:sp>
        <p:nvSpPr>
          <p:cNvPr id="17" name="">
            <a:extLst xmlns:a="http://schemas.openxmlformats.org/drawingml/2006/main">
              <a:ext uri="{FF2B5EF4-FFF2-40B4-BE49-F238E27FC236}">
                <a16:creationId xmlns:a16="http://schemas.microsoft.com/office/drawing/2014/main" id="{245ADBB4-54AD-4677-A504-9831CB817FFF}"/>
              </a:ext>
            </a:extLst>
          </p:cNvPr>
          <p:cNvSpPr>
            <a:spLocks xmlns:a="http://schemas.openxmlformats.org/drawingml/2006/main" noGrp="1"/>
          </p:cNvSpPr>
          <p:nvPr/>
        </p:nvSpPr>
        <p:spPr>
          <a:xfrm xmlns:a="http://schemas.openxmlformats.org/drawingml/2006/main">
            <a:off x="685800" y="3371850"/>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8" name="">
            <a:extLst xmlns:a="http://schemas.openxmlformats.org/drawingml/2006/main">
              <a:ext uri="{FF2B5EF4-FFF2-40B4-BE49-F238E27FC236}">
                <a16:creationId xmlns:a16="http://schemas.microsoft.com/office/drawing/2014/main" id="{4056173B-6245-488C-AEFA-AE97A20C620D}"/>
              </a:ext>
            </a:extLst>
          </p:cNvPr>
          <p:cNvSpPr>
            <a:spLocks xmlns:a="http://schemas.openxmlformats.org/drawingml/2006/main" noGrp="1"/>
          </p:cNvSpPr>
          <p:nvPr/>
        </p:nvSpPr>
        <p:spPr>
          <a:xfrm xmlns:a="http://schemas.openxmlformats.org/drawingml/2006/main">
            <a:off x="781050" y="3486150"/>
            <a:ext cx="209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i="0">
                <a:solidFill>
                  <a:srgbClr val="444444"/>
                </a:solidFill>
                <a:latin typeface="Arial"/>
                <a:ea typeface="Arial"/>
                <a:cs typeface="Arial"/>
              </a:defRPr>
            </a:pPr>
            <a:r>
              <a:rPr sz="1425" b="1" i="0">
                <a:solidFill>
                  <a:srgbClr val="444444"/>
                </a:solidFill>
                <a:latin typeface="Arial"/>
                <a:ea typeface="Arial"/>
                <a:cs typeface="Arial"/>
              </a:rPr>
              <a:t>MARS-M</a:t>
            </a:r>
          </a:p>
        </p:txBody>
      </p:sp>
      <p:sp>
        <p:nvSpPr>
          <p:cNvPr id="19" name="">
            <a:extLst xmlns:a="http://schemas.openxmlformats.org/drawingml/2006/main">
              <a:ext uri="{FF2B5EF4-FFF2-40B4-BE49-F238E27FC236}">
                <a16:creationId xmlns:a16="http://schemas.microsoft.com/office/drawing/2014/main" id="{8B504CEE-94DE-4E03-95BE-6FAAC0ACA65C}"/>
              </a:ext>
            </a:extLst>
          </p:cNvPr>
          <p:cNvSpPr>
            <a:spLocks xmlns:a="http://schemas.openxmlformats.org/drawingml/2006/main" noGrp="1"/>
          </p:cNvSpPr>
          <p:nvPr/>
        </p:nvSpPr>
        <p:spPr>
          <a:xfrm xmlns:a="http://schemas.openxmlformats.org/drawingml/2006/main">
            <a:off x="3124200" y="34861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i="0">
                <a:solidFill>
                  <a:srgbClr val="333333"/>
                </a:solidFill>
                <a:latin typeface="Arial"/>
                <a:ea typeface="Arial"/>
                <a:cs typeface="Arial"/>
              </a:defRPr>
            </a:pPr>
            <a:r>
              <a:rPr sz="1200" b="0" i="0">
                <a:solidFill>
                  <a:srgbClr val="333333"/>
                </a:solidFill>
                <a:latin typeface="Arial"/>
                <a:ea typeface="Arial"/>
                <a:cs typeface="Arial"/>
              </a:rPr>
              <a:t>MARS-style correction inside Moonlight / Muon</a:t>
            </a:r>
          </a:p>
        </p:txBody>
      </p:sp>
      <p:sp>
        <p:nvSpPr>
          <p:cNvPr id="20" name="">
            <a:extLst xmlns:a="http://schemas.openxmlformats.org/drawingml/2006/main">
              <a:ext uri="{FF2B5EF4-FFF2-40B4-BE49-F238E27FC236}">
                <a16:creationId xmlns:a16="http://schemas.microsoft.com/office/drawing/2014/main" id="{68C09F1A-5EF1-494F-A075-3D9FAA420AC3}"/>
              </a:ext>
            </a:extLst>
          </p:cNvPr>
          <p:cNvSpPr>
            <a:spLocks xmlns:a="http://schemas.openxmlformats.org/drawingml/2006/main" noGrp="1"/>
          </p:cNvSpPr>
          <p:nvPr/>
        </p:nvSpPr>
        <p:spPr>
          <a:xfrm xmlns:a="http://schemas.openxmlformats.org/drawingml/2006/main">
            <a:off x="7219950" y="3486150"/>
            <a:ext cx="4191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i="0">
                <a:solidFill>
                  <a:srgbClr val="333333"/>
                </a:solidFill>
                <a:latin typeface="Arial"/>
                <a:ea typeface="Arial"/>
                <a:cs typeface="Arial"/>
              </a:defRPr>
            </a:pPr>
            <a:r>
              <a:rPr sz="1200" b="0" i="0">
                <a:solidFill>
                  <a:srgbClr val="333333"/>
                </a:solidFill>
                <a:latin typeface="Arial"/>
                <a:ea typeface="Arial"/>
                <a:cs typeface="Arial"/>
              </a:rPr>
              <a:t>Matrix scaling, clipping, theory, and language / vision experiments</a:t>
            </a:r>
          </a:p>
        </p:txBody>
      </p:sp>
      <p:sp>
        <p:nvSpPr>
          <p:cNvPr id="21" name="">
            <a:extLst xmlns:a="http://schemas.openxmlformats.org/drawingml/2006/main">
              <a:ext uri="{FF2B5EF4-FFF2-40B4-BE49-F238E27FC236}">
                <a16:creationId xmlns:a16="http://schemas.microsoft.com/office/drawing/2014/main" id="{41282D03-8B18-4D7B-9F39-922734E78AEF}"/>
              </a:ext>
            </a:extLst>
          </p:cNvPr>
          <p:cNvSpPr>
            <a:spLocks xmlns:a="http://schemas.openxmlformats.org/drawingml/2006/main" noGrp="1"/>
          </p:cNvSpPr>
          <p:nvPr/>
        </p:nvSpPr>
        <p:spPr>
          <a:xfrm xmlns:a="http://schemas.openxmlformats.org/drawingml/2006/main">
            <a:off x="685800" y="42386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22" name="">
            <a:extLst xmlns:a="http://schemas.openxmlformats.org/drawingml/2006/main">
              <a:ext uri="{FF2B5EF4-FFF2-40B4-BE49-F238E27FC236}">
                <a16:creationId xmlns:a16="http://schemas.microsoft.com/office/drawing/2014/main" id="{372CFF03-67FF-4D52-8007-5E55C8A9484F}"/>
              </a:ext>
            </a:extLst>
          </p:cNvPr>
          <p:cNvSpPr>
            <a:spLocks xmlns:a="http://schemas.openxmlformats.org/drawingml/2006/main" noGrp="1"/>
          </p:cNvSpPr>
          <p:nvPr/>
        </p:nvSpPr>
        <p:spPr>
          <a:xfrm xmlns:a="http://schemas.openxmlformats.org/drawingml/2006/main">
            <a:off x="781050" y="4352925"/>
            <a:ext cx="209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i="0">
                <a:solidFill>
                  <a:srgbClr val="555555"/>
                </a:solidFill>
                <a:latin typeface="Arial"/>
                <a:ea typeface="Arial"/>
                <a:cs typeface="Arial"/>
              </a:defRPr>
            </a:pPr>
            <a:r>
              <a:rPr sz="1425" b="1" i="0">
                <a:solidFill>
                  <a:srgbClr val="555555"/>
                </a:solidFill>
                <a:latin typeface="Arial"/>
                <a:ea typeface="Arial"/>
                <a:cs typeface="Arial"/>
              </a:rPr>
              <a:t>DEMON</a:t>
            </a:r>
          </a:p>
        </p:txBody>
      </p:sp>
      <p:sp>
        <p:nvSpPr>
          <p:cNvPr id="23" name="">
            <a:extLst xmlns:a="http://schemas.openxmlformats.org/drawingml/2006/main">
              <a:ext uri="{FF2B5EF4-FFF2-40B4-BE49-F238E27FC236}">
                <a16:creationId xmlns:a16="http://schemas.microsoft.com/office/drawing/2014/main" id="{BAAA7326-B071-430E-824D-0CCAB3B5B8F2}"/>
              </a:ext>
            </a:extLst>
          </p:cNvPr>
          <p:cNvSpPr>
            <a:spLocks xmlns:a="http://schemas.openxmlformats.org/drawingml/2006/main" noGrp="1"/>
          </p:cNvSpPr>
          <p:nvPr/>
        </p:nvSpPr>
        <p:spPr>
          <a:xfrm xmlns:a="http://schemas.openxmlformats.org/drawingml/2006/main">
            <a:off x="3124200" y="4352925"/>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i="0">
                <a:solidFill>
                  <a:srgbClr val="333333"/>
                </a:solidFill>
                <a:latin typeface="Arial"/>
                <a:ea typeface="Arial"/>
                <a:cs typeface="Arial"/>
              </a:defRPr>
            </a:pPr>
            <a:r>
              <a:rPr sz="1200" b="0" i="0">
                <a:solidFill>
                  <a:srgbClr val="333333"/>
                </a:solidFill>
                <a:latin typeface="Arial"/>
                <a:ea typeface="Arial"/>
                <a:cs typeface="Arial"/>
              </a:rPr>
              <a:t>Momentum coefficient decays with remaining training horizon</a:t>
            </a:r>
          </a:p>
        </p:txBody>
      </p:sp>
      <p:sp>
        <p:nvSpPr>
          <p:cNvPr id="24" name="">
            <a:extLst xmlns:a="http://schemas.openxmlformats.org/drawingml/2006/main">
              <a:ext uri="{FF2B5EF4-FFF2-40B4-BE49-F238E27FC236}">
                <a16:creationId xmlns:a16="http://schemas.microsoft.com/office/drawing/2014/main" id="{A9E76598-FC4F-4033-8C29-28A5E19179EA}"/>
              </a:ext>
            </a:extLst>
          </p:cNvPr>
          <p:cNvSpPr>
            <a:spLocks xmlns:a="http://schemas.openxmlformats.org/drawingml/2006/main" noGrp="1"/>
          </p:cNvSpPr>
          <p:nvPr/>
        </p:nvSpPr>
        <p:spPr>
          <a:xfrm xmlns:a="http://schemas.openxmlformats.org/drawingml/2006/main">
            <a:off x="7219950" y="4352925"/>
            <a:ext cx="4191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i="0">
                <a:solidFill>
                  <a:srgbClr val="333333"/>
                </a:solidFill>
                <a:latin typeface="Arial"/>
                <a:ea typeface="Arial"/>
                <a:cs typeface="Arial"/>
              </a:defRPr>
            </a:pPr>
            <a:r>
              <a:rPr sz="1200" b="0" i="0">
                <a:solidFill>
                  <a:srgbClr val="333333"/>
                </a:solidFill>
                <a:latin typeface="Arial"/>
                <a:ea typeface="Arial"/>
                <a:cs typeface="Arial"/>
              </a:rPr>
              <a:t>Derived schedule; tested with SGDM and Adam</a:t>
            </a:r>
          </a:p>
        </p:txBody>
      </p:sp>
      <p:sp>
        <p:nvSpPr>
          <p:cNvPr id="25" name="">
            <a:extLst xmlns:a="http://schemas.openxmlformats.org/drawingml/2006/main">
              <a:ext uri="{FF2B5EF4-FFF2-40B4-BE49-F238E27FC236}">
                <a16:creationId xmlns:a16="http://schemas.microsoft.com/office/drawing/2014/main" id="{B8550D12-2031-4AEB-9363-42609058B33E}"/>
              </a:ext>
            </a:extLst>
          </p:cNvPr>
          <p:cNvSpPr>
            <a:spLocks xmlns:a="http://schemas.openxmlformats.org/drawingml/2006/main" noGrp="1"/>
          </p:cNvSpPr>
          <p:nvPr/>
        </p:nvSpPr>
        <p:spPr>
          <a:xfrm xmlns:a="http://schemas.openxmlformats.org/drawingml/2006/main">
            <a:off x="685800" y="5105400"/>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26" name="">
            <a:extLst xmlns:a="http://schemas.openxmlformats.org/drawingml/2006/main">
              <a:ext uri="{FF2B5EF4-FFF2-40B4-BE49-F238E27FC236}">
                <a16:creationId xmlns:a16="http://schemas.microsoft.com/office/drawing/2014/main" id="{2C4A94A6-17EB-4F44-8158-05360B345842}"/>
              </a:ext>
            </a:extLst>
          </p:cNvPr>
          <p:cNvSpPr>
            <a:spLocks xmlns:a="http://schemas.openxmlformats.org/drawingml/2006/main" noGrp="1"/>
          </p:cNvSpPr>
          <p:nvPr/>
        </p:nvSpPr>
        <p:spPr>
          <a:xfrm xmlns:a="http://schemas.openxmlformats.org/drawingml/2006/main">
            <a:off x="781050" y="538162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555555"/>
                </a:solidFill>
                <a:latin typeface="Arial"/>
                <a:ea typeface="Arial"/>
                <a:cs typeface="Arial"/>
              </a:defRPr>
            </a:pPr>
            <a:r>
              <a:rPr sz="1350" b="1" i="0">
                <a:solidFill>
                  <a:srgbClr val="555555"/>
                </a:solidFill>
                <a:latin typeface="Arial"/>
                <a:ea typeface="Arial"/>
                <a:cs typeface="Arial"/>
              </a:rPr>
              <a:t>Remaining question</a:t>
            </a:r>
          </a:p>
        </p:txBody>
      </p:sp>
      <p:sp>
        <p:nvSpPr>
          <p:cNvPr id="27" name="">
            <a:extLst xmlns:a="http://schemas.openxmlformats.org/drawingml/2006/main">
              <a:ext uri="{FF2B5EF4-FFF2-40B4-BE49-F238E27FC236}">
                <a16:creationId xmlns:a16="http://schemas.microsoft.com/office/drawing/2014/main" id="{F7D826D9-9D88-41BB-B5FE-CEE75B951020}"/>
              </a:ext>
            </a:extLst>
          </p:cNvPr>
          <p:cNvSpPr>
            <a:spLocks xmlns:a="http://schemas.openxmlformats.org/drawingml/2006/main" noGrp="1"/>
          </p:cNvSpPr>
          <p:nvPr/>
        </p:nvSpPr>
        <p:spPr>
          <a:xfrm xmlns:a="http://schemas.openxmlformats.org/drawingml/2006/main">
            <a:off x="3124200" y="5314950"/>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i="0">
                <a:solidFill>
                  <a:srgbClr val="282828"/>
                </a:solidFill>
                <a:latin typeface="Arial"/>
                <a:ea typeface="Arial"/>
                <a:cs typeface="Arial"/>
              </a:defRPr>
            </a:pPr>
            <a:r>
              <a:rPr sz="1500" b="1" i="0">
                <a:solidFill>
                  <a:srgbClr val="282828"/>
                </a:solidFill>
                <a:latin typeface="Arial"/>
                <a:ea typeface="Arial"/>
                <a:cs typeface="Arial"/>
              </a:rPr>
              <a:t>Which isolated mechanisms transfer into Muon, under which learning-rate regime, and do their effects combine?</a:t>
            </a:r>
          </a:p>
        </p:txBody>
      </p:sp>
      <p:sp>
        <p:nvSpPr>
          <p:cNvPr id="28" name="">
            <a:extLst xmlns:a="http://schemas.openxmlformats.org/drawingml/2006/main">
              <a:ext uri="{FF2B5EF4-FFF2-40B4-BE49-F238E27FC236}">
                <a16:creationId xmlns:a16="http://schemas.microsoft.com/office/drawing/2014/main" id="{B6864B43-4B63-4E1C-8380-70DDC62937F4}"/>
              </a:ext>
            </a:extLst>
          </p:cNvPr>
          <p:cNvSpPr>
            <a:spLocks xmlns:a="http://schemas.openxmlformats.org/drawingml/2006/main" noGrp="1"/>
          </p:cNvSpPr>
          <p:nvPr/>
        </p:nvSpPr>
        <p:spPr>
          <a:xfrm xmlns:a="http://schemas.openxmlformats.org/drawingml/2006/main">
            <a:off x="685800" y="6286500"/>
            <a:ext cx="10668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i="0">
                <a:solidFill>
                  <a:srgbClr val="666666"/>
                </a:solidFill>
                <a:latin typeface="Arial"/>
                <a:ea typeface="Arial"/>
                <a:cs typeface="Arial"/>
              </a:defRPr>
            </a:pPr>
            <a:r>
              <a:rPr sz="750" b="0" i="0">
                <a:solidFill>
                  <a:srgbClr val="666666"/>
                </a:solidFill>
                <a:latin typeface="Arial"/>
                <a:ea typeface="Arial"/>
                <a:cs typeface="Arial"/>
              </a:rPr>
              <a:t>We claim controlled transfer evidence, not algorithmic priority over the cited methods.</a:t>
            </a:r>
          </a:p>
        </p:txBody>
      </p:sp>
    </p:spTree>
    <p:extLst>
      <p:ext uri="{BB962C8B-B14F-4D97-AF65-F5344CB8AC3E}">
        <p14:creationId xmlns:p14="http://schemas.microsoft.com/office/powerpoint/2010/main" val="62245473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
            <a:extLst xmlns:a="http://schemas.openxmlformats.org/drawingml/2006/main">
              <a:ext uri="{FF2B5EF4-FFF2-40B4-BE49-F238E27FC236}">
                <a16:creationId xmlns:a16="http://schemas.microsoft.com/office/drawing/2014/main" id="{F753B243-2E44-4B20-B948-4563E16F8EF7}"/>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A modular Muon update</a:t>
            </a:r>
          </a:p>
        </p:txBody>
      </p:sp>
      <p:sp>
        <p:nvSpPr>
          <p:cNvPr id="2" name="">
            <a:extLst xmlns:a="http://schemas.openxmlformats.org/drawingml/2006/main">
              <a:ext uri="{FF2B5EF4-FFF2-40B4-BE49-F238E27FC236}">
                <a16:creationId xmlns:a16="http://schemas.microsoft.com/office/drawing/2014/main" id="{8923C49B-7187-4D2F-BFD5-37F5B35D40B9}"/>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slide-subtitle">
            <a:extLst xmlns:a="http://schemas.openxmlformats.org/drawingml/2006/main">
              <a:ext uri="{FF2B5EF4-FFF2-40B4-BE49-F238E27FC236}">
                <a16:creationId xmlns:a16="http://schemas.microsoft.com/office/drawing/2014/main" id="{9262E7D6-BA01-4960-A618-977705769E79}"/>
              </a:ext>
            </a:extLst>
          </p:cNvPr>
          <p:cNvSpPr>
            <a:spLocks xmlns:a="http://schemas.openxmlformats.org/drawingml/2006/main" noGrp="1"/>
          </p:cNvSpPr>
          <p:nvPr/>
        </p:nvSpPr>
        <p:spPr>
          <a:xfrm xmlns:a="http://schemas.openxmlformats.org/drawingml/2006/main">
            <a:off x="685800" y="10668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666666"/>
                </a:solidFill>
                <a:latin typeface="Arial"/>
                <a:ea typeface="Arial"/>
                <a:cs typeface="Arial"/>
              </a:defRPr>
            </a:pPr>
            <a:r>
              <a:rPr sz="1125" b="0" i="0">
                <a:solidFill>
                  <a:srgbClr val="666666"/>
                </a:solidFill>
                <a:latin typeface="Arial"/>
                <a:ea typeface="Arial"/>
                <a:cs typeface="Arial"/>
              </a:rPr>
              <a:t>Each tested mechanism enters at a separate point in the same matrix-parameter path.</a:t>
            </a:r>
          </a:p>
        </p:txBody>
      </p:sp>
      <p:sp>
        <p:nvSpPr>
          <p:cNvPr id="4" name="">
            <a:extLst xmlns:a="http://schemas.openxmlformats.org/drawingml/2006/main">
              <a:ext uri="{FF2B5EF4-FFF2-40B4-BE49-F238E27FC236}">
                <a16:creationId xmlns:a16="http://schemas.microsoft.com/office/drawing/2014/main" id="{38F68A81-6C79-4642-8840-9384CB20B81C}"/>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5BC5866-DFCB-4C9F-BED8-7606925544D2}"/>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6" name="">
            <a:extLst xmlns:a="http://schemas.openxmlformats.org/drawingml/2006/main">
              <a:ext uri="{FF2B5EF4-FFF2-40B4-BE49-F238E27FC236}">
                <a16:creationId xmlns:a16="http://schemas.microsoft.com/office/drawing/2014/main" id="{658166A1-3004-49D7-90F4-71190DAAA028}"/>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9</a:t>
            </a:r>
          </a:p>
        </p:txBody>
      </p:sp>
      <p:sp>
        <p:nvSpPr>
          <p:cNvPr id="7" name="">
            <a:extLst xmlns:a="http://schemas.openxmlformats.org/drawingml/2006/main">
              <a:ext uri="{FF2B5EF4-FFF2-40B4-BE49-F238E27FC236}">
                <a16:creationId xmlns:a16="http://schemas.microsoft.com/office/drawing/2014/main" id="{D986CF0C-19B6-43B2-9346-0A2857ADF059}"/>
              </a:ext>
            </a:extLst>
          </p:cNvPr>
          <p:cNvSpPr>
            <a:spLocks xmlns:a="http://schemas.openxmlformats.org/drawingml/2006/main" noGrp="1"/>
          </p:cNvSpPr>
          <p:nvPr/>
        </p:nvSpPr>
        <p:spPr>
          <a:xfrm xmlns:a="http://schemas.openxmlformats.org/drawingml/2006/main">
            <a:off x="952500" y="152400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i="0">
                <a:solidFill>
                  <a:srgbClr val="282828"/>
                </a:solidFill>
                <a:latin typeface="Arial"/>
                <a:ea typeface="Arial"/>
                <a:cs typeface="Arial"/>
              </a:defRPr>
            </a:pPr>
            <a:r>
              <a:rPr sz="1875" b="0" i="0">
                <a:solidFill>
                  <a:srgbClr val="282828"/>
                </a:solidFill>
                <a:latin typeface="Arial"/>
                <a:ea typeface="Arial"/>
                <a:cs typeface="Arial"/>
              </a:rPr>
              <a:t>cₜ = gₜ + γₜ(gₜ − gₜ₋₁)</a:t>
            </a:r>
          </a:p>
        </p:txBody>
      </p:sp>
      <p:sp>
        <p:nvSpPr>
          <p:cNvPr id="8" name="">
            <a:extLst xmlns:a="http://schemas.openxmlformats.org/drawingml/2006/main">
              <a:ext uri="{FF2B5EF4-FFF2-40B4-BE49-F238E27FC236}">
                <a16:creationId xmlns:a16="http://schemas.microsoft.com/office/drawing/2014/main" id="{6323D06C-4AAF-4A49-87E5-C28B04BFC806}"/>
              </a:ext>
            </a:extLst>
          </p:cNvPr>
          <p:cNvSpPr>
            <a:spLocks xmlns:a="http://schemas.openxmlformats.org/drawingml/2006/main" noGrp="1"/>
          </p:cNvSpPr>
          <p:nvPr/>
        </p:nvSpPr>
        <p:spPr>
          <a:xfrm xmlns:a="http://schemas.openxmlformats.org/drawingml/2006/main">
            <a:off x="6096000" y="1562100"/>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333333"/>
                </a:solidFill>
                <a:latin typeface="Arial"/>
                <a:ea typeface="Arial"/>
                <a:cs typeface="Arial"/>
              </a:defRPr>
            </a:pPr>
            <a:r>
              <a:rPr sz="1350" b="0" i="0">
                <a:solidFill>
                  <a:srgbClr val="333333"/>
                </a:solidFill>
                <a:latin typeface="Arial"/>
                <a:ea typeface="Arial"/>
                <a:cs typeface="Arial"/>
              </a:rPr>
              <a:t>MARS-inspired direction correction</a:t>
            </a:r>
          </a:p>
        </p:txBody>
      </p:sp>
      <p:sp>
        <p:nvSpPr>
          <p:cNvPr id="9" name="">
            <a:extLst xmlns:a="http://schemas.openxmlformats.org/drawingml/2006/main">
              <a:ext uri="{FF2B5EF4-FFF2-40B4-BE49-F238E27FC236}">
                <a16:creationId xmlns:a16="http://schemas.microsoft.com/office/drawing/2014/main" id="{9A203408-EC96-4C63-A509-96C6FAC0C758}"/>
              </a:ext>
            </a:extLst>
          </p:cNvPr>
          <p:cNvSpPr>
            <a:spLocks xmlns:a="http://schemas.openxmlformats.org/drawingml/2006/main" noGrp="1"/>
          </p:cNvSpPr>
          <p:nvPr/>
        </p:nvSpPr>
        <p:spPr>
          <a:xfrm xmlns:a="http://schemas.openxmlformats.org/drawingml/2006/main">
            <a:off x="952500" y="2047875"/>
            <a:ext cx="1019175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0" name="">
            <a:extLst xmlns:a="http://schemas.openxmlformats.org/drawingml/2006/main">
              <a:ext uri="{FF2B5EF4-FFF2-40B4-BE49-F238E27FC236}">
                <a16:creationId xmlns:a16="http://schemas.microsoft.com/office/drawing/2014/main" id="{8EAFA747-B9B7-4DDB-85A6-025C41E45E19}"/>
              </a:ext>
            </a:extLst>
          </p:cNvPr>
          <p:cNvSpPr>
            <a:spLocks xmlns:a="http://schemas.openxmlformats.org/drawingml/2006/main" noGrp="1"/>
          </p:cNvSpPr>
          <p:nvPr/>
        </p:nvSpPr>
        <p:spPr>
          <a:xfrm xmlns:a="http://schemas.openxmlformats.org/drawingml/2006/main">
            <a:off x="952500" y="220980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i="0">
                <a:solidFill>
                  <a:srgbClr val="282828"/>
                </a:solidFill>
                <a:latin typeface="Arial"/>
                <a:ea typeface="Arial"/>
                <a:cs typeface="Arial"/>
              </a:defRPr>
            </a:pPr>
            <a:r>
              <a:rPr sz="1875" b="0" i="0">
                <a:solidFill>
                  <a:srgbClr val="282828"/>
                </a:solidFill>
                <a:latin typeface="Arial"/>
                <a:ea typeface="Arial"/>
                <a:cs typeface="Arial"/>
              </a:rPr>
              <a:t>rₜ = cₜ + αₜ(hₜ₋₁ − cₜ₋₁)</a:t>
            </a:r>
          </a:p>
        </p:txBody>
      </p:sp>
      <p:sp>
        <p:nvSpPr>
          <p:cNvPr id="11" name="">
            <a:extLst xmlns:a="http://schemas.openxmlformats.org/drawingml/2006/main">
              <a:ext uri="{FF2B5EF4-FFF2-40B4-BE49-F238E27FC236}">
                <a16:creationId xmlns:a16="http://schemas.microsoft.com/office/drawing/2014/main" id="{B0400B64-D43C-4A11-A306-5F0D7042EB0D}"/>
              </a:ext>
            </a:extLst>
          </p:cNvPr>
          <p:cNvSpPr>
            <a:spLocks xmlns:a="http://schemas.openxmlformats.org/drawingml/2006/main" noGrp="1"/>
          </p:cNvSpPr>
          <p:nvPr/>
        </p:nvSpPr>
        <p:spPr>
          <a:xfrm xmlns:a="http://schemas.openxmlformats.org/drawingml/2006/main">
            <a:off x="6096000" y="2247900"/>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333333"/>
                </a:solidFill>
                <a:latin typeface="Arial"/>
                <a:ea typeface="Arial"/>
                <a:cs typeface="Arial"/>
              </a:defRPr>
            </a:pPr>
            <a:r>
              <a:rPr sz="1350" b="0" i="0">
                <a:solidFill>
                  <a:srgbClr val="333333"/>
                </a:solidFill>
                <a:latin typeface="Arial"/>
                <a:ea typeface="Arial"/>
                <a:cs typeface="Arial"/>
              </a:rPr>
              <a:t>History correction using the stored prior Nesterov signal</a:t>
            </a:r>
          </a:p>
        </p:txBody>
      </p:sp>
      <p:sp>
        <p:nvSpPr>
          <p:cNvPr id="12" name="">
            <a:extLst xmlns:a="http://schemas.openxmlformats.org/drawingml/2006/main">
              <a:ext uri="{FF2B5EF4-FFF2-40B4-BE49-F238E27FC236}">
                <a16:creationId xmlns:a16="http://schemas.microsoft.com/office/drawing/2014/main" id="{AB9B07A1-0EF1-458A-A1E2-00F6A8807A0F}"/>
              </a:ext>
            </a:extLst>
          </p:cNvPr>
          <p:cNvSpPr>
            <a:spLocks xmlns:a="http://schemas.openxmlformats.org/drawingml/2006/main" noGrp="1"/>
          </p:cNvSpPr>
          <p:nvPr/>
        </p:nvSpPr>
        <p:spPr>
          <a:xfrm xmlns:a="http://schemas.openxmlformats.org/drawingml/2006/main">
            <a:off x="952500" y="2733675"/>
            <a:ext cx="1019175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3" name="">
            <a:extLst xmlns:a="http://schemas.openxmlformats.org/drawingml/2006/main">
              <a:ext uri="{FF2B5EF4-FFF2-40B4-BE49-F238E27FC236}">
                <a16:creationId xmlns:a16="http://schemas.microsoft.com/office/drawing/2014/main" id="{0B82B2D8-2DB6-406F-86D0-F3B410590938}"/>
              </a:ext>
            </a:extLst>
          </p:cNvPr>
          <p:cNvSpPr>
            <a:spLocks xmlns:a="http://schemas.openxmlformats.org/drawingml/2006/main" noGrp="1"/>
          </p:cNvSpPr>
          <p:nvPr/>
        </p:nvSpPr>
        <p:spPr>
          <a:xfrm xmlns:a="http://schemas.openxmlformats.org/drawingml/2006/main">
            <a:off x="952500" y="289560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i="0">
                <a:solidFill>
                  <a:srgbClr val="282828"/>
                </a:solidFill>
                <a:latin typeface="Arial"/>
                <a:ea typeface="Arial"/>
                <a:cs typeface="Arial"/>
              </a:defRPr>
            </a:pPr>
            <a:r>
              <a:rPr sz="1875" b="0" i="0">
                <a:solidFill>
                  <a:srgbClr val="282828"/>
                </a:solidFill>
                <a:latin typeface="Arial"/>
                <a:ea typeface="Arial"/>
                <a:cs typeface="Arial"/>
              </a:rPr>
              <a:t>mₜ = βₜmₜ₋₁ + (1 − βₜ)rₜ</a:t>
            </a:r>
          </a:p>
        </p:txBody>
      </p:sp>
      <p:sp>
        <p:nvSpPr>
          <p:cNvPr id="14" name="">
            <a:extLst xmlns:a="http://schemas.openxmlformats.org/drawingml/2006/main">
              <a:ext uri="{FF2B5EF4-FFF2-40B4-BE49-F238E27FC236}">
                <a16:creationId xmlns:a16="http://schemas.microsoft.com/office/drawing/2014/main" id="{F7A14053-C1E7-481A-93A0-D89337DB6E71}"/>
              </a:ext>
            </a:extLst>
          </p:cNvPr>
          <p:cNvSpPr>
            <a:spLocks xmlns:a="http://schemas.openxmlformats.org/drawingml/2006/main" noGrp="1"/>
          </p:cNvSpPr>
          <p:nvPr/>
        </p:nvSpPr>
        <p:spPr>
          <a:xfrm xmlns:a="http://schemas.openxmlformats.org/drawingml/2006/main">
            <a:off x="6096000" y="2933700"/>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333333"/>
                </a:solidFill>
                <a:latin typeface="Arial"/>
                <a:ea typeface="Arial"/>
                <a:cs typeface="Arial"/>
              </a:defRPr>
            </a:pPr>
            <a:r>
              <a:rPr sz="1350" b="0" i="0">
                <a:solidFill>
                  <a:srgbClr val="333333"/>
                </a:solidFill>
                <a:latin typeface="Arial"/>
                <a:ea typeface="Arial"/>
                <a:cs typeface="Arial"/>
              </a:rPr>
              <a:t>Muon momentum with an optional β schedule</a:t>
            </a:r>
          </a:p>
        </p:txBody>
      </p:sp>
      <p:sp>
        <p:nvSpPr>
          <p:cNvPr id="15" name="">
            <a:extLst xmlns:a="http://schemas.openxmlformats.org/drawingml/2006/main">
              <a:ext uri="{FF2B5EF4-FFF2-40B4-BE49-F238E27FC236}">
                <a16:creationId xmlns:a16="http://schemas.microsoft.com/office/drawing/2014/main" id="{91044919-B811-4004-BEA5-EC9C99FBBBB6}"/>
              </a:ext>
            </a:extLst>
          </p:cNvPr>
          <p:cNvSpPr>
            <a:spLocks xmlns:a="http://schemas.openxmlformats.org/drawingml/2006/main" noGrp="1"/>
          </p:cNvSpPr>
          <p:nvPr/>
        </p:nvSpPr>
        <p:spPr>
          <a:xfrm xmlns:a="http://schemas.openxmlformats.org/drawingml/2006/main">
            <a:off x="952500" y="3419475"/>
            <a:ext cx="1019175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6" name="">
            <a:extLst xmlns:a="http://schemas.openxmlformats.org/drawingml/2006/main">
              <a:ext uri="{FF2B5EF4-FFF2-40B4-BE49-F238E27FC236}">
                <a16:creationId xmlns:a16="http://schemas.microsoft.com/office/drawing/2014/main" id="{0CD6F162-D9E4-49FC-8A5F-6AFC51E0F1DC}"/>
              </a:ext>
            </a:extLst>
          </p:cNvPr>
          <p:cNvSpPr>
            <a:spLocks xmlns:a="http://schemas.openxmlformats.org/drawingml/2006/main" noGrp="1"/>
          </p:cNvSpPr>
          <p:nvPr/>
        </p:nvSpPr>
        <p:spPr>
          <a:xfrm xmlns:a="http://schemas.openxmlformats.org/drawingml/2006/main">
            <a:off x="952500" y="358140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i="0">
                <a:solidFill>
                  <a:srgbClr val="282828"/>
                </a:solidFill>
                <a:latin typeface="Arial"/>
                <a:ea typeface="Arial"/>
                <a:cs typeface="Arial"/>
              </a:defRPr>
            </a:pPr>
            <a:r>
              <a:rPr sz="1875" b="0" i="0">
                <a:solidFill>
                  <a:srgbClr val="282828"/>
                </a:solidFill>
                <a:latin typeface="Arial"/>
                <a:ea typeface="Arial"/>
                <a:cs typeface="Arial"/>
              </a:rPr>
              <a:t>hₜ = (1 − βₜ)rₜ + βₜmₜ</a:t>
            </a:r>
          </a:p>
        </p:txBody>
      </p:sp>
      <p:sp>
        <p:nvSpPr>
          <p:cNvPr id="17" name="">
            <a:extLst xmlns:a="http://schemas.openxmlformats.org/drawingml/2006/main">
              <a:ext uri="{FF2B5EF4-FFF2-40B4-BE49-F238E27FC236}">
                <a16:creationId xmlns:a16="http://schemas.microsoft.com/office/drawing/2014/main" id="{C8BAA58C-98A7-4063-9D2E-051A2E628484}"/>
              </a:ext>
            </a:extLst>
          </p:cNvPr>
          <p:cNvSpPr>
            <a:spLocks xmlns:a="http://schemas.openxmlformats.org/drawingml/2006/main" noGrp="1"/>
          </p:cNvSpPr>
          <p:nvPr/>
        </p:nvSpPr>
        <p:spPr>
          <a:xfrm xmlns:a="http://schemas.openxmlformats.org/drawingml/2006/main">
            <a:off x="6096000" y="3619500"/>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333333"/>
                </a:solidFill>
                <a:latin typeface="Arial"/>
                <a:ea typeface="Arial"/>
                <a:cs typeface="Arial"/>
              </a:defRPr>
            </a:pPr>
            <a:r>
              <a:rPr sz="1350" b="0" i="0">
                <a:solidFill>
                  <a:srgbClr val="333333"/>
                </a:solidFill>
                <a:latin typeface="Arial"/>
                <a:ea typeface="Arial"/>
                <a:cs typeface="Arial"/>
              </a:rPr>
              <a:t>Nesterov signal sent to the polar map and stored for step t+1</a:t>
            </a:r>
          </a:p>
        </p:txBody>
      </p:sp>
      <p:sp>
        <p:nvSpPr>
          <p:cNvPr id="18" name="">
            <a:extLst xmlns:a="http://schemas.openxmlformats.org/drawingml/2006/main">
              <a:ext uri="{FF2B5EF4-FFF2-40B4-BE49-F238E27FC236}">
                <a16:creationId xmlns:a16="http://schemas.microsoft.com/office/drawing/2014/main" id="{8974C056-5EB6-4825-94E2-2DC2F71D2DB4}"/>
              </a:ext>
            </a:extLst>
          </p:cNvPr>
          <p:cNvSpPr>
            <a:spLocks xmlns:a="http://schemas.openxmlformats.org/drawingml/2006/main" noGrp="1"/>
          </p:cNvSpPr>
          <p:nvPr/>
        </p:nvSpPr>
        <p:spPr>
          <a:xfrm xmlns:a="http://schemas.openxmlformats.org/drawingml/2006/main">
            <a:off x="952500" y="4105275"/>
            <a:ext cx="1019175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9" name="">
            <a:extLst xmlns:a="http://schemas.openxmlformats.org/drawingml/2006/main">
              <a:ext uri="{FF2B5EF4-FFF2-40B4-BE49-F238E27FC236}">
                <a16:creationId xmlns:a16="http://schemas.microsoft.com/office/drawing/2014/main" id="{790B62E2-C950-4C13-B832-0C4C6EEB2E9B}"/>
              </a:ext>
            </a:extLst>
          </p:cNvPr>
          <p:cNvSpPr>
            <a:spLocks xmlns:a="http://schemas.openxmlformats.org/drawingml/2006/main" noGrp="1"/>
          </p:cNvSpPr>
          <p:nvPr/>
        </p:nvSpPr>
        <p:spPr>
          <a:xfrm xmlns:a="http://schemas.openxmlformats.org/drawingml/2006/main">
            <a:off x="952500" y="426720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i="0">
                <a:solidFill>
                  <a:srgbClr val="282828"/>
                </a:solidFill>
                <a:latin typeface="Arial"/>
                <a:ea typeface="Arial"/>
                <a:cs typeface="Arial"/>
              </a:defRPr>
            </a:pPr>
            <a:r>
              <a:rPr sz="1875" b="0" i="0">
                <a:solidFill>
                  <a:srgbClr val="282828"/>
                </a:solidFill>
                <a:latin typeface="Arial"/>
                <a:ea typeface="Arial"/>
                <a:cs typeface="Arial"/>
              </a:rPr>
              <a:t>qₜ = P_NS(hₜ)</a:t>
            </a:r>
          </a:p>
        </p:txBody>
      </p:sp>
      <p:sp>
        <p:nvSpPr>
          <p:cNvPr id="20" name="">
            <a:extLst xmlns:a="http://schemas.openxmlformats.org/drawingml/2006/main">
              <a:ext uri="{FF2B5EF4-FFF2-40B4-BE49-F238E27FC236}">
                <a16:creationId xmlns:a16="http://schemas.microsoft.com/office/drawing/2014/main" id="{CE737823-5F82-460F-AA38-8DB7C1736AC5}"/>
              </a:ext>
            </a:extLst>
          </p:cNvPr>
          <p:cNvSpPr>
            <a:spLocks xmlns:a="http://schemas.openxmlformats.org/drawingml/2006/main" noGrp="1"/>
          </p:cNvSpPr>
          <p:nvPr/>
        </p:nvSpPr>
        <p:spPr>
          <a:xfrm xmlns:a="http://schemas.openxmlformats.org/drawingml/2006/main">
            <a:off x="6096000" y="4305300"/>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333333"/>
                </a:solidFill>
                <a:latin typeface="Arial"/>
                <a:ea typeface="Arial"/>
                <a:cs typeface="Arial"/>
              </a:defRPr>
            </a:pPr>
            <a:r>
              <a:rPr sz="1350" b="0" i="0">
                <a:solidFill>
                  <a:srgbClr val="333333"/>
                </a:solidFill>
                <a:latin typeface="Arial"/>
                <a:ea typeface="Arial"/>
                <a:cs typeface="Arial"/>
              </a:rPr>
              <a:t>Five Newton–Schulz steps</a:t>
            </a:r>
          </a:p>
        </p:txBody>
      </p:sp>
      <p:sp>
        <p:nvSpPr>
          <p:cNvPr id="21" name="">
            <a:extLst xmlns:a="http://schemas.openxmlformats.org/drawingml/2006/main">
              <a:ext uri="{FF2B5EF4-FFF2-40B4-BE49-F238E27FC236}">
                <a16:creationId xmlns:a16="http://schemas.microsoft.com/office/drawing/2014/main" id="{282DB5FF-2AC6-4B96-BFE8-8E261FECD8E4}"/>
              </a:ext>
            </a:extLst>
          </p:cNvPr>
          <p:cNvSpPr>
            <a:spLocks xmlns:a="http://schemas.openxmlformats.org/drawingml/2006/main" noGrp="1"/>
          </p:cNvSpPr>
          <p:nvPr/>
        </p:nvSpPr>
        <p:spPr>
          <a:xfrm xmlns:a="http://schemas.openxmlformats.org/drawingml/2006/main">
            <a:off x="952500" y="4791075"/>
            <a:ext cx="1019175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22" name="">
            <a:extLst xmlns:a="http://schemas.openxmlformats.org/drawingml/2006/main">
              <a:ext uri="{FF2B5EF4-FFF2-40B4-BE49-F238E27FC236}">
                <a16:creationId xmlns:a16="http://schemas.microsoft.com/office/drawing/2014/main" id="{48405C8E-A0FA-47FC-9A37-B0E392CBBFBE}"/>
              </a:ext>
            </a:extLst>
          </p:cNvPr>
          <p:cNvSpPr>
            <a:spLocks xmlns:a="http://schemas.openxmlformats.org/drawingml/2006/main" noGrp="1"/>
          </p:cNvSpPr>
          <p:nvPr/>
        </p:nvSpPr>
        <p:spPr>
          <a:xfrm xmlns:a="http://schemas.openxmlformats.org/drawingml/2006/main">
            <a:off x="952500" y="495300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i="0">
                <a:solidFill>
                  <a:srgbClr val="282828"/>
                </a:solidFill>
                <a:latin typeface="Arial"/>
                <a:ea typeface="Arial"/>
                <a:cs typeface="Arial"/>
              </a:defRPr>
            </a:pPr>
            <a:r>
              <a:rPr sz="1875" b="0" i="0">
                <a:solidFill>
                  <a:srgbClr val="282828"/>
                </a:solidFill>
                <a:latin typeface="Arial"/>
                <a:ea typeface="Arial"/>
                <a:cs typeface="Arial"/>
              </a:rPr>
              <a:t>Wₜ₊₁ = (1 − ηₜλ)Wₜ − ηₜqₜ</a:t>
            </a:r>
          </a:p>
        </p:txBody>
      </p:sp>
      <p:sp>
        <p:nvSpPr>
          <p:cNvPr id="23" name="">
            <a:extLst xmlns:a="http://schemas.openxmlformats.org/drawingml/2006/main">
              <a:ext uri="{FF2B5EF4-FFF2-40B4-BE49-F238E27FC236}">
                <a16:creationId xmlns:a16="http://schemas.microsoft.com/office/drawing/2014/main" id="{DDD88A9C-7A94-44A3-BAE5-4CB1407D1E78}"/>
              </a:ext>
            </a:extLst>
          </p:cNvPr>
          <p:cNvSpPr>
            <a:spLocks xmlns:a="http://schemas.openxmlformats.org/drawingml/2006/main" noGrp="1"/>
          </p:cNvSpPr>
          <p:nvPr/>
        </p:nvSpPr>
        <p:spPr>
          <a:xfrm xmlns:a="http://schemas.openxmlformats.org/drawingml/2006/main">
            <a:off x="6096000" y="4991100"/>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333333"/>
                </a:solidFill>
                <a:latin typeface="Arial"/>
                <a:ea typeface="Arial"/>
                <a:cs typeface="Arial"/>
              </a:defRPr>
            </a:pPr>
            <a:r>
              <a:rPr sz="1350" b="0" i="0">
                <a:solidFill>
                  <a:srgbClr val="333333"/>
                </a:solidFill>
                <a:latin typeface="Arial"/>
                <a:ea typeface="Arial"/>
                <a:cs typeface="Arial"/>
              </a:rPr>
              <a:t>Decoupled weight decay and matrix update</a:t>
            </a:r>
          </a:p>
        </p:txBody>
      </p:sp>
      <p:sp>
        <p:nvSpPr>
          <p:cNvPr id="24" name="">
            <a:extLst xmlns:a="http://schemas.openxmlformats.org/drawingml/2006/main">
              <a:ext uri="{FF2B5EF4-FFF2-40B4-BE49-F238E27FC236}">
                <a16:creationId xmlns:a16="http://schemas.microsoft.com/office/drawing/2014/main" id="{68A2891A-08C6-40B1-B5C8-EFB5F71F137E}"/>
              </a:ext>
            </a:extLst>
          </p:cNvPr>
          <p:cNvSpPr>
            <a:spLocks xmlns:a="http://schemas.openxmlformats.org/drawingml/2006/main" noGrp="1"/>
          </p:cNvSpPr>
          <p:nvPr/>
        </p:nvSpPr>
        <p:spPr>
          <a:xfrm xmlns:a="http://schemas.openxmlformats.org/drawingml/2006/main">
            <a:off x="952500" y="5715000"/>
            <a:ext cx="1019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i="0">
                <a:solidFill>
                  <a:srgbClr val="666666"/>
                </a:solidFill>
                <a:latin typeface="Arial"/>
                <a:ea typeface="Arial"/>
                <a:cs typeface="Arial"/>
              </a:defRPr>
            </a:pPr>
            <a:r>
              <a:rPr sz="1125" b="0" i="0">
                <a:solidFill>
                  <a:srgbClr val="666666"/>
                </a:solidFill>
                <a:latin typeface="Arial"/>
                <a:ea typeface="Arial"/>
                <a:cs typeface="Arial"/>
              </a:rPr>
              <a:t>γ = 0 removes MARS,   α = 0 removes Mu²,   constant β removes momentum decay</a:t>
            </a:r>
          </a:p>
        </p:txBody>
      </p:sp>
    </p:spTree>
    <p:extLst>
      <p:ext uri="{BB962C8B-B14F-4D97-AF65-F5344CB8AC3E}">
        <p14:creationId xmlns:p14="http://schemas.microsoft.com/office/powerpoint/2010/main" val="163730572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AF3042F9-C26B-4CF8-B75C-2D21D7224004}"/>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Models and datasets</a:t>
            </a:r>
          </a:p>
        </p:txBody>
      </p:sp>
      <p:sp>
        <p:nvSpPr>
          <p:cNvPr id="2" name="">
            <a:extLst xmlns:a="http://schemas.openxmlformats.org/drawingml/2006/main">
              <a:ext uri="{FF2B5EF4-FFF2-40B4-BE49-F238E27FC236}">
                <a16:creationId xmlns:a16="http://schemas.microsoft.com/office/drawing/2014/main" id="{B9CD4E27-1717-4BAC-85D9-02E10BF98C61}"/>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7C971DEA-9BD4-410C-9B15-F595F7D3109C}"/>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B114C7A-E983-43E6-A069-5EFCB541E6CC}"/>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34797604-5665-4112-B407-DA664AB06A56}"/>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10</a:t>
            </a:r>
          </a:p>
        </p:txBody>
      </p:sp>
      <p:sp>
        <p:nvSpPr>
          <p:cNvPr id="6" name="">
            <a:extLst xmlns:a="http://schemas.openxmlformats.org/drawingml/2006/main">
              <a:ext uri="{FF2B5EF4-FFF2-40B4-BE49-F238E27FC236}">
                <a16:creationId xmlns:a16="http://schemas.microsoft.com/office/drawing/2014/main" id="{EACA3177-2F08-46A4-8F22-2E02DC21B04E}"/>
              </a:ext>
            </a:extLst>
          </p:cNvPr>
          <p:cNvSpPr>
            <a:spLocks xmlns:a="http://schemas.openxmlformats.org/drawingml/2006/main" noGrp="1"/>
          </p:cNvSpPr>
          <p:nvPr/>
        </p:nvSpPr>
        <p:spPr>
          <a:xfrm xmlns:a="http://schemas.openxmlformats.org/drawingml/2006/main">
            <a:off x="685800" y="1466850"/>
            <a:ext cx="5105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CONTROLLED LAB</a:t>
            </a:r>
          </a:p>
        </p:txBody>
      </p:sp>
      <p:sp>
        <p:nvSpPr>
          <p:cNvPr id="7" name="">
            <a:extLst xmlns:a="http://schemas.openxmlformats.org/drawingml/2006/main">
              <a:ext uri="{FF2B5EF4-FFF2-40B4-BE49-F238E27FC236}">
                <a16:creationId xmlns:a16="http://schemas.microsoft.com/office/drawing/2014/main" id="{C6784690-4CD3-4367-B6DC-5C61D10A1374}"/>
              </a:ext>
            </a:extLst>
          </p:cNvPr>
          <p:cNvSpPr>
            <a:spLocks xmlns:a="http://schemas.openxmlformats.org/drawingml/2006/main" noGrp="1"/>
          </p:cNvSpPr>
          <p:nvPr/>
        </p:nvSpPr>
        <p:spPr>
          <a:xfrm xmlns:a="http://schemas.openxmlformats.org/drawingml/2006/main">
            <a:off x="685800" y="1733550"/>
            <a:ext cx="510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i="0">
                <a:solidFill>
                  <a:srgbClr val="282828"/>
                </a:solidFill>
                <a:latin typeface="Arial"/>
                <a:ea typeface="Arial"/>
                <a:cs typeface="Arial"/>
              </a:defRPr>
            </a:pPr>
            <a:r>
              <a:rPr sz="2025" b="1" i="0">
                <a:solidFill>
                  <a:srgbClr val="282828"/>
                </a:solidFill>
                <a:latin typeface="Arial"/>
                <a:ea typeface="Arial"/>
                <a:cs typeface="Arial"/>
              </a:rPr>
              <a:t>ResNet-18 / CIFAR-100</a:t>
            </a:r>
          </a:p>
        </p:txBody>
      </p:sp>
      <p:sp>
        <p:nvSpPr>
          <p:cNvPr id="8" name="">
            <a:extLst xmlns:a="http://schemas.openxmlformats.org/drawingml/2006/main">
              <a:ext uri="{FF2B5EF4-FFF2-40B4-BE49-F238E27FC236}">
                <a16:creationId xmlns:a16="http://schemas.microsoft.com/office/drawing/2014/main" id="{289E627D-A05F-4A32-B58E-DD375FFEAC08}"/>
              </a:ext>
            </a:extLst>
          </p:cNvPr>
          <p:cNvSpPr>
            <a:spLocks xmlns:a="http://schemas.openxmlformats.org/drawingml/2006/main" noGrp="1"/>
          </p:cNvSpPr>
          <p:nvPr/>
        </p:nvSpPr>
        <p:spPr>
          <a:xfrm xmlns:a="http://schemas.openxmlformats.org/drawingml/2006/main">
            <a:off x="685800" y="2181225"/>
            <a:ext cx="5105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9" name="">
            <a:extLst xmlns:a="http://schemas.openxmlformats.org/drawingml/2006/main">
              <a:ext uri="{FF2B5EF4-FFF2-40B4-BE49-F238E27FC236}">
                <a16:creationId xmlns:a16="http://schemas.microsoft.com/office/drawing/2014/main" id="{E2A1BA17-1881-4CDB-95C7-EB3EA0B2BAA2}"/>
              </a:ext>
            </a:extLst>
          </p:cNvPr>
          <p:cNvSpPr>
            <a:spLocks xmlns:a="http://schemas.openxmlformats.org/drawingml/2006/main" noGrp="1"/>
          </p:cNvSpPr>
          <p:nvPr/>
        </p:nvSpPr>
        <p:spPr>
          <a:xfrm xmlns:a="http://schemas.openxmlformats.org/drawingml/2006/main">
            <a:off x="685800" y="2324100"/>
            <a:ext cx="5105400"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333333"/>
                </a:solidFill>
                <a:latin typeface="Arial"/>
                <a:ea typeface="Arial"/>
                <a:cs typeface="Arial"/>
              </a:defRPr>
            </a:pPr>
            <a:r>
              <a:rPr sz="1350" b="0" i="0">
                <a:solidFill>
                  <a:srgbClr val="333333"/>
                </a:solidFill>
                <a:latin typeface="Arial"/>
                <a:ea typeface="Arial"/>
                <a:cs typeface="Arial"/>
              </a:rPr>
              <a:t>Purpose: broad mechanism discovery</a:t>
            </a:r>
          </a:p>
          <a:p xmlns:a="http://schemas.openxmlformats.org/drawingml/2006/main">
            <a:r>
              <a:t/>
            </a:r>
          </a:p>
          <a:p xmlns:a="http://schemas.openxmlformats.org/drawingml/2006/main">
            <a:pPr algn="l">
              <a:lnSpc>
                <a:spcPct val="108000"/>
              </a:lnSpc>
              <a:buNone/>
              <a:defRPr sz="1350" b="0" i="0">
                <a:solidFill>
                  <a:srgbClr val="333333"/>
                </a:solidFill>
                <a:latin typeface="Arial"/>
                <a:ea typeface="Arial"/>
                <a:cs typeface="Arial"/>
              </a:defRPr>
            </a:pPr>
            <a:r>
              <a:rPr sz="1350" b="0" i="0">
                <a:solidFill>
                  <a:srgbClr val="333333"/>
                </a:solidFill>
                <a:latin typeface="Arial"/>
                <a:ea typeface="Arial"/>
                <a:cs typeface="Arial"/>
              </a:rPr>
              <a:t>• 32×32 images, 100 classes</a:t>
            </a:r>
          </a:p>
          <a:p xmlns:a="http://schemas.openxmlformats.org/drawingml/2006/main">
            <a:pPr algn="l">
              <a:lnSpc>
                <a:spcPct val="108000"/>
              </a:lnSpc>
              <a:buNone/>
              <a:defRPr sz="1350" b="0" i="0">
                <a:solidFill>
                  <a:srgbClr val="333333"/>
                </a:solidFill>
                <a:latin typeface="Arial"/>
                <a:ea typeface="Arial"/>
                <a:cs typeface="Arial"/>
              </a:defRPr>
            </a:pPr>
            <a:r>
              <a:rPr sz="1350" b="0" i="0">
                <a:solidFill>
                  <a:srgbClr val="333333"/>
                </a:solidFill>
                <a:latin typeface="Arial"/>
                <a:ea typeface="Arial"/>
                <a:cs typeface="Arial"/>
              </a:rPr>
              <a:t>• 50k train / 10k test</a:t>
            </a:r>
          </a:p>
          <a:p xmlns:a="http://schemas.openxmlformats.org/drawingml/2006/main">
            <a:pPr algn="l">
              <a:lnSpc>
                <a:spcPct val="108000"/>
              </a:lnSpc>
              <a:buNone/>
              <a:defRPr sz="1350" b="0" i="0">
                <a:solidFill>
                  <a:srgbClr val="333333"/>
                </a:solidFill>
                <a:latin typeface="Arial"/>
                <a:ea typeface="Arial"/>
                <a:cs typeface="Arial"/>
              </a:defRPr>
            </a:pPr>
            <a:r>
              <a:rPr sz="1350" b="0" i="0">
                <a:solidFill>
                  <a:srgbClr val="333333"/>
                </a:solidFill>
                <a:latin typeface="Arial"/>
                <a:ea typeface="Arial"/>
                <a:cs typeface="Arial"/>
              </a:rPr>
              <a:t>• CIFAR stem: 3×3, stride 1, no max pool</a:t>
            </a:r>
          </a:p>
          <a:p xmlns:a="http://schemas.openxmlformats.org/drawingml/2006/main">
            <a:pPr algn="l">
              <a:lnSpc>
                <a:spcPct val="108000"/>
              </a:lnSpc>
              <a:buNone/>
              <a:defRPr sz="1350" b="0" i="0">
                <a:solidFill>
                  <a:srgbClr val="333333"/>
                </a:solidFill>
                <a:latin typeface="Arial"/>
                <a:ea typeface="Arial"/>
                <a:cs typeface="Arial"/>
              </a:defRPr>
            </a:pPr>
            <a:r>
              <a:rPr sz="1350" b="0" i="0">
                <a:solidFill>
                  <a:srgbClr val="333333"/>
                </a:solidFill>
                <a:latin typeface="Arial"/>
                <a:ea typeface="Arial"/>
                <a:cs typeface="Arial"/>
              </a:rPr>
              <a:t>• Strong convolutional inductive bias</a:t>
            </a:r>
          </a:p>
          <a:p xmlns:a="http://schemas.openxmlformats.org/drawingml/2006/main">
            <a:pPr algn="l">
              <a:lnSpc>
                <a:spcPct val="108000"/>
              </a:lnSpc>
              <a:buNone/>
              <a:defRPr sz="1350" b="0" i="0">
                <a:solidFill>
                  <a:srgbClr val="333333"/>
                </a:solidFill>
                <a:latin typeface="Arial"/>
                <a:ea typeface="Arial"/>
                <a:cs typeface="Arial"/>
              </a:defRPr>
            </a:pPr>
            <a:r>
              <a:rPr sz="1350" b="0" i="0">
                <a:solidFill>
                  <a:srgbClr val="333333"/>
                </a:solidFill>
                <a:latin typeface="Arial"/>
                <a:ea typeface="Arial"/>
                <a:cs typeface="Arial"/>
              </a:rPr>
              <a:t>• Full LR grid repeated on seeds 42–44</a:t>
            </a:r>
          </a:p>
        </p:txBody>
      </p:sp>
      <p:sp>
        <p:nvSpPr>
          <p:cNvPr id="10" name="">
            <a:extLst xmlns:a="http://schemas.openxmlformats.org/drawingml/2006/main">
              <a:ext uri="{FF2B5EF4-FFF2-40B4-BE49-F238E27FC236}">
                <a16:creationId xmlns:a16="http://schemas.microsoft.com/office/drawing/2014/main" id="{85C65364-D7A3-4D36-A569-E1808FAA2DFB}"/>
              </a:ext>
            </a:extLst>
          </p:cNvPr>
          <p:cNvSpPr>
            <a:spLocks xmlns:a="http://schemas.openxmlformats.org/drawingml/2006/main" noGrp="1"/>
          </p:cNvSpPr>
          <p:nvPr/>
        </p:nvSpPr>
        <p:spPr>
          <a:xfrm xmlns:a="http://schemas.openxmlformats.org/drawingml/2006/main">
            <a:off x="6400800" y="1466850"/>
            <a:ext cx="5105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STRESS TEST</a:t>
            </a:r>
          </a:p>
        </p:txBody>
      </p:sp>
      <p:sp>
        <p:nvSpPr>
          <p:cNvPr id="11" name="">
            <a:extLst xmlns:a="http://schemas.openxmlformats.org/drawingml/2006/main">
              <a:ext uri="{FF2B5EF4-FFF2-40B4-BE49-F238E27FC236}">
                <a16:creationId xmlns:a16="http://schemas.microsoft.com/office/drawing/2014/main" id="{CAED4A61-A450-4563-9C2C-09CB3785B2EB}"/>
              </a:ext>
            </a:extLst>
          </p:cNvPr>
          <p:cNvSpPr>
            <a:spLocks xmlns:a="http://schemas.openxmlformats.org/drawingml/2006/main" noGrp="1"/>
          </p:cNvSpPr>
          <p:nvPr/>
        </p:nvSpPr>
        <p:spPr>
          <a:xfrm xmlns:a="http://schemas.openxmlformats.org/drawingml/2006/main">
            <a:off x="6400800" y="1733550"/>
            <a:ext cx="510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i="0">
                <a:solidFill>
                  <a:srgbClr val="282828"/>
                </a:solidFill>
                <a:latin typeface="Arial"/>
                <a:ea typeface="Arial"/>
                <a:cs typeface="Arial"/>
              </a:defRPr>
            </a:pPr>
            <a:r>
              <a:rPr sz="2025" b="1" i="0">
                <a:solidFill>
                  <a:srgbClr val="282828"/>
                </a:solidFill>
                <a:latin typeface="Arial"/>
                <a:ea typeface="Arial"/>
                <a:cs typeface="Arial"/>
              </a:rPr>
              <a:t>TinyViT-5M / ImageNet-100</a:t>
            </a:r>
          </a:p>
        </p:txBody>
      </p:sp>
      <p:sp>
        <p:nvSpPr>
          <p:cNvPr id="12" name="">
            <a:extLst xmlns:a="http://schemas.openxmlformats.org/drawingml/2006/main">
              <a:ext uri="{FF2B5EF4-FFF2-40B4-BE49-F238E27FC236}">
                <a16:creationId xmlns:a16="http://schemas.microsoft.com/office/drawing/2014/main" id="{325337CA-4068-497C-A108-B8F323847F70}"/>
              </a:ext>
            </a:extLst>
          </p:cNvPr>
          <p:cNvSpPr>
            <a:spLocks xmlns:a="http://schemas.openxmlformats.org/drawingml/2006/main" noGrp="1"/>
          </p:cNvSpPr>
          <p:nvPr/>
        </p:nvSpPr>
        <p:spPr>
          <a:xfrm xmlns:a="http://schemas.openxmlformats.org/drawingml/2006/main">
            <a:off x="6400800" y="2181225"/>
            <a:ext cx="5105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3" name="">
            <a:extLst xmlns:a="http://schemas.openxmlformats.org/drawingml/2006/main">
              <a:ext uri="{FF2B5EF4-FFF2-40B4-BE49-F238E27FC236}">
                <a16:creationId xmlns:a16="http://schemas.microsoft.com/office/drawing/2014/main" id="{BEA08644-B239-4808-8A34-936B77707651}"/>
              </a:ext>
            </a:extLst>
          </p:cNvPr>
          <p:cNvSpPr>
            <a:spLocks xmlns:a="http://schemas.openxmlformats.org/drawingml/2006/main" noGrp="1"/>
          </p:cNvSpPr>
          <p:nvPr/>
        </p:nvSpPr>
        <p:spPr>
          <a:xfrm xmlns:a="http://schemas.openxmlformats.org/drawingml/2006/main">
            <a:off x="6400800" y="2324100"/>
            <a:ext cx="5105400"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333333"/>
                </a:solidFill>
                <a:latin typeface="Arial"/>
                <a:ea typeface="Arial"/>
                <a:cs typeface="Arial"/>
              </a:defRPr>
            </a:pPr>
            <a:r>
              <a:rPr sz="1350" b="0" i="0">
                <a:solidFill>
                  <a:srgbClr val="333333"/>
                </a:solidFill>
                <a:latin typeface="Arial"/>
                <a:ea typeface="Arial"/>
                <a:cs typeface="Arial"/>
              </a:rPr>
              <a:t>Purpose: cross-architecture confirmation</a:t>
            </a:r>
          </a:p>
          <a:p xmlns:a="http://schemas.openxmlformats.org/drawingml/2006/main">
            <a:r>
              <a:t/>
            </a:r>
          </a:p>
          <a:p xmlns:a="http://schemas.openxmlformats.org/drawingml/2006/main">
            <a:pPr algn="l">
              <a:lnSpc>
                <a:spcPct val="108000"/>
              </a:lnSpc>
              <a:buNone/>
              <a:defRPr sz="1350" b="0" i="0">
                <a:solidFill>
                  <a:srgbClr val="333333"/>
                </a:solidFill>
                <a:latin typeface="Arial"/>
                <a:ea typeface="Arial"/>
                <a:cs typeface="Arial"/>
              </a:defRPr>
            </a:pPr>
            <a:r>
              <a:rPr sz="1350" b="0" i="0">
                <a:solidFill>
                  <a:srgbClr val="333333"/>
                </a:solidFill>
                <a:latin typeface="Arial"/>
                <a:ea typeface="Arial"/>
                <a:cs typeface="Arial"/>
              </a:rPr>
              <a:t>• 224×224 images, 100 classes</a:t>
            </a:r>
          </a:p>
          <a:p xmlns:a="http://schemas.openxmlformats.org/drawingml/2006/main">
            <a:pPr algn="l">
              <a:lnSpc>
                <a:spcPct val="108000"/>
              </a:lnSpc>
              <a:buNone/>
              <a:defRPr sz="1350" b="0" i="0">
                <a:solidFill>
                  <a:srgbClr val="333333"/>
                </a:solidFill>
                <a:latin typeface="Arial"/>
                <a:ea typeface="Arial"/>
                <a:cs typeface="Arial"/>
              </a:defRPr>
            </a:pPr>
            <a:r>
              <a:rPr sz="1350" b="0" i="0">
                <a:solidFill>
                  <a:srgbClr val="333333"/>
                </a:solidFill>
                <a:latin typeface="Arial"/>
                <a:ea typeface="Arial"/>
                <a:cs typeface="Arial"/>
              </a:rPr>
              <a:t>• 130k train / 5k validation</a:t>
            </a:r>
          </a:p>
          <a:p xmlns:a="http://schemas.openxmlformats.org/drawingml/2006/main">
            <a:pPr algn="l">
              <a:lnSpc>
                <a:spcPct val="108000"/>
              </a:lnSpc>
              <a:buNone/>
              <a:defRPr sz="1350" b="0" i="0">
                <a:solidFill>
                  <a:srgbClr val="333333"/>
                </a:solidFill>
                <a:latin typeface="Arial"/>
                <a:ea typeface="Arial"/>
                <a:cs typeface="Arial"/>
              </a:defRPr>
            </a:pPr>
            <a:r>
              <a:rPr sz="1350" b="0" i="0">
                <a:solidFill>
                  <a:srgbClr val="333333"/>
                </a:solidFill>
                <a:latin typeface="Arial"/>
                <a:ea typeface="Arial"/>
                <a:cs typeface="Arial"/>
              </a:rPr>
              <a:t>• Published TinyViT-5M topology, task head: 5.10M params</a:t>
            </a:r>
          </a:p>
          <a:p xmlns:a="http://schemas.openxmlformats.org/drawingml/2006/main">
            <a:pPr algn="l">
              <a:lnSpc>
                <a:spcPct val="108000"/>
              </a:lnSpc>
              <a:buNone/>
              <a:defRPr sz="1350" b="0" i="0">
                <a:solidFill>
                  <a:srgbClr val="333333"/>
                </a:solidFill>
                <a:latin typeface="Arial"/>
                <a:ea typeface="Arial"/>
                <a:cs typeface="Arial"/>
              </a:defRPr>
            </a:pPr>
            <a:r>
              <a:rPr sz="1350" b="0" i="0">
                <a:solidFill>
                  <a:srgbClr val="333333"/>
                </a:solidFill>
                <a:latin typeface="Arial"/>
                <a:ea typeface="Arial"/>
                <a:cs typeface="Arial"/>
              </a:rPr>
              <a:t>• Local-window attention + hierarchical stages</a:t>
            </a:r>
          </a:p>
          <a:p xmlns:a="http://schemas.openxmlformats.org/drawingml/2006/main">
            <a:pPr algn="l">
              <a:lnSpc>
                <a:spcPct val="108000"/>
              </a:lnSpc>
              <a:buNone/>
              <a:defRPr sz="1350" b="0" i="0">
                <a:solidFill>
                  <a:srgbClr val="333333"/>
                </a:solidFill>
                <a:latin typeface="Arial"/>
                <a:ea typeface="Arial"/>
                <a:cs typeface="Arial"/>
              </a:defRPr>
            </a:pPr>
            <a:r>
              <a:rPr sz="1350" b="0" i="0">
                <a:solidFill>
                  <a:srgbClr val="333333"/>
                </a:solidFill>
                <a:latin typeface="Arial"/>
                <a:ea typeface="Arial"/>
                <a:cs typeface="Arial"/>
              </a:rPr>
              <a:t>• Selected cells confirmed on seeds 42–44</a:t>
            </a:r>
          </a:p>
        </p:txBody>
      </p:sp>
    </p:spTree>
    <p:extLst>
      <p:ext uri="{BB962C8B-B14F-4D97-AF65-F5344CB8AC3E}">
        <p14:creationId xmlns:p14="http://schemas.microsoft.com/office/powerpoint/2010/main" val="9125568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slide-title">
            <a:extLst xmlns:a="http://schemas.openxmlformats.org/drawingml/2006/main">
              <a:ext uri="{FF2B5EF4-FFF2-40B4-BE49-F238E27FC236}">
                <a16:creationId xmlns:a16="http://schemas.microsoft.com/office/drawing/2014/main" id="{C882B838-6EF2-43FA-A45D-47B04D838521}"/>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ResNet-18 and CIFAR-100</a:t>
            </a:r>
          </a:p>
        </p:txBody>
      </p:sp>
      <p:sp>
        <p:nvSpPr>
          <p:cNvPr id="2" name="">
            <a:extLst xmlns:a="http://schemas.openxmlformats.org/drawingml/2006/main">
              <a:ext uri="{FF2B5EF4-FFF2-40B4-BE49-F238E27FC236}">
                <a16:creationId xmlns:a16="http://schemas.microsoft.com/office/drawing/2014/main" id="{9A4F9079-B911-4B24-A499-7CD1CAB04A6A}"/>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BF5F275E-28E6-40B6-8BC6-C2BD515411FC}"/>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BE574B8-FDB4-4A26-A707-71FD0810D61E}"/>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9D52CE64-3797-4C4D-9ED2-73D2F64B4430}"/>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11</a:t>
            </a:r>
          </a:p>
        </p:txBody>
      </p:sp>
      <p:sp>
        <p:nvSpPr>
          <p:cNvPr id="6" name="">
            <a:extLst xmlns:a="http://schemas.openxmlformats.org/drawingml/2006/main">
              <a:ext uri="{FF2B5EF4-FFF2-40B4-BE49-F238E27FC236}">
                <a16:creationId xmlns:a16="http://schemas.microsoft.com/office/drawing/2014/main" id="{347AA7C1-AEB2-4169-AED8-B03EF62F7E0C}"/>
              </a:ext>
            </a:extLst>
          </p:cNvPr>
          <p:cNvSpPr>
            <a:spLocks xmlns:a="http://schemas.openxmlformats.org/drawingml/2006/main" noGrp="1"/>
          </p:cNvSpPr>
          <p:nvPr/>
        </p:nvSpPr>
        <p:spPr>
          <a:xfrm xmlns:a="http://schemas.openxmlformats.org/drawingml/2006/main">
            <a:off x="876300" y="169545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555555"/>
                </a:solidFill>
                <a:latin typeface="Arial"/>
                <a:ea typeface="Arial"/>
                <a:cs typeface="Arial"/>
              </a:defRPr>
            </a:pPr>
            <a:r>
              <a:rPr sz="2550" b="1" i="0">
                <a:solidFill>
                  <a:srgbClr val="555555"/>
                </a:solidFill>
                <a:latin typeface="Arial"/>
                <a:ea typeface="Arial"/>
                <a:cs typeface="Arial"/>
              </a:rPr>
              <a:t>50,000</a:t>
            </a:r>
          </a:p>
        </p:txBody>
      </p:sp>
      <p:sp>
        <p:nvSpPr>
          <p:cNvPr id="7" name="">
            <a:extLst xmlns:a="http://schemas.openxmlformats.org/drawingml/2006/main">
              <a:ext uri="{FF2B5EF4-FFF2-40B4-BE49-F238E27FC236}">
                <a16:creationId xmlns:a16="http://schemas.microsoft.com/office/drawing/2014/main" id="{48F9A2CF-BF19-42CF-A741-4D04FD64FE5A}"/>
              </a:ext>
            </a:extLst>
          </p:cNvPr>
          <p:cNvSpPr>
            <a:spLocks xmlns:a="http://schemas.openxmlformats.org/drawingml/2006/main" noGrp="1"/>
          </p:cNvSpPr>
          <p:nvPr/>
        </p:nvSpPr>
        <p:spPr>
          <a:xfrm xmlns:a="http://schemas.openxmlformats.org/drawingml/2006/main">
            <a:off x="876300" y="217170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i="0">
                <a:solidFill>
                  <a:srgbClr val="666666"/>
                </a:solidFill>
                <a:latin typeface="Arial"/>
                <a:ea typeface="Arial"/>
                <a:cs typeface="Arial"/>
              </a:defRPr>
            </a:pPr>
            <a:r>
              <a:rPr sz="1050" b="0" i="0">
                <a:solidFill>
                  <a:srgbClr val="666666"/>
                </a:solidFill>
                <a:latin typeface="Arial"/>
                <a:ea typeface="Arial"/>
                <a:cs typeface="Arial"/>
              </a:rPr>
              <a:t>training images</a:t>
            </a:r>
          </a:p>
        </p:txBody>
      </p:sp>
      <p:sp>
        <p:nvSpPr>
          <p:cNvPr id="8" name="">
            <a:extLst xmlns:a="http://schemas.openxmlformats.org/drawingml/2006/main">
              <a:ext uri="{FF2B5EF4-FFF2-40B4-BE49-F238E27FC236}">
                <a16:creationId xmlns:a16="http://schemas.microsoft.com/office/drawing/2014/main" id="{C633760E-20FC-4DEC-85FC-E7B4C0BAD470}"/>
              </a:ext>
            </a:extLst>
          </p:cNvPr>
          <p:cNvSpPr>
            <a:spLocks xmlns:a="http://schemas.openxmlformats.org/drawingml/2006/main" noGrp="1"/>
          </p:cNvSpPr>
          <p:nvPr/>
        </p:nvSpPr>
        <p:spPr>
          <a:xfrm xmlns:a="http://schemas.openxmlformats.org/drawingml/2006/main">
            <a:off x="3257550" y="169545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555555"/>
                </a:solidFill>
                <a:latin typeface="Arial"/>
                <a:ea typeface="Arial"/>
                <a:cs typeface="Arial"/>
              </a:defRPr>
            </a:pPr>
            <a:r>
              <a:rPr sz="2550" b="1" i="0">
                <a:solidFill>
                  <a:srgbClr val="555555"/>
                </a:solidFill>
                <a:latin typeface="Arial"/>
                <a:ea typeface="Arial"/>
                <a:cs typeface="Arial"/>
              </a:rPr>
              <a:t>10,000</a:t>
            </a:r>
          </a:p>
        </p:txBody>
      </p:sp>
      <p:sp>
        <p:nvSpPr>
          <p:cNvPr id="9" name="">
            <a:extLst xmlns:a="http://schemas.openxmlformats.org/drawingml/2006/main">
              <a:ext uri="{FF2B5EF4-FFF2-40B4-BE49-F238E27FC236}">
                <a16:creationId xmlns:a16="http://schemas.microsoft.com/office/drawing/2014/main" id="{B187FD23-1CDB-459D-8A50-C44BCAC3D6AA}"/>
              </a:ext>
            </a:extLst>
          </p:cNvPr>
          <p:cNvSpPr>
            <a:spLocks xmlns:a="http://schemas.openxmlformats.org/drawingml/2006/main" noGrp="1"/>
          </p:cNvSpPr>
          <p:nvPr/>
        </p:nvSpPr>
        <p:spPr>
          <a:xfrm xmlns:a="http://schemas.openxmlformats.org/drawingml/2006/main">
            <a:off x="3257550" y="217170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i="0">
                <a:solidFill>
                  <a:srgbClr val="666666"/>
                </a:solidFill>
                <a:latin typeface="Arial"/>
                <a:ea typeface="Arial"/>
                <a:cs typeface="Arial"/>
              </a:defRPr>
            </a:pPr>
            <a:r>
              <a:rPr sz="1050" b="0" i="0">
                <a:solidFill>
                  <a:srgbClr val="666666"/>
                </a:solidFill>
                <a:latin typeface="Arial"/>
                <a:ea typeface="Arial"/>
                <a:cs typeface="Arial"/>
              </a:rPr>
              <a:t>test images</a:t>
            </a:r>
          </a:p>
        </p:txBody>
      </p:sp>
      <p:sp>
        <p:nvSpPr>
          <p:cNvPr id="10" name="">
            <a:extLst xmlns:a="http://schemas.openxmlformats.org/drawingml/2006/main">
              <a:ext uri="{FF2B5EF4-FFF2-40B4-BE49-F238E27FC236}">
                <a16:creationId xmlns:a16="http://schemas.microsoft.com/office/drawing/2014/main" id="{4276F4B8-9C81-4E3B-AD74-4A1759AE6C37}"/>
              </a:ext>
            </a:extLst>
          </p:cNvPr>
          <p:cNvSpPr>
            <a:spLocks xmlns:a="http://schemas.openxmlformats.org/drawingml/2006/main" noGrp="1"/>
          </p:cNvSpPr>
          <p:nvPr/>
        </p:nvSpPr>
        <p:spPr>
          <a:xfrm xmlns:a="http://schemas.openxmlformats.org/drawingml/2006/main">
            <a:off x="5638800" y="169545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555555"/>
                </a:solidFill>
                <a:latin typeface="Arial"/>
                <a:ea typeface="Arial"/>
                <a:cs typeface="Arial"/>
              </a:defRPr>
            </a:pPr>
            <a:r>
              <a:rPr sz="2550" b="1" i="0">
                <a:solidFill>
                  <a:srgbClr val="555555"/>
                </a:solidFill>
                <a:latin typeface="Arial"/>
                <a:ea typeface="Arial"/>
                <a:cs typeface="Arial"/>
              </a:rPr>
              <a:t>100</a:t>
            </a:r>
          </a:p>
        </p:txBody>
      </p:sp>
      <p:sp>
        <p:nvSpPr>
          <p:cNvPr id="11" name="">
            <a:extLst xmlns:a="http://schemas.openxmlformats.org/drawingml/2006/main">
              <a:ext uri="{FF2B5EF4-FFF2-40B4-BE49-F238E27FC236}">
                <a16:creationId xmlns:a16="http://schemas.microsoft.com/office/drawing/2014/main" id="{5E10DFA3-AF28-45ED-A266-F50BDC5BFBFA}"/>
              </a:ext>
            </a:extLst>
          </p:cNvPr>
          <p:cNvSpPr>
            <a:spLocks xmlns:a="http://schemas.openxmlformats.org/drawingml/2006/main" noGrp="1"/>
          </p:cNvSpPr>
          <p:nvPr/>
        </p:nvSpPr>
        <p:spPr>
          <a:xfrm xmlns:a="http://schemas.openxmlformats.org/drawingml/2006/main">
            <a:off x="5638800" y="217170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i="0">
                <a:solidFill>
                  <a:srgbClr val="666666"/>
                </a:solidFill>
                <a:latin typeface="Arial"/>
                <a:ea typeface="Arial"/>
                <a:cs typeface="Arial"/>
              </a:defRPr>
            </a:pPr>
            <a:r>
              <a:rPr sz="1050" b="0" i="0">
                <a:solidFill>
                  <a:srgbClr val="666666"/>
                </a:solidFill>
                <a:latin typeface="Arial"/>
                <a:ea typeface="Arial"/>
                <a:cs typeface="Arial"/>
              </a:rPr>
              <a:t>classes</a:t>
            </a:r>
          </a:p>
        </p:txBody>
      </p:sp>
      <p:sp>
        <p:nvSpPr>
          <p:cNvPr id="12" name="">
            <a:extLst xmlns:a="http://schemas.openxmlformats.org/drawingml/2006/main">
              <a:ext uri="{FF2B5EF4-FFF2-40B4-BE49-F238E27FC236}">
                <a16:creationId xmlns:a16="http://schemas.microsoft.com/office/drawing/2014/main" id="{D1FFDCDC-5D58-44BB-A851-530A385C7DD2}"/>
              </a:ext>
            </a:extLst>
          </p:cNvPr>
          <p:cNvSpPr>
            <a:spLocks xmlns:a="http://schemas.openxmlformats.org/drawingml/2006/main" noGrp="1"/>
          </p:cNvSpPr>
          <p:nvPr/>
        </p:nvSpPr>
        <p:spPr>
          <a:xfrm xmlns:a="http://schemas.openxmlformats.org/drawingml/2006/main">
            <a:off x="8020050" y="169545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555555"/>
                </a:solidFill>
                <a:latin typeface="Arial"/>
                <a:ea typeface="Arial"/>
                <a:cs typeface="Arial"/>
              </a:defRPr>
            </a:pPr>
            <a:r>
              <a:rPr sz="2550" b="1" i="0">
                <a:solidFill>
                  <a:srgbClr val="555555"/>
                </a:solidFill>
                <a:latin typeface="Arial"/>
                <a:ea typeface="Arial"/>
                <a:cs typeface="Arial"/>
              </a:rPr>
              <a:t>32 × 32</a:t>
            </a:r>
          </a:p>
        </p:txBody>
      </p:sp>
      <p:sp>
        <p:nvSpPr>
          <p:cNvPr id="13" name="">
            <a:extLst xmlns:a="http://schemas.openxmlformats.org/drawingml/2006/main">
              <a:ext uri="{FF2B5EF4-FFF2-40B4-BE49-F238E27FC236}">
                <a16:creationId xmlns:a16="http://schemas.microsoft.com/office/drawing/2014/main" id="{44C1B7A3-A080-49C4-99C1-FC2C632BFACE}"/>
              </a:ext>
            </a:extLst>
          </p:cNvPr>
          <p:cNvSpPr>
            <a:spLocks xmlns:a="http://schemas.openxmlformats.org/drawingml/2006/main" noGrp="1"/>
          </p:cNvSpPr>
          <p:nvPr/>
        </p:nvSpPr>
        <p:spPr>
          <a:xfrm xmlns:a="http://schemas.openxmlformats.org/drawingml/2006/main">
            <a:off x="8020050" y="2171700"/>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i="0">
                <a:solidFill>
                  <a:srgbClr val="666666"/>
                </a:solidFill>
                <a:latin typeface="Arial"/>
                <a:ea typeface="Arial"/>
                <a:cs typeface="Arial"/>
              </a:defRPr>
            </a:pPr>
            <a:r>
              <a:rPr sz="1050" b="0" i="0">
                <a:solidFill>
                  <a:srgbClr val="666666"/>
                </a:solidFill>
                <a:latin typeface="Arial"/>
                <a:ea typeface="Arial"/>
                <a:cs typeface="Arial"/>
              </a:rPr>
              <a:t>input resolution</a:t>
            </a:r>
          </a:p>
        </p:txBody>
      </p:sp>
      <p:sp>
        <p:nvSpPr>
          <p:cNvPr id="14" name="">
            <a:extLst xmlns:a="http://schemas.openxmlformats.org/drawingml/2006/main">
              <a:ext uri="{FF2B5EF4-FFF2-40B4-BE49-F238E27FC236}">
                <a16:creationId xmlns:a16="http://schemas.microsoft.com/office/drawing/2014/main" id="{5FB91AC2-A5D3-474F-93F2-13C2ECF9111D}"/>
              </a:ext>
            </a:extLst>
          </p:cNvPr>
          <p:cNvSpPr>
            <a:spLocks xmlns:a="http://schemas.openxmlformats.org/drawingml/2006/main" noGrp="1"/>
          </p:cNvSpPr>
          <p:nvPr/>
        </p:nvSpPr>
        <p:spPr>
          <a:xfrm xmlns:a="http://schemas.openxmlformats.org/drawingml/2006/main">
            <a:off x="685800" y="2952750"/>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5" name="">
            <a:extLst xmlns:a="http://schemas.openxmlformats.org/drawingml/2006/main">
              <a:ext uri="{FF2B5EF4-FFF2-40B4-BE49-F238E27FC236}">
                <a16:creationId xmlns:a16="http://schemas.microsoft.com/office/drawing/2014/main" id="{A5FEC582-AA78-47E4-908F-1AB9584A22C5}"/>
              </a:ext>
            </a:extLst>
          </p:cNvPr>
          <p:cNvSpPr>
            <a:spLocks xmlns:a="http://schemas.openxmlformats.org/drawingml/2006/main" noGrp="1"/>
          </p:cNvSpPr>
          <p:nvPr/>
        </p:nvSpPr>
        <p:spPr>
          <a:xfrm xmlns:a="http://schemas.openxmlformats.org/drawingml/2006/main">
            <a:off x="685800" y="327660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MODEL</a:t>
            </a:r>
          </a:p>
        </p:txBody>
      </p:sp>
      <p:sp>
        <p:nvSpPr>
          <p:cNvPr id="16" name="">
            <a:extLst xmlns:a="http://schemas.openxmlformats.org/drawingml/2006/main">
              <a:ext uri="{FF2B5EF4-FFF2-40B4-BE49-F238E27FC236}">
                <a16:creationId xmlns:a16="http://schemas.microsoft.com/office/drawing/2014/main" id="{F9693D19-ECA6-485E-8480-F567536BC2F5}"/>
              </a:ext>
            </a:extLst>
          </p:cNvPr>
          <p:cNvSpPr>
            <a:spLocks xmlns:a="http://schemas.openxmlformats.org/drawingml/2006/main" noGrp="1"/>
          </p:cNvSpPr>
          <p:nvPr/>
        </p:nvSpPr>
        <p:spPr>
          <a:xfrm xmlns:a="http://schemas.openxmlformats.org/drawingml/2006/main">
            <a:off x="685800" y="35433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Architecture</a:t>
            </a:r>
          </a:p>
        </p:txBody>
      </p:sp>
      <p:sp>
        <p:nvSpPr>
          <p:cNvPr id="17" name="">
            <a:extLst xmlns:a="http://schemas.openxmlformats.org/drawingml/2006/main">
              <a:ext uri="{FF2B5EF4-FFF2-40B4-BE49-F238E27FC236}">
                <a16:creationId xmlns:a16="http://schemas.microsoft.com/office/drawing/2014/main" id="{97A66D9A-0A46-4F02-BBFC-77D5EF7A9B37}"/>
              </a:ext>
            </a:extLst>
          </p:cNvPr>
          <p:cNvSpPr>
            <a:spLocks xmlns:a="http://schemas.openxmlformats.org/drawingml/2006/main" noGrp="1"/>
          </p:cNvSpPr>
          <p:nvPr/>
        </p:nvSpPr>
        <p:spPr>
          <a:xfrm xmlns:a="http://schemas.openxmlformats.org/drawingml/2006/main">
            <a:off x="685800" y="399097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8" name="">
            <a:extLst xmlns:a="http://schemas.openxmlformats.org/drawingml/2006/main">
              <a:ext uri="{FF2B5EF4-FFF2-40B4-BE49-F238E27FC236}">
                <a16:creationId xmlns:a16="http://schemas.microsoft.com/office/drawing/2014/main" id="{840DAAC8-0308-4A55-AA81-4BDB9F7C14E9}"/>
              </a:ext>
            </a:extLst>
          </p:cNvPr>
          <p:cNvSpPr>
            <a:spLocks xmlns:a="http://schemas.openxmlformats.org/drawingml/2006/main" noGrp="1"/>
          </p:cNvSpPr>
          <p:nvPr/>
        </p:nvSpPr>
        <p:spPr>
          <a:xfrm xmlns:a="http://schemas.openxmlformats.org/drawingml/2006/main">
            <a:off x="685800" y="4133850"/>
            <a:ext cx="3352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Torchvision ResNet-18 with residual blocks, a 3×3 stride-1 stem, and no initial max pooling.</a:t>
            </a:r>
          </a:p>
        </p:txBody>
      </p:sp>
      <p:sp>
        <p:nvSpPr>
          <p:cNvPr id="19" name="">
            <a:extLst xmlns:a="http://schemas.openxmlformats.org/drawingml/2006/main">
              <a:ext uri="{FF2B5EF4-FFF2-40B4-BE49-F238E27FC236}">
                <a16:creationId xmlns:a16="http://schemas.microsoft.com/office/drawing/2014/main" id="{A7343B0C-67AF-4ADE-8530-DCAAB1A37D08}"/>
              </a:ext>
            </a:extLst>
          </p:cNvPr>
          <p:cNvSpPr>
            <a:spLocks xmlns:a="http://schemas.openxmlformats.org/drawingml/2006/main" noGrp="1"/>
          </p:cNvSpPr>
          <p:nvPr/>
        </p:nvSpPr>
        <p:spPr>
          <a:xfrm xmlns:a="http://schemas.openxmlformats.org/drawingml/2006/main">
            <a:off x="4419600" y="327660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DATA</a:t>
            </a:r>
          </a:p>
        </p:txBody>
      </p:sp>
      <p:sp>
        <p:nvSpPr>
          <p:cNvPr id="20" name="">
            <a:extLst xmlns:a="http://schemas.openxmlformats.org/drawingml/2006/main">
              <a:ext uri="{FF2B5EF4-FFF2-40B4-BE49-F238E27FC236}">
                <a16:creationId xmlns:a16="http://schemas.microsoft.com/office/drawing/2014/main" id="{8B8A5AA3-D7B8-4E55-96F0-91B3FCDC2BB9}"/>
              </a:ext>
            </a:extLst>
          </p:cNvPr>
          <p:cNvSpPr>
            <a:spLocks xmlns:a="http://schemas.openxmlformats.org/drawingml/2006/main" noGrp="1"/>
          </p:cNvSpPr>
          <p:nvPr/>
        </p:nvSpPr>
        <p:spPr>
          <a:xfrm xmlns:a="http://schemas.openxmlformats.org/drawingml/2006/main">
            <a:off x="4419600" y="35433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Augmentation</a:t>
            </a:r>
          </a:p>
        </p:txBody>
      </p:sp>
      <p:sp>
        <p:nvSpPr>
          <p:cNvPr id="21" name="">
            <a:extLst xmlns:a="http://schemas.openxmlformats.org/drawingml/2006/main">
              <a:ext uri="{FF2B5EF4-FFF2-40B4-BE49-F238E27FC236}">
                <a16:creationId xmlns:a16="http://schemas.microsoft.com/office/drawing/2014/main" id="{E5388E3A-FE72-4F46-9A77-F6432EC17BF0}"/>
              </a:ext>
            </a:extLst>
          </p:cNvPr>
          <p:cNvSpPr>
            <a:spLocks xmlns:a="http://schemas.openxmlformats.org/drawingml/2006/main" noGrp="1"/>
          </p:cNvSpPr>
          <p:nvPr/>
        </p:nvSpPr>
        <p:spPr>
          <a:xfrm xmlns:a="http://schemas.openxmlformats.org/drawingml/2006/main">
            <a:off x="4419600" y="399097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22" name="">
            <a:extLst xmlns:a="http://schemas.openxmlformats.org/drawingml/2006/main">
              <a:ext uri="{FF2B5EF4-FFF2-40B4-BE49-F238E27FC236}">
                <a16:creationId xmlns:a16="http://schemas.microsoft.com/office/drawing/2014/main" id="{7C42EDDC-E2CE-4664-A42D-E868D43BD95F}"/>
              </a:ext>
            </a:extLst>
          </p:cNvPr>
          <p:cNvSpPr>
            <a:spLocks xmlns:a="http://schemas.openxmlformats.org/drawingml/2006/main" noGrp="1"/>
          </p:cNvSpPr>
          <p:nvPr/>
        </p:nvSpPr>
        <p:spPr>
          <a:xfrm xmlns:a="http://schemas.openxmlformats.org/drawingml/2006/main">
            <a:off x="4419600" y="4133850"/>
            <a:ext cx="3352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Random crop with padding 4, horizontal flip, and standard CIFAR normalization.</a:t>
            </a:r>
          </a:p>
        </p:txBody>
      </p:sp>
      <p:sp>
        <p:nvSpPr>
          <p:cNvPr id="23" name="">
            <a:extLst xmlns:a="http://schemas.openxmlformats.org/drawingml/2006/main">
              <a:ext uri="{FF2B5EF4-FFF2-40B4-BE49-F238E27FC236}">
                <a16:creationId xmlns:a16="http://schemas.microsoft.com/office/drawing/2014/main" id="{34DB60B0-D094-4EDB-BB5E-FB4955ACF463}"/>
              </a:ext>
            </a:extLst>
          </p:cNvPr>
          <p:cNvSpPr>
            <a:spLocks xmlns:a="http://schemas.openxmlformats.org/drawingml/2006/main" noGrp="1"/>
          </p:cNvSpPr>
          <p:nvPr/>
        </p:nvSpPr>
        <p:spPr>
          <a:xfrm xmlns:a="http://schemas.openxmlformats.org/drawingml/2006/main">
            <a:off x="8153400" y="327660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EVIDENCE</a:t>
            </a:r>
          </a:p>
        </p:txBody>
      </p:sp>
      <p:sp>
        <p:nvSpPr>
          <p:cNvPr id="24" name="">
            <a:extLst xmlns:a="http://schemas.openxmlformats.org/drawingml/2006/main">
              <a:ext uri="{FF2B5EF4-FFF2-40B4-BE49-F238E27FC236}">
                <a16:creationId xmlns:a16="http://schemas.microsoft.com/office/drawing/2014/main" id="{029874F2-CBBF-43E1-A363-1914F6CDA8E7}"/>
              </a:ext>
            </a:extLst>
          </p:cNvPr>
          <p:cNvSpPr>
            <a:spLocks xmlns:a="http://schemas.openxmlformats.org/drawingml/2006/main" noGrp="1"/>
          </p:cNvSpPr>
          <p:nvPr/>
        </p:nvSpPr>
        <p:spPr>
          <a:xfrm xmlns:a="http://schemas.openxmlformats.org/drawingml/2006/main">
            <a:off x="8153400" y="35433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Role in the study</a:t>
            </a:r>
          </a:p>
        </p:txBody>
      </p:sp>
      <p:sp>
        <p:nvSpPr>
          <p:cNvPr id="25" name="">
            <a:extLst xmlns:a="http://schemas.openxmlformats.org/drawingml/2006/main">
              <a:ext uri="{FF2B5EF4-FFF2-40B4-BE49-F238E27FC236}">
                <a16:creationId xmlns:a16="http://schemas.microsoft.com/office/drawing/2014/main" id="{CBB92557-B10F-4E3E-9AEA-160E435F1936}"/>
              </a:ext>
            </a:extLst>
          </p:cNvPr>
          <p:cNvSpPr>
            <a:spLocks xmlns:a="http://schemas.openxmlformats.org/drawingml/2006/main" noGrp="1"/>
          </p:cNvSpPr>
          <p:nvPr/>
        </p:nvSpPr>
        <p:spPr>
          <a:xfrm xmlns:a="http://schemas.openxmlformats.org/drawingml/2006/main">
            <a:off x="8153400" y="399097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26" name="">
            <a:extLst xmlns:a="http://schemas.openxmlformats.org/drawingml/2006/main">
              <a:ext uri="{FF2B5EF4-FFF2-40B4-BE49-F238E27FC236}">
                <a16:creationId xmlns:a16="http://schemas.microsoft.com/office/drawing/2014/main" id="{D22DE260-3259-4C50-8092-4A4895700272}"/>
              </a:ext>
            </a:extLst>
          </p:cNvPr>
          <p:cNvSpPr>
            <a:spLocks xmlns:a="http://schemas.openxmlformats.org/drawingml/2006/main" noGrp="1"/>
          </p:cNvSpPr>
          <p:nvPr/>
        </p:nvSpPr>
        <p:spPr>
          <a:xfrm xmlns:a="http://schemas.openxmlformats.org/drawingml/2006/main">
            <a:off x="8153400" y="4133850"/>
            <a:ext cx="3352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Broad grids, coefficient sweeps, full factorials, and three-seed confirmations where claims are made.</a:t>
            </a:r>
          </a:p>
        </p:txBody>
      </p:sp>
    </p:spTree>
    <p:extLst>
      <p:ext uri="{BB962C8B-B14F-4D97-AF65-F5344CB8AC3E}">
        <p14:creationId xmlns:p14="http://schemas.microsoft.com/office/powerpoint/2010/main" val="177515471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slide-title">
            <a:extLst xmlns:a="http://schemas.openxmlformats.org/drawingml/2006/main">
              <a:ext uri="{FF2B5EF4-FFF2-40B4-BE49-F238E27FC236}">
                <a16:creationId xmlns:a16="http://schemas.microsoft.com/office/drawing/2014/main" id="{AFF2F445-2C40-4E39-A32B-2D29033456EC}"/>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TinyViT-5M and ImageNet-100</a:t>
            </a:r>
          </a:p>
        </p:txBody>
      </p:sp>
      <p:sp>
        <p:nvSpPr>
          <p:cNvPr id="2" name="">
            <a:extLst xmlns:a="http://schemas.openxmlformats.org/drawingml/2006/main">
              <a:ext uri="{FF2B5EF4-FFF2-40B4-BE49-F238E27FC236}">
                <a16:creationId xmlns:a16="http://schemas.microsoft.com/office/drawing/2014/main" id="{56BC5286-0320-4D29-BCE5-AC735C396889}"/>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C1A54A27-4526-4BFE-AF5D-9E0A5AAD486B}"/>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32038E6-1FA6-470A-92AA-DAAB33F8D4DC}"/>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32706711-5466-40C6-8E43-C954E4279274}"/>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12</a:t>
            </a:r>
          </a:p>
        </p:txBody>
      </p:sp>
      <p:sp>
        <p:nvSpPr>
          <p:cNvPr id="6" name="">
            <a:extLst xmlns:a="http://schemas.openxmlformats.org/drawingml/2006/main">
              <a:ext uri="{FF2B5EF4-FFF2-40B4-BE49-F238E27FC236}">
                <a16:creationId xmlns:a16="http://schemas.microsoft.com/office/drawing/2014/main" id="{424A2518-2D27-4618-BD2F-B98D4011A3B7}"/>
              </a:ext>
            </a:extLst>
          </p:cNvPr>
          <p:cNvSpPr>
            <a:spLocks xmlns:a="http://schemas.openxmlformats.org/drawingml/2006/main" noGrp="1"/>
          </p:cNvSpPr>
          <p:nvPr/>
        </p:nvSpPr>
        <p:spPr>
          <a:xfrm xmlns:a="http://schemas.openxmlformats.org/drawingml/2006/main">
            <a:off x="723900" y="1676400"/>
            <a:ext cx="2076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444444"/>
                </a:solidFill>
                <a:latin typeface="Arial"/>
                <a:ea typeface="Arial"/>
                <a:cs typeface="Arial"/>
              </a:defRPr>
            </a:pPr>
            <a:r>
              <a:rPr sz="2550" b="1" i="0">
                <a:solidFill>
                  <a:srgbClr val="444444"/>
                </a:solidFill>
                <a:latin typeface="Arial"/>
                <a:ea typeface="Arial"/>
                <a:cs typeface="Arial"/>
              </a:rPr>
              <a:t>130k</a:t>
            </a:r>
          </a:p>
        </p:txBody>
      </p:sp>
      <p:sp>
        <p:nvSpPr>
          <p:cNvPr id="7" name="">
            <a:extLst xmlns:a="http://schemas.openxmlformats.org/drawingml/2006/main">
              <a:ext uri="{FF2B5EF4-FFF2-40B4-BE49-F238E27FC236}">
                <a16:creationId xmlns:a16="http://schemas.microsoft.com/office/drawing/2014/main" id="{8B032991-0DED-4D18-A7AB-C1607D288CB2}"/>
              </a:ext>
            </a:extLst>
          </p:cNvPr>
          <p:cNvSpPr>
            <a:spLocks xmlns:a="http://schemas.openxmlformats.org/drawingml/2006/main" noGrp="1"/>
          </p:cNvSpPr>
          <p:nvPr/>
        </p:nvSpPr>
        <p:spPr>
          <a:xfrm xmlns:a="http://schemas.openxmlformats.org/drawingml/2006/main">
            <a:off x="723900" y="2152650"/>
            <a:ext cx="2076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i="0">
                <a:solidFill>
                  <a:srgbClr val="666666"/>
                </a:solidFill>
                <a:latin typeface="Arial"/>
                <a:ea typeface="Arial"/>
                <a:cs typeface="Arial"/>
              </a:defRPr>
            </a:pPr>
            <a:r>
              <a:rPr sz="1050" b="0" i="0">
                <a:solidFill>
                  <a:srgbClr val="666666"/>
                </a:solidFill>
                <a:latin typeface="Arial"/>
                <a:ea typeface="Arial"/>
                <a:cs typeface="Arial"/>
              </a:rPr>
              <a:t>training images</a:t>
            </a:r>
          </a:p>
        </p:txBody>
      </p:sp>
      <p:sp>
        <p:nvSpPr>
          <p:cNvPr id="8" name="">
            <a:extLst xmlns:a="http://schemas.openxmlformats.org/drawingml/2006/main">
              <a:ext uri="{FF2B5EF4-FFF2-40B4-BE49-F238E27FC236}">
                <a16:creationId xmlns:a16="http://schemas.microsoft.com/office/drawing/2014/main" id="{3CF51ACA-76D5-403F-A3EB-4DB0EAA466B1}"/>
              </a:ext>
            </a:extLst>
          </p:cNvPr>
          <p:cNvSpPr>
            <a:spLocks xmlns:a="http://schemas.openxmlformats.org/drawingml/2006/main" noGrp="1"/>
          </p:cNvSpPr>
          <p:nvPr/>
        </p:nvSpPr>
        <p:spPr>
          <a:xfrm xmlns:a="http://schemas.openxmlformats.org/drawingml/2006/main">
            <a:off x="2990850" y="1676400"/>
            <a:ext cx="2076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444444"/>
                </a:solidFill>
                <a:latin typeface="Arial"/>
                <a:ea typeface="Arial"/>
                <a:cs typeface="Arial"/>
              </a:defRPr>
            </a:pPr>
            <a:r>
              <a:rPr sz="2550" b="1" i="0">
                <a:solidFill>
                  <a:srgbClr val="444444"/>
                </a:solidFill>
                <a:latin typeface="Arial"/>
                <a:ea typeface="Arial"/>
                <a:cs typeface="Arial"/>
              </a:rPr>
              <a:t>5k</a:t>
            </a:r>
          </a:p>
        </p:txBody>
      </p:sp>
      <p:sp>
        <p:nvSpPr>
          <p:cNvPr id="9" name="">
            <a:extLst xmlns:a="http://schemas.openxmlformats.org/drawingml/2006/main">
              <a:ext uri="{FF2B5EF4-FFF2-40B4-BE49-F238E27FC236}">
                <a16:creationId xmlns:a16="http://schemas.microsoft.com/office/drawing/2014/main" id="{11B9B719-D7F9-41A3-A876-ECD26965668F}"/>
              </a:ext>
            </a:extLst>
          </p:cNvPr>
          <p:cNvSpPr>
            <a:spLocks xmlns:a="http://schemas.openxmlformats.org/drawingml/2006/main" noGrp="1"/>
          </p:cNvSpPr>
          <p:nvPr/>
        </p:nvSpPr>
        <p:spPr>
          <a:xfrm xmlns:a="http://schemas.openxmlformats.org/drawingml/2006/main">
            <a:off x="2990850" y="2152650"/>
            <a:ext cx="2076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i="0">
                <a:solidFill>
                  <a:srgbClr val="666666"/>
                </a:solidFill>
                <a:latin typeface="Arial"/>
                <a:ea typeface="Arial"/>
                <a:cs typeface="Arial"/>
              </a:defRPr>
            </a:pPr>
            <a:r>
              <a:rPr sz="1050" b="0" i="0">
                <a:solidFill>
                  <a:srgbClr val="666666"/>
                </a:solidFill>
                <a:latin typeface="Arial"/>
                <a:ea typeface="Arial"/>
                <a:cs typeface="Arial"/>
              </a:rPr>
              <a:t>validation images</a:t>
            </a:r>
          </a:p>
        </p:txBody>
      </p:sp>
      <p:sp>
        <p:nvSpPr>
          <p:cNvPr id="10" name="">
            <a:extLst xmlns:a="http://schemas.openxmlformats.org/drawingml/2006/main">
              <a:ext uri="{FF2B5EF4-FFF2-40B4-BE49-F238E27FC236}">
                <a16:creationId xmlns:a16="http://schemas.microsoft.com/office/drawing/2014/main" id="{A743E0AD-B8CB-48B4-854B-EF1527FA65CF}"/>
              </a:ext>
            </a:extLst>
          </p:cNvPr>
          <p:cNvSpPr>
            <a:spLocks xmlns:a="http://schemas.openxmlformats.org/drawingml/2006/main" noGrp="1"/>
          </p:cNvSpPr>
          <p:nvPr/>
        </p:nvSpPr>
        <p:spPr>
          <a:xfrm xmlns:a="http://schemas.openxmlformats.org/drawingml/2006/main">
            <a:off x="5257800" y="1676400"/>
            <a:ext cx="2076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444444"/>
                </a:solidFill>
                <a:latin typeface="Arial"/>
                <a:ea typeface="Arial"/>
                <a:cs typeface="Arial"/>
              </a:defRPr>
            </a:pPr>
            <a:r>
              <a:rPr sz="2550" b="1" i="0">
                <a:solidFill>
                  <a:srgbClr val="444444"/>
                </a:solidFill>
                <a:latin typeface="Arial"/>
                <a:ea typeface="Arial"/>
                <a:cs typeface="Arial"/>
              </a:rPr>
              <a:t>100</a:t>
            </a:r>
          </a:p>
        </p:txBody>
      </p:sp>
      <p:sp>
        <p:nvSpPr>
          <p:cNvPr id="11" name="">
            <a:extLst xmlns:a="http://schemas.openxmlformats.org/drawingml/2006/main">
              <a:ext uri="{FF2B5EF4-FFF2-40B4-BE49-F238E27FC236}">
                <a16:creationId xmlns:a16="http://schemas.microsoft.com/office/drawing/2014/main" id="{75F81108-FB32-4D54-A22C-0AD03D3E9F70}"/>
              </a:ext>
            </a:extLst>
          </p:cNvPr>
          <p:cNvSpPr>
            <a:spLocks xmlns:a="http://schemas.openxmlformats.org/drawingml/2006/main" noGrp="1"/>
          </p:cNvSpPr>
          <p:nvPr/>
        </p:nvSpPr>
        <p:spPr>
          <a:xfrm xmlns:a="http://schemas.openxmlformats.org/drawingml/2006/main">
            <a:off x="5257800" y="2152650"/>
            <a:ext cx="2076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i="0">
                <a:solidFill>
                  <a:srgbClr val="666666"/>
                </a:solidFill>
                <a:latin typeface="Arial"/>
                <a:ea typeface="Arial"/>
                <a:cs typeface="Arial"/>
              </a:defRPr>
            </a:pPr>
            <a:r>
              <a:rPr sz="1050" b="0" i="0">
                <a:solidFill>
                  <a:srgbClr val="666666"/>
                </a:solidFill>
                <a:latin typeface="Arial"/>
                <a:ea typeface="Arial"/>
                <a:cs typeface="Arial"/>
              </a:rPr>
              <a:t>classes</a:t>
            </a:r>
          </a:p>
        </p:txBody>
      </p:sp>
      <p:sp>
        <p:nvSpPr>
          <p:cNvPr id="12" name="">
            <a:extLst xmlns:a="http://schemas.openxmlformats.org/drawingml/2006/main">
              <a:ext uri="{FF2B5EF4-FFF2-40B4-BE49-F238E27FC236}">
                <a16:creationId xmlns:a16="http://schemas.microsoft.com/office/drawing/2014/main" id="{B9D979DC-9FBC-4950-BE74-6A8E4EDAA039}"/>
              </a:ext>
            </a:extLst>
          </p:cNvPr>
          <p:cNvSpPr>
            <a:spLocks xmlns:a="http://schemas.openxmlformats.org/drawingml/2006/main" noGrp="1"/>
          </p:cNvSpPr>
          <p:nvPr/>
        </p:nvSpPr>
        <p:spPr>
          <a:xfrm xmlns:a="http://schemas.openxmlformats.org/drawingml/2006/main">
            <a:off x="7524750" y="1676400"/>
            <a:ext cx="2076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444444"/>
                </a:solidFill>
                <a:latin typeface="Arial"/>
                <a:ea typeface="Arial"/>
                <a:cs typeface="Arial"/>
              </a:defRPr>
            </a:pPr>
            <a:r>
              <a:rPr sz="2550" b="1" i="0">
                <a:solidFill>
                  <a:srgbClr val="444444"/>
                </a:solidFill>
                <a:latin typeface="Arial"/>
                <a:ea typeface="Arial"/>
                <a:cs typeface="Arial"/>
              </a:rPr>
              <a:t>224²</a:t>
            </a:r>
          </a:p>
        </p:txBody>
      </p:sp>
      <p:sp>
        <p:nvSpPr>
          <p:cNvPr id="13" name="">
            <a:extLst xmlns:a="http://schemas.openxmlformats.org/drawingml/2006/main">
              <a:ext uri="{FF2B5EF4-FFF2-40B4-BE49-F238E27FC236}">
                <a16:creationId xmlns:a16="http://schemas.microsoft.com/office/drawing/2014/main" id="{9CC19F95-8FB6-406E-A44E-BE7A607C0CEE}"/>
              </a:ext>
            </a:extLst>
          </p:cNvPr>
          <p:cNvSpPr>
            <a:spLocks xmlns:a="http://schemas.openxmlformats.org/drawingml/2006/main" noGrp="1"/>
          </p:cNvSpPr>
          <p:nvPr/>
        </p:nvSpPr>
        <p:spPr>
          <a:xfrm xmlns:a="http://schemas.openxmlformats.org/drawingml/2006/main">
            <a:off x="7524750" y="2152650"/>
            <a:ext cx="2076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i="0">
                <a:solidFill>
                  <a:srgbClr val="666666"/>
                </a:solidFill>
                <a:latin typeface="Arial"/>
                <a:ea typeface="Arial"/>
                <a:cs typeface="Arial"/>
              </a:defRPr>
            </a:pPr>
            <a:r>
              <a:rPr sz="1050" b="0" i="0">
                <a:solidFill>
                  <a:srgbClr val="666666"/>
                </a:solidFill>
                <a:latin typeface="Arial"/>
                <a:ea typeface="Arial"/>
                <a:cs typeface="Arial"/>
              </a:rPr>
              <a:t>input resolution</a:t>
            </a:r>
          </a:p>
        </p:txBody>
      </p:sp>
      <p:sp>
        <p:nvSpPr>
          <p:cNvPr id="14" name="">
            <a:extLst xmlns:a="http://schemas.openxmlformats.org/drawingml/2006/main">
              <a:ext uri="{FF2B5EF4-FFF2-40B4-BE49-F238E27FC236}">
                <a16:creationId xmlns:a16="http://schemas.microsoft.com/office/drawing/2014/main" id="{4A719E59-6589-4171-8E07-F62C45B21940}"/>
              </a:ext>
            </a:extLst>
          </p:cNvPr>
          <p:cNvSpPr>
            <a:spLocks xmlns:a="http://schemas.openxmlformats.org/drawingml/2006/main" noGrp="1"/>
          </p:cNvSpPr>
          <p:nvPr/>
        </p:nvSpPr>
        <p:spPr>
          <a:xfrm xmlns:a="http://schemas.openxmlformats.org/drawingml/2006/main">
            <a:off x="9791700" y="1676400"/>
            <a:ext cx="171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444444"/>
                </a:solidFill>
                <a:latin typeface="Arial"/>
                <a:ea typeface="Arial"/>
                <a:cs typeface="Arial"/>
              </a:defRPr>
            </a:pPr>
            <a:r>
              <a:rPr sz="2550" b="1" i="0">
                <a:solidFill>
                  <a:srgbClr val="444444"/>
                </a:solidFill>
                <a:latin typeface="Arial"/>
                <a:ea typeface="Arial"/>
                <a:cs typeface="Arial"/>
              </a:rPr>
              <a:t>5.10M</a:t>
            </a:r>
          </a:p>
        </p:txBody>
      </p:sp>
      <p:sp>
        <p:nvSpPr>
          <p:cNvPr id="15" name="">
            <a:extLst xmlns:a="http://schemas.openxmlformats.org/drawingml/2006/main">
              <a:ext uri="{FF2B5EF4-FFF2-40B4-BE49-F238E27FC236}">
                <a16:creationId xmlns:a16="http://schemas.microsoft.com/office/drawing/2014/main" id="{06E64630-5BD3-4C9D-B43A-BC5D15028380}"/>
              </a:ext>
            </a:extLst>
          </p:cNvPr>
          <p:cNvSpPr>
            <a:spLocks xmlns:a="http://schemas.openxmlformats.org/drawingml/2006/main" noGrp="1"/>
          </p:cNvSpPr>
          <p:nvPr/>
        </p:nvSpPr>
        <p:spPr>
          <a:xfrm xmlns:a="http://schemas.openxmlformats.org/drawingml/2006/main">
            <a:off x="9791700" y="21526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i="0">
                <a:solidFill>
                  <a:srgbClr val="666666"/>
                </a:solidFill>
                <a:latin typeface="Arial"/>
                <a:ea typeface="Arial"/>
                <a:cs typeface="Arial"/>
              </a:defRPr>
            </a:pPr>
            <a:r>
              <a:rPr sz="1050" b="0" i="0">
                <a:solidFill>
                  <a:srgbClr val="666666"/>
                </a:solidFill>
                <a:latin typeface="Arial"/>
                <a:ea typeface="Arial"/>
                <a:cs typeface="Arial"/>
              </a:rPr>
              <a:t>task parameters</a:t>
            </a:r>
          </a:p>
        </p:txBody>
      </p:sp>
      <p:sp>
        <p:nvSpPr>
          <p:cNvPr id="16" name="">
            <a:extLst xmlns:a="http://schemas.openxmlformats.org/drawingml/2006/main">
              <a:ext uri="{FF2B5EF4-FFF2-40B4-BE49-F238E27FC236}">
                <a16:creationId xmlns:a16="http://schemas.microsoft.com/office/drawing/2014/main" id="{76C8B9F9-87A7-4D5C-B2CF-9E93FE0C06C9}"/>
              </a:ext>
            </a:extLst>
          </p:cNvPr>
          <p:cNvSpPr>
            <a:spLocks xmlns:a="http://schemas.openxmlformats.org/drawingml/2006/main" noGrp="1"/>
          </p:cNvSpPr>
          <p:nvPr/>
        </p:nvSpPr>
        <p:spPr>
          <a:xfrm xmlns:a="http://schemas.openxmlformats.org/drawingml/2006/main">
            <a:off x="685800" y="2933700"/>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7" name="">
            <a:extLst xmlns:a="http://schemas.openxmlformats.org/drawingml/2006/main">
              <a:ext uri="{FF2B5EF4-FFF2-40B4-BE49-F238E27FC236}">
                <a16:creationId xmlns:a16="http://schemas.microsoft.com/office/drawing/2014/main" id="{1E8E6F20-153D-4E86-80F2-052EC028CF99}"/>
              </a:ext>
            </a:extLst>
          </p:cNvPr>
          <p:cNvSpPr>
            <a:spLocks xmlns:a="http://schemas.openxmlformats.org/drawingml/2006/main" noGrp="1"/>
          </p:cNvSpPr>
          <p:nvPr/>
        </p:nvSpPr>
        <p:spPr>
          <a:xfrm xmlns:a="http://schemas.openxmlformats.org/drawingml/2006/main">
            <a:off x="685800" y="325755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MODEL</a:t>
            </a:r>
          </a:p>
        </p:txBody>
      </p:sp>
      <p:sp>
        <p:nvSpPr>
          <p:cNvPr id="18" name="">
            <a:extLst xmlns:a="http://schemas.openxmlformats.org/drawingml/2006/main">
              <a:ext uri="{FF2B5EF4-FFF2-40B4-BE49-F238E27FC236}">
                <a16:creationId xmlns:a16="http://schemas.microsoft.com/office/drawing/2014/main" id="{EC1516CB-FE9E-4CD9-B176-80C88EE33671}"/>
              </a:ext>
            </a:extLst>
          </p:cNvPr>
          <p:cNvSpPr>
            <a:spLocks xmlns:a="http://schemas.openxmlformats.org/drawingml/2006/main" noGrp="1"/>
          </p:cNvSpPr>
          <p:nvPr/>
        </p:nvSpPr>
        <p:spPr>
          <a:xfrm xmlns:a="http://schemas.openxmlformats.org/drawingml/2006/main">
            <a:off x="685800" y="352425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Published topology</a:t>
            </a:r>
          </a:p>
        </p:txBody>
      </p:sp>
      <p:sp>
        <p:nvSpPr>
          <p:cNvPr id="19" name="">
            <a:extLst xmlns:a="http://schemas.openxmlformats.org/drawingml/2006/main">
              <a:ext uri="{FF2B5EF4-FFF2-40B4-BE49-F238E27FC236}">
                <a16:creationId xmlns:a16="http://schemas.microsoft.com/office/drawing/2014/main" id="{7E332A45-BF33-4C71-BC9C-7A7A4F81C8E8}"/>
              </a:ext>
            </a:extLst>
          </p:cNvPr>
          <p:cNvSpPr>
            <a:spLocks xmlns:a="http://schemas.openxmlformats.org/drawingml/2006/main" noGrp="1"/>
          </p:cNvSpPr>
          <p:nvPr/>
        </p:nvSpPr>
        <p:spPr>
          <a:xfrm xmlns:a="http://schemas.openxmlformats.org/drawingml/2006/main">
            <a:off x="685800" y="397192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20" name="">
            <a:extLst xmlns:a="http://schemas.openxmlformats.org/drawingml/2006/main">
              <a:ext uri="{FF2B5EF4-FFF2-40B4-BE49-F238E27FC236}">
                <a16:creationId xmlns:a16="http://schemas.microsoft.com/office/drawing/2014/main" id="{02CAFE4F-88B5-4997-AF7F-4ACE2292B461}"/>
              </a:ext>
            </a:extLst>
          </p:cNvPr>
          <p:cNvSpPr>
            <a:spLocks xmlns:a="http://schemas.openxmlformats.org/drawingml/2006/main" noGrp="1"/>
          </p:cNvSpPr>
          <p:nvPr/>
        </p:nvSpPr>
        <p:spPr>
          <a:xfrm xmlns:a="http://schemas.openxmlformats.org/drawingml/2006/main">
            <a:off x="685800" y="4114800"/>
            <a:ext cx="33528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333333"/>
                </a:solidFill>
                <a:latin typeface="Arial"/>
                <a:ea typeface="Arial"/>
                <a:cs typeface="Arial"/>
              </a:defRPr>
            </a:pPr>
            <a:r>
              <a:rPr sz="1200" b="0" i="0">
                <a:solidFill>
                  <a:srgbClr val="333333"/>
                </a:solidFill>
                <a:latin typeface="Arial"/>
                <a:ea typeface="Arial"/>
                <a:cs typeface="Arial"/>
              </a:rPr>
              <a:t>tiny_vit_5m_224 with stage dimensions [64, 128, 160, 320], depths [2, 2, 6, 2], and local-window attention.</a:t>
            </a:r>
          </a:p>
        </p:txBody>
      </p:sp>
      <p:sp>
        <p:nvSpPr>
          <p:cNvPr id="21" name="">
            <a:extLst xmlns:a="http://schemas.openxmlformats.org/drawingml/2006/main">
              <a:ext uri="{FF2B5EF4-FFF2-40B4-BE49-F238E27FC236}">
                <a16:creationId xmlns:a16="http://schemas.microsoft.com/office/drawing/2014/main" id="{661A3D37-BF8D-4BDD-8116-687894BDCE91}"/>
              </a:ext>
            </a:extLst>
          </p:cNvPr>
          <p:cNvSpPr>
            <a:spLocks xmlns:a="http://schemas.openxmlformats.org/drawingml/2006/main" noGrp="1"/>
          </p:cNvSpPr>
          <p:nvPr/>
        </p:nvSpPr>
        <p:spPr>
          <a:xfrm xmlns:a="http://schemas.openxmlformats.org/drawingml/2006/main">
            <a:off x="4419600" y="325755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REGULARIZATION</a:t>
            </a:r>
          </a:p>
        </p:txBody>
      </p:sp>
      <p:sp>
        <p:nvSpPr>
          <p:cNvPr id="22" name="">
            <a:extLst xmlns:a="http://schemas.openxmlformats.org/drawingml/2006/main">
              <a:ext uri="{FF2B5EF4-FFF2-40B4-BE49-F238E27FC236}">
                <a16:creationId xmlns:a16="http://schemas.microsoft.com/office/drawing/2014/main" id="{1D49BAFD-66B3-4B24-982E-2D08A15E50ED}"/>
              </a:ext>
            </a:extLst>
          </p:cNvPr>
          <p:cNvSpPr>
            <a:spLocks xmlns:a="http://schemas.openxmlformats.org/drawingml/2006/main" noGrp="1"/>
          </p:cNvSpPr>
          <p:nvPr/>
        </p:nvSpPr>
        <p:spPr>
          <a:xfrm xmlns:a="http://schemas.openxmlformats.org/drawingml/2006/main">
            <a:off x="4419600" y="352425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Heavy data recipe</a:t>
            </a:r>
          </a:p>
        </p:txBody>
      </p:sp>
      <p:sp>
        <p:nvSpPr>
          <p:cNvPr id="23" name="">
            <a:extLst xmlns:a="http://schemas.openxmlformats.org/drawingml/2006/main">
              <a:ext uri="{FF2B5EF4-FFF2-40B4-BE49-F238E27FC236}">
                <a16:creationId xmlns:a16="http://schemas.microsoft.com/office/drawing/2014/main" id="{CD5F2D47-9F84-4170-B5A5-B1E07ED5716A}"/>
              </a:ext>
            </a:extLst>
          </p:cNvPr>
          <p:cNvSpPr>
            <a:spLocks xmlns:a="http://schemas.openxmlformats.org/drawingml/2006/main" noGrp="1"/>
          </p:cNvSpPr>
          <p:nvPr/>
        </p:nvSpPr>
        <p:spPr>
          <a:xfrm xmlns:a="http://schemas.openxmlformats.org/drawingml/2006/main">
            <a:off x="4419600" y="397192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24" name="">
            <a:extLst xmlns:a="http://schemas.openxmlformats.org/drawingml/2006/main">
              <a:ext uri="{FF2B5EF4-FFF2-40B4-BE49-F238E27FC236}">
                <a16:creationId xmlns:a16="http://schemas.microsoft.com/office/drawing/2014/main" id="{FBAE198F-8ADA-4109-BBD3-215389F3C6B0}"/>
              </a:ext>
            </a:extLst>
          </p:cNvPr>
          <p:cNvSpPr>
            <a:spLocks xmlns:a="http://schemas.openxmlformats.org/drawingml/2006/main" noGrp="1"/>
          </p:cNvSpPr>
          <p:nvPr/>
        </p:nvSpPr>
        <p:spPr>
          <a:xfrm xmlns:a="http://schemas.openxmlformats.org/drawingml/2006/main">
            <a:off x="4419600" y="4114800"/>
            <a:ext cx="33528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333333"/>
                </a:solidFill>
                <a:latin typeface="Arial"/>
                <a:ea typeface="Arial"/>
                <a:cs typeface="Arial"/>
              </a:defRPr>
            </a:pPr>
            <a:r>
              <a:rPr sz="1200" b="0" i="0">
                <a:solidFill>
                  <a:srgbClr val="333333"/>
                </a:solidFill>
                <a:latin typeface="Arial"/>
                <a:ea typeface="Arial"/>
                <a:cs typeface="Arial"/>
              </a:rPr>
              <a:t>Random resized crop, flip, color jitter, RandAugment, random erasing, Mixup 0.8, CutMix 1.0, and label smoothing 0.1.</a:t>
            </a:r>
          </a:p>
        </p:txBody>
      </p:sp>
      <p:sp>
        <p:nvSpPr>
          <p:cNvPr id="25" name="">
            <a:extLst xmlns:a="http://schemas.openxmlformats.org/drawingml/2006/main">
              <a:ext uri="{FF2B5EF4-FFF2-40B4-BE49-F238E27FC236}">
                <a16:creationId xmlns:a16="http://schemas.microsoft.com/office/drawing/2014/main" id="{82E322B9-487A-46CC-9235-D3E0C3829C4F}"/>
              </a:ext>
            </a:extLst>
          </p:cNvPr>
          <p:cNvSpPr>
            <a:spLocks xmlns:a="http://schemas.openxmlformats.org/drawingml/2006/main" noGrp="1"/>
          </p:cNvSpPr>
          <p:nvPr/>
        </p:nvSpPr>
        <p:spPr>
          <a:xfrm xmlns:a="http://schemas.openxmlformats.org/drawingml/2006/main">
            <a:off x="8153400" y="325755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ROLE</a:t>
            </a:r>
          </a:p>
        </p:txBody>
      </p:sp>
      <p:sp>
        <p:nvSpPr>
          <p:cNvPr id="26" name="">
            <a:extLst xmlns:a="http://schemas.openxmlformats.org/drawingml/2006/main">
              <a:ext uri="{FF2B5EF4-FFF2-40B4-BE49-F238E27FC236}">
                <a16:creationId xmlns:a16="http://schemas.microsoft.com/office/drawing/2014/main" id="{6846FCA0-A526-4FA2-9DA0-5AFD15CD3418}"/>
              </a:ext>
            </a:extLst>
          </p:cNvPr>
          <p:cNvSpPr>
            <a:spLocks xmlns:a="http://schemas.openxmlformats.org/drawingml/2006/main" noGrp="1"/>
          </p:cNvSpPr>
          <p:nvPr/>
        </p:nvSpPr>
        <p:spPr>
          <a:xfrm xmlns:a="http://schemas.openxmlformats.org/drawingml/2006/main">
            <a:off x="8153400" y="352425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Interpretation</a:t>
            </a:r>
          </a:p>
        </p:txBody>
      </p:sp>
      <p:sp>
        <p:nvSpPr>
          <p:cNvPr id="27" name="">
            <a:extLst xmlns:a="http://schemas.openxmlformats.org/drawingml/2006/main">
              <a:ext uri="{FF2B5EF4-FFF2-40B4-BE49-F238E27FC236}">
                <a16:creationId xmlns:a16="http://schemas.microsoft.com/office/drawing/2014/main" id="{0CC4A485-CC18-4498-A792-0D90CEB8F803}"/>
              </a:ext>
            </a:extLst>
          </p:cNvPr>
          <p:cNvSpPr>
            <a:spLocks xmlns:a="http://schemas.openxmlformats.org/drawingml/2006/main" noGrp="1"/>
          </p:cNvSpPr>
          <p:nvPr/>
        </p:nvSpPr>
        <p:spPr>
          <a:xfrm xmlns:a="http://schemas.openxmlformats.org/drawingml/2006/main">
            <a:off x="8153400" y="397192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28" name="">
            <a:extLst xmlns:a="http://schemas.openxmlformats.org/drawingml/2006/main">
              <a:ext uri="{FF2B5EF4-FFF2-40B4-BE49-F238E27FC236}">
                <a16:creationId xmlns:a16="http://schemas.microsoft.com/office/drawing/2014/main" id="{5458371D-EB64-4383-9202-E9FAE249CBD8}"/>
              </a:ext>
            </a:extLst>
          </p:cNvPr>
          <p:cNvSpPr>
            <a:spLocks xmlns:a="http://schemas.openxmlformats.org/drawingml/2006/main" noGrp="1"/>
          </p:cNvSpPr>
          <p:nvPr/>
        </p:nvSpPr>
        <p:spPr>
          <a:xfrm xmlns:a="http://schemas.openxmlformats.org/drawingml/2006/main">
            <a:off x="8153400" y="4114800"/>
            <a:ext cx="33528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333333"/>
                </a:solidFill>
                <a:latin typeface="Arial"/>
                <a:ea typeface="Arial"/>
                <a:cs typeface="Arial"/>
              </a:defRPr>
            </a:pPr>
            <a:r>
              <a:rPr sz="1200" b="0" i="0">
                <a:solidFill>
                  <a:srgbClr val="333333"/>
                </a:solidFill>
                <a:latin typeface="Arial"/>
                <a:ea typeface="Arial"/>
                <a:cs typeface="Arial"/>
              </a:rPr>
              <a:t>A hybrid convolution/attention architecture evaluated on a second workload with higher resolution and heavier augmentation.</a:t>
            </a:r>
          </a:p>
        </p:txBody>
      </p:sp>
      <p:sp>
        <p:nvSpPr>
          <p:cNvPr id="29" name="">
            <a:extLst xmlns:a="http://schemas.openxmlformats.org/drawingml/2006/main">
              <a:ext uri="{FF2B5EF4-FFF2-40B4-BE49-F238E27FC236}">
                <a16:creationId xmlns:a16="http://schemas.microsoft.com/office/drawing/2014/main" id="{7B24C409-1E68-4175-B069-3C52BC9D9149}"/>
              </a:ext>
            </a:extLst>
          </p:cNvPr>
          <p:cNvSpPr>
            <a:spLocks xmlns:a="http://schemas.openxmlformats.org/drawingml/2006/main" noGrp="1"/>
          </p:cNvSpPr>
          <p:nvPr/>
        </p:nvSpPr>
        <p:spPr>
          <a:xfrm xmlns:a="http://schemas.openxmlformats.org/drawingml/2006/main">
            <a:off x="876300" y="5810250"/>
            <a:ext cx="10439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i="0">
                <a:solidFill>
                  <a:srgbClr val="282828"/>
                </a:solidFill>
                <a:latin typeface="Arial"/>
                <a:ea typeface="Arial"/>
                <a:cs typeface="Arial"/>
              </a:defRPr>
            </a:pPr>
            <a:r>
              <a:rPr sz="1125" b="1" i="0">
                <a:solidFill>
                  <a:srgbClr val="282828"/>
                </a:solidFill>
                <a:latin typeface="Arial"/>
                <a:ea typeface="Arial"/>
                <a:cs typeface="Arial"/>
              </a:rPr>
              <a:t>TinyViT-5M architecture; trained from scratch for 50 epochs without distillation.</a:t>
            </a:r>
          </a:p>
        </p:txBody>
      </p:sp>
    </p:spTree>
    <p:extLst>
      <p:ext uri="{BB962C8B-B14F-4D97-AF65-F5344CB8AC3E}">
        <p14:creationId xmlns:p14="http://schemas.microsoft.com/office/powerpoint/2010/main" val="7292206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slide-title">
            <a:extLst xmlns:a="http://schemas.openxmlformats.org/drawingml/2006/main">
              <a:ext uri="{FF2B5EF4-FFF2-40B4-BE49-F238E27FC236}">
                <a16:creationId xmlns:a16="http://schemas.microsoft.com/office/drawing/2014/main" id="{5866BB32-C23B-4F9E-99C0-9589BE0AD69C}"/>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Training protocol</a:t>
            </a:r>
          </a:p>
        </p:txBody>
      </p:sp>
      <p:sp>
        <p:nvSpPr>
          <p:cNvPr id="2" name="">
            <a:extLst xmlns:a="http://schemas.openxmlformats.org/drawingml/2006/main">
              <a:ext uri="{FF2B5EF4-FFF2-40B4-BE49-F238E27FC236}">
                <a16:creationId xmlns:a16="http://schemas.microsoft.com/office/drawing/2014/main" id="{9C1533F6-444F-4448-B0B1-067FD39E474F}"/>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6394C023-B245-41A7-8118-87EB27C4A608}"/>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E530C74-9C6B-46A1-B729-30872EF0D3D7}"/>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ED9F04A1-01FC-4B23-AEA3-F83E3D7FCE2F}"/>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13</a:t>
            </a:r>
          </a:p>
        </p:txBody>
      </p:sp>
      <p:sp>
        <p:nvSpPr>
          <p:cNvPr id="6" name="">
            <a:extLst xmlns:a="http://schemas.openxmlformats.org/drawingml/2006/main">
              <a:ext uri="{FF2B5EF4-FFF2-40B4-BE49-F238E27FC236}">
                <a16:creationId xmlns:a16="http://schemas.microsoft.com/office/drawing/2014/main" id="{8923A38D-1FF8-4F28-8911-B7745DC5E975}"/>
              </a:ext>
            </a:extLst>
          </p:cNvPr>
          <p:cNvSpPr>
            <a:spLocks xmlns:a="http://schemas.openxmlformats.org/drawingml/2006/main" noGrp="1"/>
          </p:cNvSpPr>
          <p:nvPr/>
        </p:nvSpPr>
        <p:spPr>
          <a:xfrm xmlns:a="http://schemas.openxmlformats.org/drawingml/2006/main">
            <a:off x="685800" y="1619250"/>
            <a:ext cx="190500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A6A6A6"/>
            </a:solidFill>
            <a:prstDash val="solid"/>
          </a:ln>
        </p:spPr>
      </p:sp>
      <p:sp>
        <p:nvSpPr>
          <p:cNvPr id="7" name="">
            <a:extLst xmlns:a="http://schemas.openxmlformats.org/drawingml/2006/main">
              <a:ext uri="{FF2B5EF4-FFF2-40B4-BE49-F238E27FC236}">
                <a16:creationId xmlns:a16="http://schemas.microsoft.com/office/drawing/2014/main" id="{8776DC2C-49C5-4F7E-9BC6-1CEFB9EFCDC8}"/>
              </a:ext>
            </a:extLst>
          </p:cNvPr>
          <p:cNvSpPr>
            <a:spLocks xmlns:a="http://schemas.openxmlformats.org/drawingml/2006/main" noGrp="1"/>
          </p:cNvSpPr>
          <p:nvPr/>
        </p:nvSpPr>
        <p:spPr>
          <a:xfrm xmlns:a="http://schemas.openxmlformats.org/drawingml/2006/main">
            <a:off x="838200" y="1847850"/>
            <a:ext cx="1600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555555"/>
                </a:solidFill>
                <a:latin typeface="Arial"/>
                <a:ea typeface="Arial"/>
                <a:cs typeface="Arial"/>
              </a:defRPr>
            </a:pPr>
            <a:r>
              <a:rPr sz="2550" b="1" i="0">
                <a:solidFill>
                  <a:srgbClr val="555555"/>
                </a:solidFill>
                <a:latin typeface="Arial"/>
                <a:ea typeface="Arial"/>
                <a:cs typeface="Arial"/>
              </a:rPr>
              <a:t>50</a:t>
            </a:r>
          </a:p>
        </p:txBody>
      </p:sp>
      <p:sp>
        <p:nvSpPr>
          <p:cNvPr id="8" name="">
            <a:extLst xmlns:a="http://schemas.openxmlformats.org/drawingml/2006/main">
              <a:ext uri="{FF2B5EF4-FFF2-40B4-BE49-F238E27FC236}">
                <a16:creationId xmlns:a16="http://schemas.microsoft.com/office/drawing/2014/main" id="{5819F13D-16A3-4EAB-95CA-613D2CC4B955}"/>
              </a:ext>
            </a:extLst>
          </p:cNvPr>
          <p:cNvSpPr>
            <a:spLocks xmlns:a="http://schemas.openxmlformats.org/drawingml/2006/main" noGrp="1"/>
          </p:cNvSpPr>
          <p:nvPr/>
        </p:nvSpPr>
        <p:spPr>
          <a:xfrm xmlns:a="http://schemas.openxmlformats.org/drawingml/2006/main">
            <a:off x="838200" y="2476500"/>
            <a:ext cx="1600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i="0">
                <a:solidFill>
                  <a:srgbClr val="666666"/>
                </a:solidFill>
                <a:latin typeface="Arial"/>
                <a:ea typeface="Arial"/>
                <a:cs typeface="Arial"/>
              </a:defRPr>
            </a:pPr>
            <a:r>
              <a:rPr sz="1050" b="0" i="0">
                <a:solidFill>
                  <a:srgbClr val="666666"/>
                </a:solidFill>
                <a:latin typeface="Arial"/>
                <a:ea typeface="Arial"/>
                <a:cs typeface="Arial"/>
              </a:rPr>
              <a:t>epochs</a:t>
            </a:r>
          </a:p>
        </p:txBody>
      </p:sp>
      <p:sp>
        <p:nvSpPr>
          <p:cNvPr id="9" name="">
            <a:extLst xmlns:a="http://schemas.openxmlformats.org/drawingml/2006/main">
              <a:ext uri="{FF2B5EF4-FFF2-40B4-BE49-F238E27FC236}">
                <a16:creationId xmlns:a16="http://schemas.microsoft.com/office/drawing/2014/main" id="{25EB0479-D6B9-4CE2-848F-0533E3829DE3}"/>
              </a:ext>
            </a:extLst>
          </p:cNvPr>
          <p:cNvSpPr>
            <a:spLocks xmlns:a="http://schemas.openxmlformats.org/drawingml/2006/main" noGrp="1"/>
          </p:cNvSpPr>
          <p:nvPr/>
        </p:nvSpPr>
        <p:spPr>
          <a:xfrm xmlns:a="http://schemas.openxmlformats.org/drawingml/2006/main">
            <a:off x="2857500" y="1619250"/>
            <a:ext cx="190500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A6A6A6"/>
            </a:solidFill>
            <a:prstDash val="solid"/>
          </a:ln>
        </p:spPr>
      </p:sp>
      <p:sp>
        <p:nvSpPr>
          <p:cNvPr id="10" name="">
            <a:extLst xmlns:a="http://schemas.openxmlformats.org/drawingml/2006/main">
              <a:ext uri="{FF2B5EF4-FFF2-40B4-BE49-F238E27FC236}">
                <a16:creationId xmlns:a16="http://schemas.microsoft.com/office/drawing/2014/main" id="{AB67D3AE-1D00-4ED9-AD0C-961B1FDC013F}"/>
              </a:ext>
            </a:extLst>
          </p:cNvPr>
          <p:cNvSpPr>
            <a:spLocks xmlns:a="http://schemas.openxmlformats.org/drawingml/2006/main" noGrp="1"/>
          </p:cNvSpPr>
          <p:nvPr/>
        </p:nvSpPr>
        <p:spPr>
          <a:xfrm xmlns:a="http://schemas.openxmlformats.org/drawingml/2006/main">
            <a:off x="3009900" y="1847850"/>
            <a:ext cx="1600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444444"/>
                </a:solidFill>
                <a:latin typeface="Arial"/>
                <a:ea typeface="Arial"/>
                <a:cs typeface="Arial"/>
              </a:defRPr>
            </a:pPr>
            <a:r>
              <a:rPr sz="2550" b="1" i="0">
                <a:solidFill>
                  <a:srgbClr val="444444"/>
                </a:solidFill>
                <a:latin typeface="Arial"/>
                <a:ea typeface="Arial"/>
                <a:cs typeface="Arial"/>
              </a:rPr>
              <a:t>128</a:t>
            </a:r>
          </a:p>
        </p:txBody>
      </p:sp>
      <p:sp>
        <p:nvSpPr>
          <p:cNvPr id="11" name="">
            <a:extLst xmlns:a="http://schemas.openxmlformats.org/drawingml/2006/main">
              <a:ext uri="{FF2B5EF4-FFF2-40B4-BE49-F238E27FC236}">
                <a16:creationId xmlns:a16="http://schemas.microsoft.com/office/drawing/2014/main" id="{8343FCA5-CD5C-4D07-A29F-EBAF5FE67DBF}"/>
              </a:ext>
            </a:extLst>
          </p:cNvPr>
          <p:cNvSpPr>
            <a:spLocks xmlns:a="http://schemas.openxmlformats.org/drawingml/2006/main" noGrp="1"/>
          </p:cNvSpPr>
          <p:nvPr/>
        </p:nvSpPr>
        <p:spPr>
          <a:xfrm xmlns:a="http://schemas.openxmlformats.org/drawingml/2006/main">
            <a:off x="3009900" y="2476500"/>
            <a:ext cx="1600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i="0">
                <a:solidFill>
                  <a:srgbClr val="666666"/>
                </a:solidFill>
                <a:latin typeface="Arial"/>
                <a:ea typeface="Arial"/>
                <a:cs typeface="Arial"/>
              </a:defRPr>
            </a:pPr>
            <a:r>
              <a:rPr sz="1050" b="0" i="0">
                <a:solidFill>
                  <a:srgbClr val="666666"/>
                </a:solidFill>
                <a:latin typeface="Arial"/>
                <a:ea typeface="Arial"/>
                <a:cs typeface="Arial"/>
              </a:rPr>
              <a:t>batch size</a:t>
            </a:r>
          </a:p>
        </p:txBody>
      </p:sp>
      <p:sp>
        <p:nvSpPr>
          <p:cNvPr id="12" name="">
            <a:extLst xmlns:a="http://schemas.openxmlformats.org/drawingml/2006/main">
              <a:ext uri="{FF2B5EF4-FFF2-40B4-BE49-F238E27FC236}">
                <a16:creationId xmlns:a16="http://schemas.microsoft.com/office/drawing/2014/main" id="{14BFA1AD-3FFF-4865-A98A-2B6DFBDF7EA4}"/>
              </a:ext>
            </a:extLst>
          </p:cNvPr>
          <p:cNvSpPr>
            <a:spLocks xmlns:a="http://schemas.openxmlformats.org/drawingml/2006/main" noGrp="1"/>
          </p:cNvSpPr>
          <p:nvPr/>
        </p:nvSpPr>
        <p:spPr>
          <a:xfrm xmlns:a="http://schemas.openxmlformats.org/drawingml/2006/main">
            <a:off x="5029200" y="1619250"/>
            <a:ext cx="190500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A6A6A6"/>
            </a:solidFill>
            <a:prstDash val="solid"/>
          </a:ln>
        </p:spPr>
      </p:sp>
      <p:sp>
        <p:nvSpPr>
          <p:cNvPr id="13" name="">
            <a:extLst xmlns:a="http://schemas.openxmlformats.org/drawingml/2006/main">
              <a:ext uri="{FF2B5EF4-FFF2-40B4-BE49-F238E27FC236}">
                <a16:creationId xmlns:a16="http://schemas.microsoft.com/office/drawing/2014/main" id="{A51B277D-AFB0-45B1-B7C9-3ADEB521233B}"/>
              </a:ext>
            </a:extLst>
          </p:cNvPr>
          <p:cNvSpPr>
            <a:spLocks xmlns:a="http://schemas.openxmlformats.org/drawingml/2006/main" noGrp="1"/>
          </p:cNvSpPr>
          <p:nvPr/>
        </p:nvSpPr>
        <p:spPr>
          <a:xfrm xmlns:a="http://schemas.openxmlformats.org/drawingml/2006/main">
            <a:off x="5181600" y="1847850"/>
            <a:ext cx="1600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555555"/>
                </a:solidFill>
                <a:latin typeface="Arial"/>
                <a:ea typeface="Arial"/>
                <a:cs typeface="Arial"/>
              </a:defRPr>
            </a:pPr>
            <a:r>
              <a:rPr sz="2550" b="1" i="0">
                <a:solidFill>
                  <a:srgbClr val="555555"/>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6BB29292-F532-406C-8F8C-50E98AD9B941}"/>
              </a:ext>
            </a:extLst>
          </p:cNvPr>
          <p:cNvSpPr>
            <a:spLocks xmlns:a="http://schemas.openxmlformats.org/drawingml/2006/main" noGrp="1"/>
          </p:cNvSpPr>
          <p:nvPr/>
        </p:nvSpPr>
        <p:spPr>
          <a:xfrm xmlns:a="http://schemas.openxmlformats.org/drawingml/2006/main">
            <a:off x="5181600" y="2476500"/>
            <a:ext cx="1600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i="0">
                <a:solidFill>
                  <a:srgbClr val="666666"/>
                </a:solidFill>
                <a:latin typeface="Arial"/>
                <a:ea typeface="Arial"/>
                <a:cs typeface="Arial"/>
              </a:defRPr>
            </a:pPr>
            <a:r>
              <a:rPr sz="1050" b="0" i="0">
                <a:solidFill>
                  <a:srgbClr val="666666"/>
                </a:solidFill>
                <a:latin typeface="Arial"/>
                <a:ea typeface="Arial"/>
                <a:cs typeface="Arial"/>
              </a:rPr>
              <a:t>epoch eval interval</a:t>
            </a:r>
          </a:p>
        </p:txBody>
      </p:sp>
      <p:sp>
        <p:nvSpPr>
          <p:cNvPr id="15" name="">
            <a:extLst xmlns:a="http://schemas.openxmlformats.org/drawingml/2006/main">
              <a:ext uri="{FF2B5EF4-FFF2-40B4-BE49-F238E27FC236}">
                <a16:creationId xmlns:a16="http://schemas.microsoft.com/office/drawing/2014/main" id="{3ED2F2FE-3D6E-4097-9CB7-0C45B90B61C7}"/>
              </a:ext>
            </a:extLst>
          </p:cNvPr>
          <p:cNvSpPr>
            <a:spLocks xmlns:a="http://schemas.openxmlformats.org/drawingml/2006/main" noGrp="1"/>
          </p:cNvSpPr>
          <p:nvPr/>
        </p:nvSpPr>
        <p:spPr>
          <a:xfrm xmlns:a="http://schemas.openxmlformats.org/drawingml/2006/main">
            <a:off x="7200900" y="1619250"/>
            <a:ext cx="190500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A6A6A6"/>
            </a:solidFill>
            <a:prstDash val="solid"/>
          </a:ln>
        </p:spPr>
      </p:sp>
      <p:sp>
        <p:nvSpPr>
          <p:cNvPr id="16" name="">
            <a:extLst xmlns:a="http://schemas.openxmlformats.org/drawingml/2006/main">
              <a:ext uri="{FF2B5EF4-FFF2-40B4-BE49-F238E27FC236}">
                <a16:creationId xmlns:a16="http://schemas.microsoft.com/office/drawing/2014/main" id="{4F2902DC-21E1-4AF3-85E2-04A23C914180}"/>
              </a:ext>
            </a:extLst>
          </p:cNvPr>
          <p:cNvSpPr>
            <a:spLocks xmlns:a="http://schemas.openxmlformats.org/drawingml/2006/main" noGrp="1"/>
          </p:cNvSpPr>
          <p:nvPr/>
        </p:nvSpPr>
        <p:spPr>
          <a:xfrm xmlns:a="http://schemas.openxmlformats.org/drawingml/2006/main">
            <a:off x="7353300" y="1847850"/>
            <a:ext cx="1600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555555"/>
                </a:solidFill>
                <a:latin typeface="Arial"/>
                <a:ea typeface="Arial"/>
                <a:cs typeface="Arial"/>
              </a:defRPr>
            </a:pPr>
            <a:r>
              <a:rPr sz="2550" b="1" i="0">
                <a:solidFill>
                  <a:srgbClr val="555555"/>
                </a:solidFill>
                <a:latin typeface="Arial"/>
                <a:ea typeface="Arial"/>
                <a:cs typeface="Arial"/>
              </a:rPr>
              <a:t>1.0</a:t>
            </a:r>
          </a:p>
        </p:txBody>
      </p:sp>
      <p:sp>
        <p:nvSpPr>
          <p:cNvPr id="17" name="">
            <a:extLst xmlns:a="http://schemas.openxmlformats.org/drawingml/2006/main">
              <a:ext uri="{FF2B5EF4-FFF2-40B4-BE49-F238E27FC236}">
                <a16:creationId xmlns:a16="http://schemas.microsoft.com/office/drawing/2014/main" id="{EC0C5CCE-6EED-4215-A96D-7A6D3DD67AD4}"/>
              </a:ext>
            </a:extLst>
          </p:cNvPr>
          <p:cNvSpPr>
            <a:spLocks xmlns:a="http://schemas.openxmlformats.org/drawingml/2006/main" noGrp="1"/>
          </p:cNvSpPr>
          <p:nvPr/>
        </p:nvSpPr>
        <p:spPr>
          <a:xfrm xmlns:a="http://schemas.openxmlformats.org/drawingml/2006/main">
            <a:off x="7353300" y="2476500"/>
            <a:ext cx="1600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i="0">
                <a:solidFill>
                  <a:srgbClr val="666666"/>
                </a:solidFill>
                <a:latin typeface="Arial"/>
                <a:ea typeface="Arial"/>
                <a:cs typeface="Arial"/>
              </a:defRPr>
            </a:pPr>
            <a:r>
              <a:rPr sz="1050" b="0" i="0">
                <a:solidFill>
                  <a:srgbClr val="666666"/>
                </a:solidFill>
                <a:latin typeface="Arial"/>
                <a:ea typeface="Arial"/>
                <a:cs typeface="Arial"/>
              </a:rPr>
              <a:t>gradient-norm clip</a:t>
            </a:r>
          </a:p>
        </p:txBody>
      </p:sp>
      <p:sp>
        <p:nvSpPr>
          <p:cNvPr id="18" name="">
            <a:extLst xmlns:a="http://schemas.openxmlformats.org/drawingml/2006/main">
              <a:ext uri="{FF2B5EF4-FFF2-40B4-BE49-F238E27FC236}">
                <a16:creationId xmlns:a16="http://schemas.microsoft.com/office/drawing/2014/main" id="{6ACF56D4-22BB-4636-9778-1966A96808FE}"/>
              </a:ext>
            </a:extLst>
          </p:cNvPr>
          <p:cNvSpPr>
            <a:spLocks xmlns:a="http://schemas.openxmlformats.org/drawingml/2006/main" noGrp="1"/>
          </p:cNvSpPr>
          <p:nvPr/>
        </p:nvSpPr>
        <p:spPr>
          <a:xfrm xmlns:a="http://schemas.openxmlformats.org/drawingml/2006/main">
            <a:off x="9372600" y="1619250"/>
            <a:ext cx="190500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A6A6A6"/>
            </a:solidFill>
            <a:prstDash val="solid"/>
          </a:ln>
        </p:spPr>
      </p:sp>
      <p:sp>
        <p:nvSpPr>
          <p:cNvPr id="19" name="">
            <a:extLst xmlns:a="http://schemas.openxmlformats.org/drawingml/2006/main">
              <a:ext uri="{FF2B5EF4-FFF2-40B4-BE49-F238E27FC236}">
                <a16:creationId xmlns:a16="http://schemas.microsoft.com/office/drawing/2014/main" id="{84FF6559-EE8A-4E32-A441-078F497D49B2}"/>
              </a:ext>
            </a:extLst>
          </p:cNvPr>
          <p:cNvSpPr>
            <a:spLocks xmlns:a="http://schemas.openxmlformats.org/drawingml/2006/main" noGrp="1"/>
          </p:cNvSpPr>
          <p:nvPr/>
        </p:nvSpPr>
        <p:spPr>
          <a:xfrm xmlns:a="http://schemas.openxmlformats.org/drawingml/2006/main">
            <a:off x="9525000" y="1847850"/>
            <a:ext cx="1600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555555"/>
                </a:solidFill>
                <a:latin typeface="Arial"/>
                <a:ea typeface="Arial"/>
                <a:cs typeface="Arial"/>
              </a:defRPr>
            </a:pPr>
            <a:r>
              <a:rPr sz="2550" b="1" i="0">
                <a:solidFill>
                  <a:srgbClr val="555555"/>
                </a:solidFill>
                <a:latin typeface="Arial"/>
                <a:ea typeface="Arial"/>
                <a:cs typeface="Arial"/>
              </a:rPr>
              <a:t>42–44</a:t>
            </a:r>
          </a:p>
        </p:txBody>
      </p:sp>
      <p:sp>
        <p:nvSpPr>
          <p:cNvPr id="20" name="">
            <a:extLst xmlns:a="http://schemas.openxmlformats.org/drawingml/2006/main">
              <a:ext uri="{FF2B5EF4-FFF2-40B4-BE49-F238E27FC236}">
                <a16:creationId xmlns:a16="http://schemas.microsoft.com/office/drawing/2014/main" id="{C8C43DD0-2688-45E7-AB89-99EF06551483}"/>
              </a:ext>
            </a:extLst>
          </p:cNvPr>
          <p:cNvSpPr>
            <a:spLocks xmlns:a="http://schemas.openxmlformats.org/drawingml/2006/main" noGrp="1"/>
          </p:cNvSpPr>
          <p:nvPr/>
        </p:nvSpPr>
        <p:spPr>
          <a:xfrm xmlns:a="http://schemas.openxmlformats.org/drawingml/2006/main">
            <a:off x="9525000" y="2476500"/>
            <a:ext cx="1600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i="0">
                <a:solidFill>
                  <a:srgbClr val="666666"/>
                </a:solidFill>
                <a:latin typeface="Arial"/>
                <a:ea typeface="Arial"/>
                <a:cs typeface="Arial"/>
              </a:defRPr>
            </a:pPr>
            <a:r>
              <a:rPr sz="1050" b="0" i="0">
                <a:solidFill>
                  <a:srgbClr val="666666"/>
                </a:solidFill>
                <a:latin typeface="Arial"/>
                <a:ea typeface="Arial"/>
                <a:cs typeface="Arial"/>
              </a:rPr>
              <a:t>confirmation seeds</a:t>
            </a:r>
          </a:p>
        </p:txBody>
      </p:sp>
      <p:sp>
        <p:nvSpPr>
          <p:cNvPr id="21" name="">
            <a:extLst xmlns:a="http://schemas.openxmlformats.org/drawingml/2006/main">
              <a:ext uri="{FF2B5EF4-FFF2-40B4-BE49-F238E27FC236}">
                <a16:creationId xmlns:a16="http://schemas.microsoft.com/office/drawing/2014/main" id="{2AA20174-614F-431E-BFF2-6A4B209C109D}"/>
              </a:ext>
            </a:extLst>
          </p:cNvPr>
          <p:cNvSpPr>
            <a:spLocks xmlns:a="http://schemas.openxmlformats.org/drawingml/2006/main" noGrp="1"/>
          </p:cNvSpPr>
          <p:nvPr/>
        </p:nvSpPr>
        <p:spPr>
          <a:xfrm xmlns:a="http://schemas.openxmlformats.org/drawingml/2006/main">
            <a:off x="685800" y="346710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METRIC</a:t>
            </a:r>
          </a:p>
        </p:txBody>
      </p:sp>
      <p:sp>
        <p:nvSpPr>
          <p:cNvPr id="22" name="">
            <a:extLst xmlns:a="http://schemas.openxmlformats.org/drawingml/2006/main">
              <a:ext uri="{FF2B5EF4-FFF2-40B4-BE49-F238E27FC236}">
                <a16:creationId xmlns:a16="http://schemas.microsoft.com/office/drawing/2014/main" id="{1EFA1D4B-ACFA-4DCC-8135-E563795B9C5A}"/>
              </a:ext>
            </a:extLst>
          </p:cNvPr>
          <p:cNvSpPr>
            <a:spLocks xmlns:a="http://schemas.openxmlformats.org/drawingml/2006/main" noGrp="1"/>
          </p:cNvSpPr>
          <p:nvPr/>
        </p:nvSpPr>
        <p:spPr>
          <a:xfrm xmlns:a="http://schemas.openxmlformats.org/drawingml/2006/main">
            <a:off x="685800" y="37338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Final-epoch reporting</a:t>
            </a:r>
          </a:p>
        </p:txBody>
      </p:sp>
      <p:sp>
        <p:nvSpPr>
          <p:cNvPr id="23" name="">
            <a:extLst xmlns:a="http://schemas.openxmlformats.org/drawingml/2006/main">
              <a:ext uri="{FF2B5EF4-FFF2-40B4-BE49-F238E27FC236}">
                <a16:creationId xmlns:a16="http://schemas.microsoft.com/office/drawing/2014/main" id="{8A2FA0CD-16F0-4D2E-80AB-A96B2FB2AE89}"/>
              </a:ext>
            </a:extLst>
          </p:cNvPr>
          <p:cNvSpPr>
            <a:spLocks xmlns:a="http://schemas.openxmlformats.org/drawingml/2006/main" noGrp="1"/>
          </p:cNvSpPr>
          <p:nvPr/>
        </p:nvSpPr>
        <p:spPr>
          <a:xfrm xmlns:a="http://schemas.openxmlformats.org/drawingml/2006/main">
            <a:off x="685800" y="418147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24" name="">
            <a:extLst xmlns:a="http://schemas.openxmlformats.org/drawingml/2006/main">
              <a:ext uri="{FF2B5EF4-FFF2-40B4-BE49-F238E27FC236}">
                <a16:creationId xmlns:a16="http://schemas.microsoft.com/office/drawing/2014/main" id="{DEECA769-0B68-4C5E-86EE-4082E8982273}"/>
              </a:ext>
            </a:extLst>
          </p:cNvPr>
          <p:cNvSpPr>
            <a:spLocks xmlns:a="http://schemas.openxmlformats.org/drawingml/2006/main" noGrp="1"/>
          </p:cNvSpPr>
          <p:nvPr/>
        </p:nvSpPr>
        <p:spPr>
          <a:xfrm xmlns:a="http://schemas.openxmlformats.org/drawingml/2006/main">
            <a:off x="685800" y="4324350"/>
            <a:ext cx="335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333333"/>
                </a:solidFill>
                <a:latin typeface="Arial"/>
                <a:ea typeface="Arial"/>
                <a:cs typeface="Arial"/>
              </a:defRPr>
            </a:pPr>
            <a:r>
              <a:rPr sz="1200" b="0" i="0">
                <a:solidFill>
                  <a:srgbClr val="333333"/>
                </a:solidFill>
                <a:latin typeface="Arial"/>
                <a:ea typeface="Arial"/>
                <a:cs typeface="Arial"/>
              </a:rPr>
              <a:t>We report the last evaluated accuracy. Threshold plots separately describe speed, avoiding a best-checkpoint/final-accuracy mix.</a:t>
            </a:r>
          </a:p>
        </p:txBody>
      </p:sp>
      <p:sp>
        <p:nvSpPr>
          <p:cNvPr id="25" name="">
            <a:extLst xmlns:a="http://schemas.openxmlformats.org/drawingml/2006/main">
              <a:ext uri="{FF2B5EF4-FFF2-40B4-BE49-F238E27FC236}">
                <a16:creationId xmlns:a16="http://schemas.microsoft.com/office/drawing/2014/main" id="{E6B1E1C0-BE84-47E8-B116-AA7182694593}"/>
              </a:ext>
            </a:extLst>
          </p:cNvPr>
          <p:cNvSpPr>
            <a:spLocks xmlns:a="http://schemas.openxmlformats.org/drawingml/2006/main" noGrp="1"/>
          </p:cNvSpPr>
          <p:nvPr/>
        </p:nvSpPr>
        <p:spPr>
          <a:xfrm xmlns:a="http://schemas.openxmlformats.org/drawingml/2006/main">
            <a:off x="4419600" y="346710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COMPARISON</a:t>
            </a:r>
          </a:p>
        </p:txBody>
      </p:sp>
      <p:sp>
        <p:nvSpPr>
          <p:cNvPr id="26" name="">
            <a:extLst xmlns:a="http://schemas.openxmlformats.org/drawingml/2006/main">
              <a:ext uri="{FF2B5EF4-FFF2-40B4-BE49-F238E27FC236}">
                <a16:creationId xmlns:a16="http://schemas.microsoft.com/office/drawing/2014/main" id="{01068553-B305-454E-99D6-12DCD2D44B4A}"/>
              </a:ext>
            </a:extLst>
          </p:cNvPr>
          <p:cNvSpPr>
            <a:spLocks xmlns:a="http://schemas.openxmlformats.org/drawingml/2006/main" noGrp="1"/>
          </p:cNvSpPr>
          <p:nvPr/>
        </p:nvSpPr>
        <p:spPr>
          <a:xfrm xmlns:a="http://schemas.openxmlformats.org/drawingml/2006/main">
            <a:off x="4419600" y="37338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Matched seeds</a:t>
            </a:r>
          </a:p>
        </p:txBody>
      </p:sp>
      <p:sp>
        <p:nvSpPr>
          <p:cNvPr id="27" name="">
            <a:extLst xmlns:a="http://schemas.openxmlformats.org/drawingml/2006/main">
              <a:ext uri="{FF2B5EF4-FFF2-40B4-BE49-F238E27FC236}">
                <a16:creationId xmlns:a16="http://schemas.microsoft.com/office/drawing/2014/main" id="{D142D102-A33F-4105-AF4C-8329C3C3B014}"/>
              </a:ext>
            </a:extLst>
          </p:cNvPr>
          <p:cNvSpPr>
            <a:spLocks xmlns:a="http://schemas.openxmlformats.org/drawingml/2006/main" noGrp="1"/>
          </p:cNvSpPr>
          <p:nvPr/>
        </p:nvSpPr>
        <p:spPr>
          <a:xfrm xmlns:a="http://schemas.openxmlformats.org/drawingml/2006/main">
            <a:off x="4419600" y="418147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28" name="">
            <a:extLst xmlns:a="http://schemas.openxmlformats.org/drawingml/2006/main">
              <a:ext uri="{FF2B5EF4-FFF2-40B4-BE49-F238E27FC236}">
                <a16:creationId xmlns:a16="http://schemas.microsoft.com/office/drawing/2014/main" id="{C7B9177B-0CE8-48D4-A07F-AAC4FF7DD07D}"/>
              </a:ext>
            </a:extLst>
          </p:cNvPr>
          <p:cNvSpPr>
            <a:spLocks xmlns:a="http://schemas.openxmlformats.org/drawingml/2006/main" noGrp="1"/>
          </p:cNvSpPr>
          <p:nvPr/>
        </p:nvSpPr>
        <p:spPr>
          <a:xfrm xmlns:a="http://schemas.openxmlformats.org/drawingml/2006/main">
            <a:off x="4419600" y="4324350"/>
            <a:ext cx="335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333333"/>
                </a:solidFill>
                <a:latin typeface="Arial"/>
                <a:ea typeface="Arial"/>
                <a:cs typeface="Arial"/>
              </a:defRPr>
            </a:pPr>
            <a:r>
              <a:rPr sz="1200" b="0" i="0">
                <a:solidFill>
                  <a:srgbClr val="333333"/>
                </a:solidFill>
                <a:latin typeface="Arial"/>
                <a:ea typeface="Arial"/>
                <a:cs typeface="Arial"/>
              </a:rPr>
              <a:t>Compared conditions reuse the same nominal seeds and locked hyperparameters. No seed-specific retuning is performed.</a:t>
            </a:r>
          </a:p>
        </p:txBody>
      </p:sp>
      <p:sp>
        <p:nvSpPr>
          <p:cNvPr id="29" name="">
            <a:extLst xmlns:a="http://schemas.openxmlformats.org/drawingml/2006/main">
              <a:ext uri="{FF2B5EF4-FFF2-40B4-BE49-F238E27FC236}">
                <a16:creationId xmlns:a16="http://schemas.microsoft.com/office/drawing/2014/main" id="{FE691DCD-FDE4-428A-BCD2-A226AD265FEA}"/>
              </a:ext>
            </a:extLst>
          </p:cNvPr>
          <p:cNvSpPr>
            <a:spLocks xmlns:a="http://schemas.openxmlformats.org/drawingml/2006/main" noGrp="1"/>
          </p:cNvSpPr>
          <p:nvPr/>
        </p:nvSpPr>
        <p:spPr>
          <a:xfrm xmlns:a="http://schemas.openxmlformats.org/drawingml/2006/main">
            <a:off x="8153400" y="346710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REPRODUCIBILITY</a:t>
            </a:r>
          </a:p>
        </p:txBody>
      </p:sp>
      <p:sp>
        <p:nvSpPr>
          <p:cNvPr id="30" name="">
            <a:extLst xmlns:a="http://schemas.openxmlformats.org/drawingml/2006/main">
              <a:ext uri="{FF2B5EF4-FFF2-40B4-BE49-F238E27FC236}">
                <a16:creationId xmlns:a16="http://schemas.microsoft.com/office/drawing/2014/main" id="{CF5EC427-7DB5-42EC-9B2C-74EFC2755D1E}"/>
              </a:ext>
            </a:extLst>
          </p:cNvPr>
          <p:cNvSpPr>
            <a:spLocks xmlns:a="http://schemas.openxmlformats.org/drawingml/2006/main" noGrp="1"/>
          </p:cNvSpPr>
          <p:nvPr/>
        </p:nvSpPr>
        <p:spPr>
          <a:xfrm xmlns:a="http://schemas.openxmlformats.org/drawingml/2006/main">
            <a:off x="8153400" y="37338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Non-bitwise execution</a:t>
            </a:r>
          </a:p>
        </p:txBody>
      </p:sp>
      <p:sp>
        <p:nvSpPr>
          <p:cNvPr id="31" name="">
            <a:extLst xmlns:a="http://schemas.openxmlformats.org/drawingml/2006/main">
              <a:ext uri="{FF2B5EF4-FFF2-40B4-BE49-F238E27FC236}">
                <a16:creationId xmlns:a16="http://schemas.microsoft.com/office/drawing/2014/main" id="{139EC791-B71F-465A-A487-8897855C5066}"/>
              </a:ext>
            </a:extLst>
          </p:cNvPr>
          <p:cNvSpPr>
            <a:spLocks xmlns:a="http://schemas.openxmlformats.org/drawingml/2006/main" noGrp="1"/>
          </p:cNvSpPr>
          <p:nvPr/>
        </p:nvSpPr>
        <p:spPr>
          <a:xfrm xmlns:a="http://schemas.openxmlformats.org/drawingml/2006/main">
            <a:off x="8153400" y="418147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2" name="">
            <a:extLst xmlns:a="http://schemas.openxmlformats.org/drawingml/2006/main">
              <a:ext uri="{FF2B5EF4-FFF2-40B4-BE49-F238E27FC236}">
                <a16:creationId xmlns:a16="http://schemas.microsoft.com/office/drawing/2014/main" id="{6DF694FE-F513-496F-9987-81597F4F2C4B}"/>
              </a:ext>
            </a:extLst>
          </p:cNvPr>
          <p:cNvSpPr>
            <a:spLocks xmlns:a="http://schemas.openxmlformats.org/drawingml/2006/main" noGrp="1"/>
          </p:cNvSpPr>
          <p:nvPr/>
        </p:nvSpPr>
        <p:spPr>
          <a:xfrm xmlns:a="http://schemas.openxmlformats.org/drawingml/2006/main">
            <a:off x="8153400" y="4324350"/>
            <a:ext cx="335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333333"/>
                </a:solidFill>
                <a:latin typeface="Arial"/>
                <a:ea typeface="Arial"/>
                <a:cs typeface="Arial"/>
              </a:defRPr>
            </a:pPr>
            <a:r>
              <a:rPr sz="1200" b="0" i="0">
                <a:solidFill>
                  <a:srgbClr val="333333"/>
                </a:solidFill>
                <a:latin typeface="Arial"/>
                <a:ea typeface="Arial"/>
                <a:cs typeface="Arial"/>
              </a:rPr>
              <a:t>BF16/TF32, cuDNN kernels, and augmentation streams mean a nominal seed does not imply an identical trajectory.</a:t>
            </a:r>
          </a:p>
        </p:txBody>
      </p:sp>
    </p:spTree>
    <p:extLst>
      <p:ext uri="{BB962C8B-B14F-4D97-AF65-F5344CB8AC3E}">
        <p14:creationId xmlns:p14="http://schemas.microsoft.com/office/powerpoint/2010/main" val="78183616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18396A27-86D1-4C09-8229-1FE5DD535937}"/>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Parameter split used in this study</a:t>
            </a:r>
          </a:p>
        </p:txBody>
      </p:sp>
      <p:sp>
        <p:nvSpPr>
          <p:cNvPr id="2" name="">
            <a:extLst xmlns:a="http://schemas.openxmlformats.org/drawingml/2006/main">
              <a:ext uri="{FF2B5EF4-FFF2-40B4-BE49-F238E27FC236}">
                <a16:creationId xmlns:a16="http://schemas.microsoft.com/office/drawing/2014/main" id="{61C24082-C3C3-4D84-A2BD-D9E77322A31F}"/>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slide-subtitle">
            <a:extLst xmlns:a="http://schemas.openxmlformats.org/drawingml/2006/main">
              <a:ext uri="{FF2B5EF4-FFF2-40B4-BE49-F238E27FC236}">
                <a16:creationId xmlns:a16="http://schemas.microsoft.com/office/drawing/2014/main" id="{644FDE81-4E04-466E-987E-CCA46CE2D523}"/>
              </a:ext>
            </a:extLst>
          </p:cNvPr>
          <p:cNvSpPr>
            <a:spLocks xmlns:a="http://schemas.openxmlformats.org/drawingml/2006/main" noGrp="1"/>
          </p:cNvSpPr>
          <p:nvPr/>
        </p:nvSpPr>
        <p:spPr>
          <a:xfrm xmlns:a="http://schemas.openxmlformats.org/drawingml/2006/main">
            <a:off x="685800" y="10668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666666"/>
                </a:solidFill>
                <a:latin typeface="Arial"/>
                <a:ea typeface="Arial"/>
                <a:cs typeface="Arial"/>
              </a:defRPr>
            </a:pPr>
            <a:r>
              <a:rPr sz="1125" b="0" i="0">
                <a:solidFill>
                  <a:srgbClr val="666666"/>
                </a:solidFill>
                <a:latin typeface="Arial"/>
                <a:ea typeface="Arial"/>
                <a:cs typeface="Arial"/>
              </a:rPr>
              <a:t>AdamW is an internal auxiliary branch here, not a full-model baseline in the reported comparisons.</a:t>
            </a:r>
          </a:p>
        </p:txBody>
      </p:sp>
      <p:sp>
        <p:nvSpPr>
          <p:cNvPr id="4" name="">
            <a:extLst xmlns:a="http://schemas.openxmlformats.org/drawingml/2006/main">
              <a:ext uri="{FF2B5EF4-FFF2-40B4-BE49-F238E27FC236}">
                <a16:creationId xmlns:a16="http://schemas.microsoft.com/office/drawing/2014/main" id="{0223CB37-7337-4E1A-91DE-C7239E96CBE1}"/>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28DDF83-3ED3-4D8B-95AF-41DBD821AC9B}"/>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6" name="">
            <a:extLst xmlns:a="http://schemas.openxmlformats.org/drawingml/2006/main">
              <a:ext uri="{FF2B5EF4-FFF2-40B4-BE49-F238E27FC236}">
                <a16:creationId xmlns:a16="http://schemas.microsoft.com/office/drawing/2014/main" id="{8D74144C-EC9C-4346-99D0-101FE76C6FCA}"/>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14</a:t>
            </a:r>
          </a:p>
        </p:txBody>
      </p:sp>
      <p:sp>
        <p:nvSpPr>
          <p:cNvPr id="7" name="">
            <a:extLst xmlns:a="http://schemas.openxmlformats.org/drawingml/2006/main">
              <a:ext uri="{FF2B5EF4-FFF2-40B4-BE49-F238E27FC236}">
                <a16:creationId xmlns:a16="http://schemas.microsoft.com/office/drawing/2014/main" id="{B6DAE4FA-9A9D-4757-B3EA-754416C9841F}"/>
              </a:ext>
            </a:extLst>
          </p:cNvPr>
          <p:cNvSpPr>
            <a:spLocks xmlns:a="http://schemas.openxmlformats.org/drawingml/2006/main" noGrp="1"/>
          </p:cNvSpPr>
          <p:nvPr/>
        </p:nvSpPr>
        <p:spPr>
          <a:xfrm xmlns:a="http://schemas.openxmlformats.org/drawingml/2006/main">
            <a:off x="685800" y="1581150"/>
            <a:ext cx="5105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RANK ≥ 2</a:t>
            </a:r>
          </a:p>
        </p:txBody>
      </p:sp>
      <p:sp>
        <p:nvSpPr>
          <p:cNvPr id="8" name="">
            <a:extLst xmlns:a="http://schemas.openxmlformats.org/drawingml/2006/main">
              <a:ext uri="{FF2B5EF4-FFF2-40B4-BE49-F238E27FC236}">
                <a16:creationId xmlns:a16="http://schemas.microsoft.com/office/drawing/2014/main" id="{AE61BDF2-89FF-4F03-8A68-7CCD149CE121}"/>
              </a:ext>
            </a:extLst>
          </p:cNvPr>
          <p:cNvSpPr>
            <a:spLocks xmlns:a="http://schemas.openxmlformats.org/drawingml/2006/main" noGrp="1"/>
          </p:cNvSpPr>
          <p:nvPr/>
        </p:nvSpPr>
        <p:spPr>
          <a:xfrm xmlns:a="http://schemas.openxmlformats.org/drawingml/2006/main">
            <a:off x="685800" y="1847850"/>
            <a:ext cx="510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i="0">
                <a:solidFill>
                  <a:srgbClr val="282828"/>
                </a:solidFill>
                <a:latin typeface="Arial"/>
                <a:ea typeface="Arial"/>
                <a:cs typeface="Arial"/>
              </a:defRPr>
            </a:pPr>
            <a:r>
              <a:rPr sz="2025" b="1" i="0">
                <a:solidFill>
                  <a:srgbClr val="282828"/>
                </a:solidFill>
                <a:latin typeface="Arial"/>
                <a:ea typeface="Arial"/>
                <a:cs typeface="Arial"/>
              </a:rPr>
              <a:t>Matrix parameters: Muon</a:t>
            </a:r>
          </a:p>
        </p:txBody>
      </p:sp>
      <p:sp>
        <p:nvSpPr>
          <p:cNvPr id="9" name="">
            <a:extLst xmlns:a="http://schemas.openxmlformats.org/drawingml/2006/main">
              <a:ext uri="{FF2B5EF4-FFF2-40B4-BE49-F238E27FC236}">
                <a16:creationId xmlns:a16="http://schemas.microsoft.com/office/drawing/2014/main" id="{7269C76D-CC68-4805-A0E0-5DDC2D043D55}"/>
              </a:ext>
            </a:extLst>
          </p:cNvPr>
          <p:cNvSpPr>
            <a:spLocks xmlns:a="http://schemas.openxmlformats.org/drawingml/2006/main" noGrp="1"/>
          </p:cNvSpPr>
          <p:nvPr/>
        </p:nvSpPr>
        <p:spPr>
          <a:xfrm xmlns:a="http://schemas.openxmlformats.org/drawingml/2006/main">
            <a:off x="685800" y="2295525"/>
            <a:ext cx="5105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0" name="">
            <a:extLst xmlns:a="http://schemas.openxmlformats.org/drawingml/2006/main">
              <a:ext uri="{FF2B5EF4-FFF2-40B4-BE49-F238E27FC236}">
                <a16:creationId xmlns:a16="http://schemas.microsoft.com/office/drawing/2014/main" id="{CF3FC0FE-5645-46A8-B092-A57E855BA3A9}"/>
              </a:ext>
            </a:extLst>
          </p:cNvPr>
          <p:cNvSpPr>
            <a:spLocks xmlns:a="http://schemas.openxmlformats.org/drawingml/2006/main" noGrp="1"/>
          </p:cNvSpPr>
          <p:nvPr/>
        </p:nvSpPr>
        <p:spPr>
          <a:xfrm xmlns:a="http://schemas.openxmlformats.org/drawingml/2006/main">
            <a:off x="685800" y="2438400"/>
            <a:ext cx="5105400" cy="281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333333"/>
                </a:solidFill>
                <a:latin typeface="Arial"/>
                <a:ea typeface="Arial"/>
                <a:cs typeface="Arial"/>
              </a:defRPr>
            </a:pPr>
            <a:r>
              <a:rPr sz="1200" b="0" i="0">
                <a:solidFill>
                  <a:srgbClr val="333333"/>
                </a:solidFill>
                <a:latin typeface="Arial"/>
                <a:ea typeface="Arial"/>
                <a:cs typeface="Arial"/>
              </a:rPr>
              <a:t>Includes classifier weights. Convolution kernels [out, in, kH, kW] are reshaped to [out, in·kH·kW].</a:t>
            </a:r>
          </a:p>
          <a:p xmlns:a="http://schemas.openxmlformats.org/drawingml/2006/main">
            <a:r>
              <a:t/>
            </a:r>
          </a:p>
          <a:p xmlns:a="http://schemas.openxmlformats.org/drawingml/2006/main">
            <a:pPr algn="l">
              <a:lnSpc>
                <a:spcPct val="108000"/>
              </a:lnSpc>
              <a:buNone/>
              <a:defRPr sz="1200" b="0" i="0">
                <a:solidFill>
                  <a:srgbClr val="333333"/>
                </a:solidFill>
                <a:latin typeface="Arial"/>
                <a:ea typeface="Arial"/>
                <a:cs typeface="Arial"/>
              </a:defRPr>
            </a:pPr>
            <a:r>
              <a:rPr sz="1200" b="0" i="0">
                <a:solidFill>
                  <a:srgbClr val="333333"/>
                </a:solidFill>
                <a:latin typeface="Arial"/>
                <a:ea typeface="Arial"/>
                <a:cs typeface="Arial"/>
              </a:rPr>
              <a:t>• experiment matrix LR</a:t>
            </a:r>
          </a:p>
          <a:p xmlns:a="http://schemas.openxmlformats.org/drawingml/2006/main">
            <a:pPr algn="l">
              <a:lnSpc>
                <a:spcPct val="108000"/>
              </a:lnSpc>
              <a:buNone/>
              <a:defRPr sz="1200" b="0" i="0">
                <a:solidFill>
                  <a:srgbClr val="333333"/>
                </a:solidFill>
                <a:latin typeface="Arial"/>
                <a:ea typeface="Arial"/>
                <a:cs typeface="Arial"/>
              </a:defRPr>
            </a:pPr>
            <a:r>
              <a:rPr sz="1200" b="0" i="0">
                <a:solidFill>
                  <a:srgbClr val="333333"/>
                </a:solidFill>
                <a:latin typeface="Arial"/>
                <a:ea typeface="Arial"/>
                <a:cs typeface="Arial"/>
              </a:rPr>
              <a:t>• β defined by the tested policy</a:t>
            </a:r>
          </a:p>
          <a:p xmlns:a="http://schemas.openxmlformats.org/drawingml/2006/main">
            <a:pPr algn="l">
              <a:lnSpc>
                <a:spcPct val="108000"/>
              </a:lnSpc>
              <a:buNone/>
              <a:defRPr sz="1200" b="0" i="0">
                <a:solidFill>
                  <a:srgbClr val="333333"/>
                </a:solidFill>
                <a:latin typeface="Arial"/>
                <a:ea typeface="Arial"/>
                <a:cs typeface="Arial"/>
              </a:defRPr>
            </a:pPr>
            <a:r>
              <a:rPr sz="1200" b="0" i="0">
                <a:solidFill>
                  <a:srgbClr val="333333"/>
                </a:solidFill>
                <a:latin typeface="Arial"/>
                <a:ea typeface="Arial"/>
                <a:cs typeface="Arial"/>
              </a:rPr>
              <a:t>• Nesterov direction</a:t>
            </a:r>
          </a:p>
          <a:p xmlns:a="http://schemas.openxmlformats.org/drawingml/2006/main">
            <a:pPr algn="l">
              <a:lnSpc>
                <a:spcPct val="108000"/>
              </a:lnSpc>
              <a:buNone/>
              <a:defRPr sz="1200" b="0" i="0">
                <a:solidFill>
                  <a:srgbClr val="333333"/>
                </a:solidFill>
                <a:latin typeface="Arial"/>
                <a:ea typeface="Arial"/>
                <a:cs typeface="Arial"/>
              </a:defRPr>
            </a:pPr>
            <a:r>
              <a:rPr sz="1200" b="0" i="0">
                <a:solidFill>
                  <a:srgbClr val="333333"/>
                </a:solidFill>
                <a:latin typeface="Arial"/>
                <a:ea typeface="Arial"/>
                <a:cs typeface="Arial"/>
              </a:rPr>
              <a:t>• 5 Newton–Schulz steps</a:t>
            </a:r>
          </a:p>
          <a:p xmlns:a="http://schemas.openxmlformats.org/drawingml/2006/main">
            <a:pPr algn="l">
              <a:lnSpc>
                <a:spcPct val="108000"/>
              </a:lnSpc>
              <a:buNone/>
              <a:defRPr sz="1200" b="0" i="0">
                <a:solidFill>
                  <a:srgbClr val="333333"/>
                </a:solidFill>
                <a:latin typeface="Arial"/>
                <a:ea typeface="Arial"/>
                <a:cs typeface="Arial"/>
              </a:defRPr>
            </a:pPr>
            <a:r>
              <a:rPr sz="1200" b="0" i="0">
                <a:solidFill>
                  <a:srgbClr val="333333"/>
                </a:solidFill>
                <a:latin typeface="Arial"/>
                <a:ea typeface="Arial"/>
                <a:cs typeface="Arial"/>
              </a:rPr>
              <a:t>• matrix weight decay 5×10⁻⁴</a:t>
            </a:r>
          </a:p>
        </p:txBody>
      </p:sp>
      <p:sp>
        <p:nvSpPr>
          <p:cNvPr id="11" name="">
            <a:extLst xmlns:a="http://schemas.openxmlformats.org/drawingml/2006/main">
              <a:ext uri="{FF2B5EF4-FFF2-40B4-BE49-F238E27FC236}">
                <a16:creationId xmlns:a16="http://schemas.microsoft.com/office/drawing/2014/main" id="{312BE4C9-F768-47B7-A2D8-A5BED2263387}"/>
              </a:ext>
            </a:extLst>
          </p:cNvPr>
          <p:cNvSpPr>
            <a:spLocks xmlns:a="http://schemas.openxmlformats.org/drawingml/2006/main" noGrp="1"/>
          </p:cNvSpPr>
          <p:nvPr/>
        </p:nvSpPr>
        <p:spPr>
          <a:xfrm xmlns:a="http://schemas.openxmlformats.org/drawingml/2006/main">
            <a:off x="6400800" y="1581150"/>
            <a:ext cx="5105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RANK &lt; 2</a:t>
            </a:r>
          </a:p>
        </p:txBody>
      </p:sp>
      <p:sp>
        <p:nvSpPr>
          <p:cNvPr id="12" name="">
            <a:extLst xmlns:a="http://schemas.openxmlformats.org/drawingml/2006/main">
              <a:ext uri="{FF2B5EF4-FFF2-40B4-BE49-F238E27FC236}">
                <a16:creationId xmlns:a16="http://schemas.microsoft.com/office/drawing/2014/main" id="{FEEE9E42-4CD5-46F3-BDB5-A42994B56056}"/>
              </a:ext>
            </a:extLst>
          </p:cNvPr>
          <p:cNvSpPr>
            <a:spLocks xmlns:a="http://schemas.openxmlformats.org/drawingml/2006/main" noGrp="1"/>
          </p:cNvSpPr>
          <p:nvPr/>
        </p:nvSpPr>
        <p:spPr>
          <a:xfrm xmlns:a="http://schemas.openxmlformats.org/drawingml/2006/main">
            <a:off x="6400800" y="1847850"/>
            <a:ext cx="510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i="0">
                <a:solidFill>
                  <a:srgbClr val="282828"/>
                </a:solidFill>
                <a:latin typeface="Arial"/>
                <a:ea typeface="Arial"/>
                <a:cs typeface="Arial"/>
              </a:defRPr>
            </a:pPr>
            <a:r>
              <a:rPr sz="2025" b="1" i="0">
                <a:solidFill>
                  <a:srgbClr val="282828"/>
                </a:solidFill>
                <a:latin typeface="Arial"/>
                <a:ea typeface="Arial"/>
                <a:cs typeface="Arial"/>
              </a:rPr>
              <a:t>Lower-dimensional tensors: AdamW</a:t>
            </a:r>
          </a:p>
        </p:txBody>
      </p:sp>
      <p:sp>
        <p:nvSpPr>
          <p:cNvPr id="13" name="">
            <a:extLst xmlns:a="http://schemas.openxmlformats.org/drawingml/2006/main">
              <a:ext uri="{FF2B5EF4-FFF2-40B4-BE49-F238E27FC236}">
                <a16:creationId xmlns:a16="http://schemas.microsoft.com/office/drawing/2014/main" id="{BBAEFB26-6ABB-404F-B21C-1CBF0AB285C1}"/>
              </a:ext>
            </a:extLst>
          </p:cNvPr>
          <p:cNvSpPr>
            <a:spLocks xmlns:a="http://schemas.openxmlformats.org/drawingml/2006/main" noGrp="1"/>
          </p:cNvSpPr>
          <p:nvPr/>
        </p:nvSpPr>
        <p:spPr>
          <a:xfrm xmlns:a="http://schemas.openxmlformats.org/drawingml/2006/main">
            <a:off x="6400800" y="2295525"/>
            <a:ext cx="5105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4" name="">
            <a:extLst xmlns:a="http://schemas.openxmlformats.org/drawingml/2006/main">
              <a:ext uri="{FF2B5EF4-FFF2-40B4-BE49-F238E27FC236}">
                <a16:creationId xmlns:a16="http://schemas.microsoft.com/office/drawing/2014/main" id="{98E9F8B8-1F4E-4B46-962E-147DC44E0290}"/>
              </a:ext>
            </a:extLst>
          </p:cNvPr>
          <p:cNvSpPr>
            <a:spLocks xmlns:a="http://schemas.openxmlformats.org/drawingml/2006/main" noGrp="1"/>
          </p:cNvSpPr>
          <p:nvPr/>
        </p:nvSpPr>
        <p:spPr>
          <a:xfrm xmlns:a="http://schemas.openxmlformats.org/drawingml/2006/main">
            <a:off x="6400800" y="2438400"/>
            <a:ext cx="5105400" cy="281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333333"/>
                </a:solidFill>
                <a:latin typeface="Arial"/>
                <a:ea typeface="Arial"/>
                <a:cs typeface="Arial"/>
              </a:defRPr>
            </a:pPr>
            <a:r>
              <a:rPr sz="1350" b="0" i="0">
                <a:solidFill>
                  <a:srgbClr val="333333"/>
                </a:solidFill>
                <a:latin typeface="Arial"/>
                <a:ea typeface="Arial"/>
                <a:cs typeface="Arial"/>
              </a:rPr>
              <a:t>Examples: biases, normalization scales</a:t>
            </a:r>
          </a:p>
          <a:p xmlns:a="http://schemas.openxmlformats.org/drawingml/2006/main">
            <a:r>
              <a:t/>
            </a:r>
          </a:p>
          <a:p xmlns:a="http://schemas.openxmlformats.org/drawingml/2006/main">
            <a:pPr algn="l">
              <a:lnSpc>
                <a:spcPct val="108000"/>
              </a:lnSpc>
              <a:buNone/>
              <a:defRPr sz="1350" b="0" i="0">
                <a:solidFill>
                  <a:srgbClr val="333333"/>
                </a:solidFill>
                <a:latin typeface="Arial"/>
                <a:ea typeface="Arial"/>
                <a:cs typeface="Arial"/>
              </a:defRPr>
            </a:pPr>
            <a:r>
              <a:rPr sz="1350" b="0" i="0">
                <a:solidFill>
                  <a:srgbClr val="333333"/>
                </a:solidFill>
                <a:latin typeface="Arial"/>
                <a:ea typeface="Arial"/>
                <a:cs typeface="Arial"/>
              </a:rPr>
              <a:t>• fixed LR 0.001</a:t>
            </a:r>
          </a:p>
          <a:p xmlns:a="http://schemas.openxmlformats.org/drawingml/2006/main">
            <a:pPr algn="l">
              <a:lnSpc>
                <a:spcPct val="108000"/>
              </a:lnSpc>
              <a:buNone/>
              <a:defRPr sz="1350" b="0" i="0">
                <a:solidFill>
                  <a:srgbClr val="333333"/>
                </a:solidFill>
                <a:latin typeface="Arial"/>
                <a:ea typeface="Arial"/>
                <a:cs typeface="Arial"/>
              </a:defRPr>
            </a:pPr>
            <a:r>
              <a:rPr sz="1350" b="0" i="0">
                <a:solidFill>
                  <a:srgbClr val="333333"/>
                </a:solidFill>
                <a:latin typeface="Arial"/>
                <a:ea typeface="Arial"/>
                <a:cs typeface="Arial"/>
              </a:rPr>
              <a:t>• betas (0.9, 0.999)</a:t>
            </a:r>
          </a:p>
          <a:p xmlns:a="http://schemas.openxmlformats.org/drawingml/2006/main">
            <a:pPr algn="l">
              <a:lnSpc>
                <a:spcPct val="108000"/>
              </a:lnSpc>
              <a:buNone/>
              <a:defRPr sz="1350" b="0" i="0">
                <a:solidFill>
                  <a:srgbClr val="333333"/>
                </a:solidFill>
                <a:latin typeface="Arial"/>
                <a:ea typeface="Arial"/>
                <a:cs typeface="Arial"/>
              </a:defRPr>
            </a:pPr>
            <a:r>
              <a:rPr sz="1350" b="0" i="0">
                <a:solidFill>
                  <a:srgbClr val="333333"/>
                </a:solidFill>
                <a:latin typeface="Arial"/>
                <a:ea typeface="Arial"/>
                <a:cs typeface="Arial"/>
              </a:rPr>
              <a:t>• epsilon 10⁻⁸</a:t>
            </a:r>
          </a:p>
          <a:p xmlns:a="http://schemas.openxmlformats.org/drawingml/2006/main">
            <a:pPr algn="l">
              <a:lnSpc>
                <a:spcPct val="108000"/>
              </a:lnSpc>
              <a:buNone/>
              <a:defRPr sz="1350" b="0" i="0">
                <a:solidFill>
                  <a:srgbClr val="333333"/>
                </a:solidFill>
                <a:latin typeface="Arial"/>
                <a:ea typeface="Arial"/>
                <a:cs typeface="Arial"/>
              </a:defRPr>
            </a:pPr>
            <a:r>
              <a:rPr sz="1350" b="0" i="0">
                <a:solidFill>
                  <a:srgbClr val="333333"/>
                </a:solidFill>
                <a:latin typeface="Arial"/>
                <a:ea typeface="Arial"/>
                <a:cs typeface="Arial"/>
              </a:rPr>
              <a:t>• weight decay 0</a:t>
            </a:r>
          </a:p>
          <a:p xmlns:a="http://schemas.openxmlformats.org/drawingml/2006/main">
            <a:pPr algn="l">
              <a:lnSpc>
                <a:spcPct val="108000"/>
              </a:lnSpc>
              <a:buNone/>
              <a:defRPr sz="1350" b="0" i="0">
                <a:solidFill>
                  <a:srgbClr val="333333"/>
                </a:solidFill>
                <a:latin typeface="Arial"/>
                <a:ea typeface="Arial"/>
                <a:cs typeface="Arial"/>
              </a:defRPr>
            </a:pPr>
            <a:r>
              <a:rPr sz="1350" b="0" i="0">
                <a:solidFill>
                  <a:srgbClr val="333333"/>
                </a:solidFill>
                <a:latin typeface="Arial"/>
                <a:ea typeface="Arial"/>
                <a:cs typeface="Arial"/>
              </a:rPr>
              <a:t>• unchanged across clean matched grids</a:t>
            </a:r>
          </a:p>
        </p:txBody>
      </p:sp>
    </p:spTree>
    <p:extLst>
      <p:ext uri="{BB962C8B-B14F-4D97-AF65-F5344CB8AC3E}">
        <p14:creationId xmlns:p14="http://schemas.microsoft.com/office/powerpoint/2010/main" val="27693093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6D3D11B8-7439-4E01-87B7-601059BB0CDB}"/>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Learning-rate and momentum schedules</a:t>
            </a:r>
          </a:p>
        </p:txBody>
      </p:sp>
      <p:sp>
        <p:nvSpPr>
          <p:cNvPr id="2" name="">
            <a:extLst xmlns:a="http://schemas.openxmlformats.org/drawingml/2006/main">
              <a:ext uri="{FF2B5EF4-FFF2-40B4-BE49-F238E27FC236}">
                <a16:creationId xmlns:a16="http://schemas.microsoft.com/office/drawing/2014/main" id="{D80EDE62-A998-44C6-996D-5F311B8E539E}"/>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4EDB815B-1EF7-487F-8E71-FCDEB870A19C}"/>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83EBCAB-5B56-4CFD-96BA-B427C0359F6C}"/>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CEC90871-F154-4F54-B25C-D234BA19899C}"/>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15</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8f95e8bcd1f4792"/>
          <a:stretch xmlns:a="http://schemas.openxmlformats.org/drawingml/2006/main"/>
        </p:blipFill>
        <p:spPr>
          <a:xfrm xmlns:a="http://schemas.openxmlformats.org/drawingml/2006/main">
            <a:off x="890215" y="1200150"/>
            <a:ext cx="10411569" cy="4629150"/>
          </a:xfrm>
          <a:prstGeom xmlns:a="http://schemas.openxmlformats.org/drawingml/2006/main" prst="rect">
            <a:avLst/>
          </a:prstGeom>
        </p:spPr>
      </p:pic>
    </p:spTree>
    <p:extLst>
      <p:ext uri="{BB962C8B-B14F-4D97-AF65-F5344CB8AC3E}">
        <p14:creationId xmlns:p14="http://schemas.microsoft.com/office/powerpoint/2010/main" val="164700971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2EDF4250-6AD5-4FD8-823C-CB660EA45D14}"/>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Experiment methodology</a:t>
            </a:r>
          </a:p>
        </p:txBody>
      </p:sp>
      <p:sp>
        <p:nvSpPr>
          <p:cNvPr id="2" name="">
            <a:extLst xmlns:a="http://schemas.openxmlformats.org/drawingml/2006/main">
              <a:ext uri="{FF2B5EF4-FFF2-40B4-BE49-F238E27FC236}">
                <a16:creationId xmlns:a16="http://schemas.microsoft.com/office/drawing/2014/main" id="{FA55243D-B0E0-4065-B70C-BADA35725CB1}"/>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C661BC39-D465-4CF8-BE00-69896AF6ACE4}"/>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45CBF53-CBD6-4B2E-9536-204D0BEA5AEA}"/>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28B00A21-19AA-4AF1-8076-34FCD47367EA}"/>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16</a:t>
            </a:r>
          </a:p>
        </p:txBody>
      </p:sp>
      <p:sp>
        <p:nvSpPr>
          <p:cNvPr id="6" name="">
            <a:extLst xmlns:a="http://schemas.openxmlformats.org/drawingml/2006/main">
              <a:ext uri="{FF2B5EF4-FFF2-40B4-BE49-F238E27FC236}">
                <a16:creationId xmlns:a16="http://schemas.microsoft.com/office/drawing/2014/main" id="{28763B6B-2164-4F0E-A8F3-79F124575567}"/>
              </a:ext>
            </a:extLst>
          </p:cNvPr>
          <p:cNvSpPr>
            <a:spLocks xmlns:a="http://schemas.openxmlformats.org/drawingml/2006/main" noGrp="1"/>
          </p:cNvSpPr>
          <p:nvPr/>
        </p:nvSpPr>
        <p:spPr>
          <a:xfrm xmlns:a="http://schemas.openxmlformats.org/drawingml/2006/main">
            <a:off x="685800" y="160020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DISCOVERY</a:t>
            </a:r>
          </a:p>
        </p:txBody>
      </p:sp>
      <p:sp>
        <p:nvSpPr>
          <p:cNvPr id="7" name="">
            <a:extLst xmlns:a="http://schemas.openxmlformats.org/drawingml/2006/main">
              <a:ext uri="{FF2B5EF4-FFF2-40B4-BE49-F238E27FC236}">
                <a16:creationId xmlns:a16="http://schemas.microsoft.com/office/drawing/2014/main" id="{5C3BB030-D213-4B7F-A13B-49CBFBF26C90}"/>
              </a:ext>
            </a:extLst>
          </p:cNvPr>
          <p:cNvSpPr>
            <a:spLocks xmlns:a="http://schemas.openxmlformats.org/drawingml/2006/main" noGrp="1"/>
          </p:cNvSpPr>
          <p:nvPr/>
        </p:nvSpPr>
        <p:spPr>
          <a:xfrm xmlns:a="http://schemas.openxmlformats.org/drawingml/2006/main">
            <a:off x="685800" y="18669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Exploratory grids</a:t>
            </a:r>
          </a:p>
        </p:txBody>
      </p:sp>
      <p:sp>
        <p:nvSpPr>
          <p:cNvPr id="8" name="">
            <a:extLst xmlns:a="http://schemas.openxmlformats.org/drawingml/2006/main">
              <a:ext uri="{FF2B5EF4-FFF2-40B4-BE49-F238E27FC236}">
                <a16:creationId xmlns:a16="http://schemas.microsoft.com/office/drawing/2014/main" id="{A2FDA06D-D38E-40A7-BD3E-491B812AA4D6}"/>
              </a:ext>
            </a:extLst>
          </p:cNvPr>
          <p:cNvSpPr>
            <a:spLocks xmlns:a="http://schemas.openxmlformats.org/drawingml/2006/main" noGrp="1"/>
          </p:cNvSpPr>
          <p:nvPr/>
        </p:nvSpPr>
        <p:spPr>
          <a:xfrm xmlns:a="http://schemas.openxmlformats.org/drawingml/2006/main">
            <a:off x="685800" y="231457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9" name="">
            <a:extLst xmlns:a="http://schemas.openxmlformats.org/drawingml/2006/main">
              <a:ext uri="{FF2B5EF4-FFF2-40B4-BE49-F238E27FC236}">
                <a16:creationId xmlns:a16="http://schemas.microsoft.com/office/drawing/2014/main" id="{2C137B5D-B911-4E47-AE60-C665935DB7F4}"/>
              </a:ext>
            </a:extLst>
          </p:cNvPr>
          <p:cNvSpPr>
            <a:spLocks xmlns:a="http://schemas.openxmlformats.org/drawingml/2006/main" noGrp="1"/>
          </p:cNvSpPr>
          <p:nvPr/>
        </p:nvSpPr>
        <p:spPr>
          <a:xfrm xmlns:a="http://schemas.openxmlformats.org/drawingml/2006/main">
            <a:off x="685800" y="2457450"/>
            <a:ext cx="3352800" cy="2647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Purpose: map the design space quickly</a:t>
            </a:r>
          </a:p>
          <a:p xmlns:a="http://schemas.openxmlformats.org/drawingml/2006/main">
            <a:r>
              <a:t/>
            </a:r>
          </a:p>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 many coefficients and schedules</a:t>
            </a:r>
          </a:p>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 often nominal seed 42</a:t>
            </a:r>
          </a:p>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 descriptive, not a final ranking</a:t>
            </a:r>
          </a:p>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 failed regions retained as evidence</a:t>
            </a:r>
          </a:p>
        </p:txBody>
      </p:sp>
      <p:sp>
        <p:nvSpPr>
          <p:cNvPr id="10" name="">
            <a:extLst xmlns:a="http://schemas.openxmlformats.org/drawingml/2006/main">
              <a:ext uri="{FF2B5EF4-FFF2-40B4-BE49-F238E27FC236}">
                <a16:creationId xmlns:a16="http://schemas.microsoft.com/office/drawing/2014/main" id="{F61EEE0F-9393-48D8-9593-42637E44B094}"/>
              </a:ext>
            </a:extLst>
          </p:cNvPr>
          <p:cNvSpPr>
            <a:spLocks xmlns:a="http://schemas.openxmlformats.org/drawingml/2006/main" noGrp="1"/>
          </p:cNvSpPr>
          <p:nvPr/>
        </p:nvSpPr>
        <p:spPr>
          <a:xfrm xmlns:a="http://schemas.openxmlformats.org/drawingml/2006/main">
            <a:off x="4419600" y="160020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EVIDENCE</a:t>
            </a:r>
          </a:p>
        </p:txBody>
      </p:sp>
      <p:sp>
        <p:nvSpPr>
          <p:cNvPr id="11" name="">
            <a:extLst xmlns:a="http://schemas.openxmlformats.org/drawingml/2006/main">
              <a:ext uri="{FF2B5EF4-FFF2-40B4-BE49-F238E27FC236}">
                <a16:creationId xmlns:a16="http://schemas.microsoft.com/office/drawing/2014/main" id="{8E2AE403-9866-4A16-9837-9C1CB77523A7}"/>
              </a:ext>
            </a:extLst>
          </p:cNvPr>
          <p:cNvSpPr>
            <a:spLocks xmlns:a="http://schemas.openxmlformats.org/drawingml/2006/main" noGrp="1"/>
          </p:cNvSpPr>
          <p:nvPr/>
        </p:nvSpPr>
        <p:spPr>
          <a:xfrm xmlns:a="http://schemas.openxmlformats.org/drawingml/2006/main">
            <a:off x="4419600" y="18669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Matched confirmations</a:t>
            </a:r>
          </a:p>
        </p:txBody>
      </p:sp>
      <p:sp>
        <p:nvSpPr>
          <p:cNvPr id="12" name="">
            <a:extLst xmlns:a="http://schemas.openxmlformats.org/drawingml/2006/main">
              <a:ext uri="{FF2B5EF4-FFF2-40B4-BE49-F238E27FC236}">
                <a16:creationId xmlns:a16="http://schemas.microsoft.com/office/drawing/2014/main" id="{69089614-0795-4E5B-8F59-F6C70D5AE029}"/>
              </a:ext>
            </a:extLst>
          </p:cNvPr>
          <p:cNvSpPr>
            <a:spLocks xmlns:a="http://schemas.openxmlformats.org/drawingml/2006/main" noGrp="1"/>
          </p:cNvSpPr>
          <p:nvPr/>
        </p:nvSpPr>
        <p:spPr>
          <a:xfrm xmlns:a="http://schemas.openxmlformats.org/drawingml/2006/main">
            <a:off x="4419600" y="231457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3" name="">
            <a:extLst xmlns:a="http://schemas.openxmlformats.org/drawingml/2006/main">
              <a:ext uri="{FF2B5EF4-FFF2-40B4-BE49-F238E27FC236}">
                <a16:creationId xmlns:a16="http://schemas.microsoft.com/office/drawing/2014/main" id="{A0478F5D-90C2-489F-B7AF-A11BAF10B430}"/>
              </a:ext>
            </a:extLst>
          </p:cNvPr>
          <p:cNvSpPr>
            <a:spLocks xmlns:a="http://schemas.openxmlformats.org/drawingml/2006/main" noGrp="1"/>
          </p:cNvSpPr>
          <p:nvPr/>
        </p:nvSpPr>
        <p:spPr>
          <a:xfrm xmlns:a="http://schemas.openxmlformats.org/drawingml/2006/main">
            <a:off x="4419600" y="2457450"/>
            <a:ext cx="3352800" cy="2647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Purpose: support the reported claims</a:t>
            </a:r>
          </a:p>
          <a:p xmlns:a="http://schemas.openxmlformats.org/drawingml/2006/main">
            <a:r>
              <a:t/>
            </a:r>
          </a:p>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 seeds 42, 43, 44</a:t>
            </a:r>
          </a:p>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 same hyperparameters per seed</a:t>
            </a:r>
          </a:p>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 paired comparisons where possible</a:t>
            </a:r>
          </a:p>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 mean ± sample SD</a:t>
            </a:r>
          </a:p>
        </p:txBody>
      </p:sp>
      <p:sp>
        <p:nvSpPr>
          <p:cNvPr id="14" name="">
            <a:extLst xmlns:a="http://schemas.openxmlformats.org/drawingml/2006/main">
              <a:ext uri="{FF2B5EF4-FFF2-40B4-BE49-F238E27FC236}">
                <a16:creationId xmlns:a16="http://schemas.microsoft.com/office/drawing/2014/main" id="{9CCE5D4B-A8BF-459E-82C6-C14C8A8603DF}"/>
              </a:ext>
            </a:extLst>
          </p:cNvPr>
          <p:cNvSpPr>
            <a:spLocks xmlns:a="http://schemas.openxmlformats.org/drawingml/2006/main" noGrp="1"/>
          </p:cNvSpPr>
          <p:nvPr/>
        </p:nvSpPr>
        <p:spPr>
          <a:xfrm xmlns:a="http://schemas.openxmlformats.org/drawingml/2006/main">
            <a:off x="8153400" y="160020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SCOPE</a:t>
            </a:r>
          </a:p>
        </p:txBody>
      </p:sp>
      <p:sp>
        <p:nvSpPr>
          <p:cNvPr id="15" name="">
            <a:extLst xmlns:a="http://schemas.openxmlformats.org/drawingml/2006/main">
              <a:ext uri="{FF2B5EF4-FFF2-40B4-BE49-F238E27FC236}">
                <a16:creationId xmlns:a16="http://schemas.microsoft.com/office/drawing/2014/main" id="{93FC61B2-DB70-4F2A-9C25-3EEC78EAF0C9}"/>
              </a:ext>
            </a:extLst>
          </p:cNvPr>
          <p:cNvSpPr>
            <a:spLocks xmlns:a="http://schemas.openxmlformats.org/drawingml/2006/main" noGrp="1"/>
          </p:cNvSpPr>
          <p:nvPr/>
        </p:nvSpPr>
        <p:spPr>
          <a:xfrm xmlns:a="http://schemas.openxmlformats.org/drawingml/2006/main">
            <a:off x="8153400" y="18669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Two workload roles</a:t>
            </a:r>
          </a:p>
        </p:txBody>
      </p:sp>
      <p:sp>
        <p:nvSpPr>
          <p:cNvPr id="16" name="">
            <a:extLst xmlns:a="http://schemas.openxmlformats.org/drawingml/2006/main">
              <a:ext uri="{FF2B5EF4-FFF2-40B4-BE49-F238E27FC236}">
                <a16:creationId xmlns:a16="http://schemas.microsoft.com/office/drawing/2014/main" id="{6C93416E-953D-4B6D-A259-3177BAB6C8DF}"/>
              </a:ext>
            </a:extLst>
          </p:cNvPr>
          <p:cNvSpPr>
            <a:spLocks xmlns:a="http://schemas.openxmlformats.org/drawingml/2006/main" noGrp="1"/>
          </p:cNvSpPr>
          <p:nvPr/>
        </p:nvSpPr>
        <p:spPr>
          <a:xfrm xmlns:a="http://schemas.openxmlformats.org/drawingml/2006/main">
            <a:off x="8153400" y="231457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7" name="">
            <a:extLst xmlns:a="http://schemas.openxmlformats.org/drawingml/2006/main">
              <a:ext uri="{FF2B5EF4-FFF2-40B4-BE49-F238E27FC236}">
                <a16:creationId xmlns:a16="http://schemas.microsoft.com/office/drawing/2014/main" id="{BB04F254-95FE-43F9-B43B-DA748153BC24}"/>
              </a:ext>
            </a:extLst>
          </p:cNvPr>
          <p:cNvSpPr>
            <a:spLocks xmlns:a="http://schemas.openxmlformats.org/drawingml/2006/main" noGrp="1"/>
          </p:cNvSpPr>
          <p:nvPr/>
        </p:nvSpPr>
        <p:spPr>
          <a:xfrm xmlns:a="http://schemas.openxmlformats.org/drawingml/2006/main">
            <a:off x="8153400" y="2457450"/>
            <a:ext cx="3352800" cy="2647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Purpose: balance scale and cost</a:t>
            </a:r>
          </a:p>
          <a:p xmlns:a="http://schemas.openxmlformats.org/drawingml/2006/main">
            <a:r>
              <a:t/>
            </a:r>
          </a:p>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 ResNet: complete, inexpensive ablations</a:t>
            </a:r>
          </a:p>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 TinyViT: selected transfer tests</a:t>
            </a:r>
          </a:p>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 no claim of universal optimality</a:t>
            </a:r>
          </a:p>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 backup contains full coverage</a:t>
            </a:r>
          </a:p>
        </p:txBody>
      </p:sp>
      <p:sp>
        <p:nvSpPr>
          <p:cNvPr id="18" name="">
            <a:extLst xmlns:a="http://schemas.openxmlformats.org/drawingml/2006/main">
              <a:ext uri="{FF2B5EF4-FFF2-40B4-BE49-F238E27FC236}">
                <a16:creationId xmlns:a16="http://schemas.microsoft.com/office/drawing/2014/main" id="{67BAE7DA-7F50-414A-8725-587E6A318464}"/>
              </a:ext>
            </a:extLst>
          </p:cNvPr>
          <p:cNvSpPr>
            <a:spLocks xmlns:a="http://schemas.openxmlformats.org/drawingml/2006/main" noGrp="1"/>
          </p:cNvSpPr>
          <p:nvPr/>
        </p:nvSpPr>
        <p:spPr>
          <a:xfrm xmlns:a="http://schemas.openxmlformats.org/drawingml/2006/main">
            <a:off x="952500" y="55626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i="0">
                <a:solidFill>
                  <a:srgbClr val="555555"/>
                </a:solidFill>
                <a:latin typeface="Arial"/>
                <a:ea typeface="Arial"/>
                <a:cs typeface="Arial"/>
              </a:defRPr>
            </a:pPr>
            <a:r>
              <a:rPr sz="1125" b="1" i="0">
                <a:solidFill>
                  <a:srgbClr val="555555"/>
                </a:solidFill>
                <a:latin typeface="Arial"/>
                <a:ea typeface="Arial"/>
                <a:cs typeface="Arial"/>
              </a:rPr>
              <a:t>Seed 42 also appears in exploration, so the confirmations are replicated evidence, not a held-out test set.</a:t>
            </a:r>
          </a:p>
        </p:txBody>
      </p:sp>
    </p:spTree>
    <p:extLst>
      <p:ext uri="{BB962C8B-B14F-4D97-AF65-F5344CB8AC3E}">
        <p14:creationId xmlns:p14="http://schemas.microsoft.com/office/powerpoint/2010/main" val="75678242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FE4AFB62-E437-41EC-9233-A272D5E2FA00}"/>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MARS corrects the gradient before Muon</a:t>
            </a:r>
          </a:p>
        </p:txBody>
      </p:sp>
      <p:sp>
        <p:nvSpPr>
          <p:cNvPr id="2" name="">
            <a:extLst xmlns:a="http://schemas.openxmlformats.org/drawingml/2006/main">
              <a:ext uri="{FF2B5EF4-FFF2-40B4-BE49-F238E27FC236}">
                <a16:creationId xmlns:a16="http://schemas.microsoft.com/office/drawing/2014/main" id="{33CF68D5-F27F-40D2-8343-14A919178372}"/>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FE56B936-0BFA-42AA-9B9E-C24DD4293230}"/>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FB384F9-D375-4924-9DD7-1312F9D67EFD}"/>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D70C3736-D96C-4F74-ACDC-47ED3CF83650}"/>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17</a:t>
            </a:r>
          </a:p>
        </p:txBody>
      </p:sp>
      <p:sp>
        <p:nvSpPr>
          <p:cNvPr id="6" name="">
            <a:extLst xmlns:a="http://schemas.openxmlformats.org/drawingml/2006/main">
              <a:ext uri="{FF2B5EF4-FFF2-40B4-BE49-F238E27FC236}">
                <a16:creationId xmlns:a16="http://schemas.microsoft.com/office/drawing/2014/main" id="{3971B5D9-A1CC-4E26-BC88-E807643426A3}"/>
              </a:ext>
            </a:extLst>
          </p:cNvPr>
          <p:cNvSpPr>
            <a:spLocks xmlns:a="http://schemas.openxmlformats.org/drawingml/2006/main" noGrp="1"/>
          </p:cNvSpPr>
          <p:nvPr/>
        </p:nvSpPr>
        <p:spPr>
          <a:xfrm xmlns:a="http://schemas.openxmlformats.org/drawingml/2006/main">
            <a:off x="1524000" y="1676400"/>
            <a:ext cx="914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150" b="1" i="0">
                <a:solidFill>
                  <a:srgbClr val="444444"/>
                </a:solidFill>
                <a:latin typeface="Arial"/>
                <a:ea typeface="Arial"/>
                <a:cs typeface="Arial"/>
              </a:defRPr>
            </a:pPr>
            <a:r>
              <a:rPr sz="3150" b="1" i="0">
                <a:solidFill>
                  <a:srgbClr val="444444"/>
                </a:solidFill>
                <a:latin typeface="Arial"/>
                <a:ea typeface="Arial"/>
                <a:cs typeface="Arial"/>
              </a:rPr>
              <a:t>mₜ = gₜ + γₜ (gₜ − gₜ₋₁)</a:t>
            </a:r>
          </a:p>
        </p:txBody>
      </p:sp>
      <p:sp>
        <p:nvSpPr>
          <p:cNvPr id="7" name="">
            <a:extLst xmlns:a="http://schemas.openxmlformats.org/drawingml/2006/main">
              <a:ext uri="{FF2B5EF4-FFF2-40B4-BE49-F238E27FC236}">
                <a16:creationId xmlns:a16="http://schemas.microsoft.com/office/drawing/2014/main" id="{1501BF85-0994-4650-B44A-7446DA1CD72A}"/>
              </a:ext>
            </a:extLst>
          </p:cNvPr>
          <p:cNvSpPr>
            <a:spLocks xmlns:a="http://schemas.openxmlformats.org/drawingml/2006/main" noGrp="1"/>
          </p:cNvSpPr>
          <p:nvPr/>
        </p:nvSpPr>
        <p:spPr>
          <a:xfrm xmlns:a="http://schemas.openxmlformats.org/drawingml/2006/main">
            <a:off x="2286000" y="2667000"/>
            <a:ext cx="7620000" cy="0"/>
          </a:xfrm>
          <a:prstGeom xmlns:a="http://schemas.openxmlformats.org/drawingml/2006/main" prst="line">
            <a:avLst/>
          </a:prstGeom>
          <a:noFill xmlns:a="http://schemas.openxmlformats.org/drawingml/2006/main"/>
          <a:ln xmlns:a="http://schemas.openxmlformats.org/drawingml/2006/main" w="14288">
            <a:solidFill>
              <a:srgbClr val="A6A6A6"/>
            </a:solidFill>
            <a:prstDash val="solid"/>
          </a:ln>
        </p:spPr>
      </p:sp>
      <p:sp>
        <p:nvSpPr>
          <p:cNvPr id="8" name="">
            <a:extLst xmlns:a="http://schemas.openxmlformats.org/drawingml/2006/main">
              <a:ext uri="{FF2B5EF4-FFF2-40B4-BE49-F238E27FC236}">
                <a16:creationId xmlns:a16="http://schemas.microsoft.com/office/drawing/2014/main" id="{3B008042-FB8C-490C-81C3-98BBB9CC4748}"/>
              </a:ext>
            </a:extLst>
          </p:cNvPr>
          <p:cNvSpPr>
            <a:spLocks xmlns:a="http://schemas.openxmlformats.org/drawingml/2006/main" noGrp="1"/>
          </p:cNvSpPr>
          <p:nvPr/>
        </p:nvSpPr>
        <p:spPr>
          <a:xfrm xmlns:a="http://schemas.openxmlformats.org/drawingml/2006/main">
            <a:off x="685800" y="310515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SIGNAL</a:t>
            </a:r>
          </a:p>
        </p:txBody>
      </p:sp>
      <p:sp>
        <p:nvSpPr>
          <p:cNvPr id="9" name="">
            <a:extLst xmlns:a="http://schemas.openxmlformats.org/drawingml/2006/main">
              <a:ext uri="{FF2B5EF4-FFF2-40B4-BE49-F238E27FC236}">
                <a16:creationId xmlns:a16="http://schemas.microsoft.com/office/drawing/2014/main" id="{063BD14B-42FA-4189-921D-8618EE38A12F}"/>
              </a:ext>
            </a:extLst>
          </p:cNvPr>
          <p:cNvSpPr>
            <a:spLocks xmlns:a="http://schemas.openxmlformats.org/drawingml/2006/main" noGrp="1"/>
          </p:cNvSpPr>
          <p:nvPr/>
        </p:nvSpPr>
        <p:spPr>
          <a:xfrm xmlns:a="http://schemas.openxmlformats.org/drawingml/2006/main">
            <a:off x="685800" y="337185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Current gradient</a:t>
            </a:r>
          </a:p>
        </p:txBody>
      </p:sp>
      <p:sp>
        <p:nvSpPr>
          <p:cNvPr id="10" name="">
            <a:extLst xmlns:a="http://schemas.openxmlformats.org/drawingml/2006/main">
              <a:ext uri="{FF2B5EF4-FFF2-40B4-BE49-F238E27FC236}">
                <a16:creationId xmlns:a16="http://schemas.microsoft.com/office/drawing/2014/main" id="{C258EF5F-5620-41A6-9922-1D832EC2D08C}"/>
              </a:ext>
            </a:extLst>
          </p:cNvPr>
          <p:cNvSpPr>
            <a:spLocks xmlns:a="http://schemas.openxmlformats.org/drawingml/2006/main" noGrp="1"/>
          </p:cNvSpPr>
          <p:nvPr/>
        </p:nvSpPr>
        <p:spPr>
          <a:xfrm xmlns:a="http://schemas.openxmlformats.org/drawingml/2006/main">
            <a:off x="685800" y="381952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1" name="">
            <a:extLst xmlns:a="http://schemas.openxmlformats.org/drawingml/2006/main">
              <a:ext uri="{FF2B5EF4-FFF2-40B4-BE49-F238E27FC236}">
                <a16:creationId xmlns:a16="http://schemas.microsoft.com/office/drawing/2014/main" id="{EDCF9401-2581-491E-910C-7DD413D22074}"/>
              </a:ext>
            </a:extLst>
          </p:cNvPr>
          <p:cNvSpPr>
            <a:spLocks xmlns:a="http://schemas.openxmlformats.org/drawingml/2006/main" noGrp="1"/>
          </p:cNvSpPr>
          <p:nvPr/>
        </p:nvSpPr>
        <p:spPr>
          <a:xfrm xmlns:a="http://schemas.openxmlformats.org/drawingml/2006/main">
            <a:off x="685800" y="3962400"/>
            <a:ext cx="33528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gₜ provides the present minibatch direction.</a:t>
            </a:r>
          </a:p>
        </p:txBody>
      </p:sp>
      <p:sp>
        <p:nvSpPr>
          <p:cNvPr id="12" name="">
            <a:extLst xmlns:a="http://schemas.openxmlformats.org/drawingml/2006/main">
              <a:ext uri="{FF2B5EF4-FFF2-40B4-BE49-F238E27FC236}">
                <a16:creationId xmlns:a16="http://schemas.microsoft.com/office/drawing/2014/main" id="{EE588043-39DA-42B3-A557-0C42FD87DEE1}"/>
              </a:ext>
            </a:extLst>
          </p:cNvPr>
          <p:cNvSpPr>
            <a:spLocks xmlns:a="http://schemas.openxmlformats.org/drawingml/2006/main" noGrp="1"/>
          </p:cNvSpPr>
          <p:nvPr/>
        </p:nvSpPr>
        <p:spPr>
          <a:xfrm xmlns:a="http://schemas.openxmlformats.org/drawingml/2006/main">
            <a:off x="4419600" y="310515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CORRECTION</a:t>
            </a:r>
          </a:p>
        </p:txBody>
      </p:sp>
      <p:sp>
        <p:nvSpPr>
          <p:cNvPr id="13" name="">
            <a:extLst xmlns:a="http://schemas.openxmlformats.org/drawingml/2006/main">
              <a:ext uri="{FF2B5EF4-FFF2-40B4-BE49-F238E27FC236}">
                <a16:creationId xmlns:a16="http://schemas.microsoft.com/office/drawing/2014/main" id="{BA31E615-C5B6-4A37-A716-CA0CEDE54CB9}"/>
              </a:ext>
            </a:extLst>
          </p:cNvPr>
          <p:cNvSpPr>
            <a:spLocks xmlns:a="http://schemas.openxmlformats.org/drawingml/2006/main" noGrp="1"/>
          </p:cNvSpPr>
          <p:nvPr/>
        </p:nvSpPr>
        <p:spPr>
          <a:xfrm xmlns:a="http://schemas.openxmlformats.org/drawingml/2006/main">
            <a:off x="4419600" y="337185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Gradient difference</a:t>
            </a:r>
          </a:p>
        </p:txBody>
      </p:sp>
      <p:sp>
        <p:nvSpPr>
          <p:cNvPr id="14" name="">
            <a:extLst xmlns:a="http://schemas.openxmlformats.org/drawingml/2006/main">
              <a:ext uri="{FF2B5EF4-FFF2-40B4-BE49-F238E27FC236}">
                <a16:creationId xmlns:a16="http://schemas.microsoft.com/office/drawing/2014/main" id="{A4CE2619-001F-4075-8210-6E671F4A96DF}"/>
              </a:ext>
            </a:extLst>
          </p:cNvPr>
          <p:cNvSpPr>
            <a:spLocks xmlns:a="http://schemas.openxmlformats.org/drawingml/2006/main" noGrp="1"/>
          </p:cNvSpPr>
          <p:nvPr/>
        </p:nvSpPr>
        <p:spPr>
          <a:xfrm xmlns:a="http://schemas.openxmlformats.org/drawingml/2006/main">
            <a:off x="4419600" y="381952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5" name="">
            <a:extLst xmlns:a="http://schemas.openxmlformats.org/drawingml/2006/main">
              <a:ext uri="{FF2B5EF4-FFF2-40B4-BE49-F238E27FC236}">
                <a16:creationId xmlns:a16="http://schemas.microsoft.com/office/drawing/2014/main" id="{35CDCF36-284D-4A38-9198-BC798A27A4A9}"/>
              </a:ext>
            </a:extLst>
          </p:cNvPr>
          <p:cNvSpPr>
            <a:spLocks xmlns:a="http://schemas.openxmlformats.org/drawingml/2006/main" noGrp="1"/>
          </p:cNvSpPr>
          <p:nvPr/>
        </p:nvSpPr>
        <p:spPr>
          <a:xfrm xmlns:a="http://schemas.openxmlformats.org/drawingml/2006/main">
            <a:off x="4419600" y="3962400"/>
            <a:ext cx="33528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gₜ − gₜ₋₁ changes local directional responsiveness. Any stabilization interpretation remains a hypothesis.</a:t>
            </a:r>
          </a:p>
        </p:txBody>
      </p:sp>
      <p:sp>
        <p:nvSpPr>
          <p:cNvPr id="16" name="">
            <a:extLst xmlns:a="http://schemas.openxmlformats.org/drawingml/2006/main">
              <a:ext uri="{FF2B5EF4-FFF2-40B4-BE49-F238E27FC236}">
                <a16:creationId xmlns:a16="http://schemas.microsoft.com/office/drawing/2014/main" id="{FFDD7568-78CC-4BDC-A55D-15B22A2B718E}"/>
              </a:ext>
            </a:extLst>
          </p:cNvPr>
          <p:cNvSpPr>
            <a:spLocks xmlns:a="http://schemas.openxmlformats.org/drawingml/2006/main" noGrp="1"/>
          </p:cNvSpPr>
          <p:nvPr/>
        </p:nvSpPr>
        <p:spPr>
          <a:xfrm xmlns:a="http://schemas.openxmlformats.org/drawingml/2006/main">
            <a:off x="8153400" y="310515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STRENGTH</a:t>
            </a:r>
          </a:p>
        </p:txBody>
      </p:sp>
      <p:sp>
        <p:nvSpPr>
          <p:cNvPr id="17" name="">
            <a:extLst xmlns:a="http://schemas.openxmlformats.org/drawingml/2006/main">
              <a:ext uri="{FF2B5EF4-FFF2-40B4-BE49-F238E27FC236}">
                <a16:creationId xmlns:a16="http://schemas.microsoft.com/office/drawing/2014/main" id="{EFE8AC1C-8189-4DD9-BC7B-6D7E36D14816}"/>
              </a:ext>
            </a:extLst>
          </p:cNvPr>
          <p:cNvSpPr>
            <a:spLocks xmlns:a="http://schemas.openxmlformats.org/drawingml/2006/main" noGrp="1"/>
          </p:cNvSpPr>
          <p:nvPr/>
        </p:nvSpPr>
        <p:spPr>
          <a:xfrm xmlns:a="http://schemas.openxmlformats.org/drawingml/2006/main">
            <a:off x="8153400" y="337185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Coefficient γ</a:t>
            </a:r>
          </a:p>
        </p:txBody>
      </p:sp>
      <p:sp>
        <p:nvSpPr>
          <p:cNvPr id="18" name="">
            <a:extLst xmlns:a="http://schemas.openxmlformats.org/drawingml/2006/main">
              <a:ext uri="{FF2B5EF4-FFF2-40B4-BE49-F238E27FC236}">
                <a16:creationId xmlns:a16="http://schemas.microsoft.com/office/drawing/2014/main" id="{0BC03049-54DF-4900-8435-066EFE0E5387}"/>
              </a:ext>
            </a:extLst>
          </p:cNvPr>
          <p:cNvSpPr>
            <a:spLocks xmlns:a="http://schemas.openxmlformats.org/drawingml/2006/main" noGrp="1"/>
          </p:cNvSpPr>
          <p:nvPr/>
        </p:nvSpPr>
        <p:spPr>
          <a:xfrm xmlns:a="http://schemas.openxmlformats.org/drawingml/2006/main">
            <a:off x="8153400" y="381952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9" name="">
            <a:extLst xmlns:a="http://schemas.openxmlformats.org/drawingml/2006/main">
              <a:ext uri="{FF2B5EF4-FFF2-40B4-BE49-F238E27FC236}">
                <a16:creationId xmlns:a16="http://schemas.microsoft.com/office/drawing/2014/main" id="{45D73BA1-EA00-4969-8856-BBEDB8522061}"/>
              </a:ext>
            </a:extLst>
          </p:cNvPr>
          <p:cNvSpPr>
            <a:spLocks xmlns:a="http://schemas.openxmlformats.org/drawingml/2006/main" noGrp="1"/>
          </p:cNvSpPr>
          <p:nvPr/>
        </p:nvSpPr>
        <p:spPr>
          <a:xfrm xmlns:a="http://schemas.openxmlformats.org/drawingml/2006/main">
            <a:off x="8153400" y="3962400"/>
            <a:ext cx="33528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γ = 0 recovers the exact within-implementation Muon control; positive γ is swept explicitly.</a:t>
            </a:r>
          </a:p>
        </p:txBody>
      </p:sp>
      <p:sp>
        <p:nvSpPr>
          <p:cNvPr id="20" name="">
            <a:extLst xmlns:a="http://schemas.openxmlformats.org/drawingml/2006/main">
              <a:ext uri="{FF2B5EF4-FFF2-40B4-BE49-F238E27FC236}">
                <a16:creationId xmlns:a16="http://schemas.microsoft.com/office/drawing/2014/main" id="{F5F30ABE-8DCE-47C3-92D0-BE70CF821309}"/>
              </a:ext>
            </a:extLst>
          </p:cNvPr>
          <p:cNvSpPr>
            <a:spLocks xmlns:a="http://schemas.openxmlformats.org/drawingml/2006/main" noGrp="1"/>
          </p:cNvSpPr>
          <p:nvPr/>
        </p:nvSpPr>
        <p:spPr>
          <a:xfrm xmlns:a="http://schemas.openxmlformats.org/drawingml/2006/main">
            <a:off x="685800" y="6324600"/>
            <a:ext cx="10001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i="0">
                <a:solidFill>
                  <a:srgbClr val="666666"/>
                </a:solidFill>
                <a:latin typeface="Arial"/>
                <a:ea typeface="Arial"/>
                <a:cs typeface="Arial"/>
              </a:defRPr>
            </a:pPr>
            <a:r>
              <a:rPr sz="750" b="0" i="0">
                <a:solidFill>
                  <a:srgbClr val="666666"/>
                </a:solidFill>
                <a:latin typeface="Arial"/>
                <a:ea typeface="Arial"/>
                <a:cs typeface="Arial"/>
              </a:rPr>
              <a:t>Unlike MARS-M, this study omits β/(1−β) scaling and corrected-gradient clipping.</a:t>
            </a:r>
          </a:p>
        </p:txBody>
      </p:sp>
    </p:spTree>
    <p:extLst>
      <p:ext uri="{BB962C8B-B14F-4D97-AF65-F5344CB8AC3E}">
        <p14:creationId xmlns:p14="http://schemas.microsoft.com/office/powerpoint/2010/main" val="2441724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24A367D9-FC01-4D87-A1F5-0CADA0373C53}"/>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i="0">
                <a:solidFill>
                  <a:srgbClr val="282828"/>
                </a:solidFill>
                <a:latin typeface="Arial"/>
                <a:ea typeface="Arial"/>
                <a:cs typeface="Arial"/>
              </a:defRPr>
            </a:pPr>
            <a:r>
              <a:rPr sz="2175" b="0" i="0">
                <a:solidFill>
                  <a:srgbClr val="282828"/>
                </a:solidFill>
                <a:latin typeface="Arial"/>
                <a:ea typeface="Arial"/>
                <a:cs typeface="Arial"/>
              </a:rPr>
              <a:t>MARS-M previously combined variance reduction with Muon</a:t>
            </a:r>
          </a:p>
        </p:txBody>
      </p:sp>
      <p:sp>
        <p:nvSpPr>
          <p:cNvPr id="2" name="">
            <a:extLst xmlns:a="http://schemas.openxmlformats.org/drawingml/2006/main">
              <a:ext uri="{FF2B5EF4-FFF2-40B4-BE49-F238E27FC236}">
                <a16:creationId xmlns:a16="http://schemas.microsoft.com/office/drawing/2014/main" id="{DA0C60E3-668E-4418-92F0-9145639017DA}"/>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A957E57A-F6F2-4113-93F4-F0B00D8B24DD}"/>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F540CCE-AFBE-46FC-A778-1D9E11DC839C}"/>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3A80ECB0-4DFD-469C-B022-1F38D17A5CE1}"/>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18</a:t>
            </a:r>
          </a:p>
        </p:txBody>
      </p:sp>
      <p:sp>
        <p:nvSpPr>
          <p:cNvPr id="6" name="">
            <a:extLst xmlns:a="http://schemas.openxmlformats.org/drawingml/2006/main">
              <a:ext uri="{FF2B5EF4-FFF2-40B4-BE49-F238E27FC236}">
                <a16:creationId xmlns:a16="http://schemas.microsoft.com/office/drawing/2014/main" id="{7BF1EB82-DD4C-4E65-AF50-CADB2BB2B904}"/>
              </a:ext>
            </a:extLst>
          </p:cNvPr>
          <p:cNvSpPr>
            <a:spLocks xmlns:a="http://schemas.openxmlformats.org/drawingml/2006/main" noGrp="1"/>
          </p:cNvSpPr>
          <p:nvPr/>
        </p:nvSpPr>
        <p:spPr>
          <a:xfrm xmlns:a="http://schemas.openxmlformats.org/drawingml/2006/main">
            <a:off x="819150" y="1066800"/>
            <a:ext cx="10553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i="0">
                <a:solidFill>
                  <a:srgbClr val="333333"/>
                </a:solidFill>
                <a:latin typeface="Arial"/>
                <a:ea typeface="Arial"/>
                <a:cs typeface="Arial"/>
              </a:defRPr>
            </a:pPr>
            <a:r>
              <a:rPr sz="1125" b="0" i="0">
                <a:solidFill>
                  <a:srgbClr val="333333"/>
                </a:solidFill>
                <a:latin typeface="Arial"/>
                <a:ea typeface="Arial"/>
                <a:cs typeface="Arial"/>
              </a:rPr>
              <a:t>MARS scaled STORM-style correction for preconditioned optimizers; MARS-M carried it into Moonlight / Muon.</a:t>
            </a:r>
          </a:p>
        </p:txBody>
      </p:sp>
      <p:sp>
        <p:nvSpPr>
          <p:cNvPr id="7" name="">
            <a:extLst xmlns:a="http://schemas.openxmlformats.org/drawingml/2006/main">
              <a:ext uri="{FF2B5EF4-FFF2-40B4-BE49-F238E27FC236}">
                <a16:creationId xmlns:a16="http://schemas.microsoft.com/office/drawing/2014/main" id="{13128DF9-D9E4-4986-AC4E-E471DC08684D}"/>
              </a:ext>
            </a:extLst>
          </p:cNvPr>
          <p:cNvSpPr>
            <a:spLocks xmlns:a="http://schemas.openxmlformats.org/drawingml/2006/main" noGrp="1"/>
          </p:cNvSpPr>
          <p:nvPr/>
        </p:nvSpPr>
        <p:spPr>
          <a:xfrm xmlns:a="http://schemas.openxmlformats.org/drawingml/2006/main">
            <a:off x="819150" y="1371600"/>
            <a:ext cx="10553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725" b="0" i="0">
                <a:solidFill>
                  <a:srgbClr val="282828"/>
                </a:solidFill>
                <a:latin typeface="Arial"/>
                <a:ea typeface="Arial"/>
                <a:cs typeface="Arial"/>
              </a:defRPr>
            </a:pPr>
            <a:r>
              <a:rPr sz="1725" b="0" i="0">
                <a:solidFill>
                  <a:srgbClr val="282828"/>
                </a:solidFill>
                <a:latin typeface="Arial"/>
                <a:ea typeface="Arial"/>
                <a:cs typeface="Arial"/>
              </a:rPr>
              <a:t>Cₜ = ∇f(Xₜ, ξₜ) + γₜ β/(1−β) [∇f(Xₜ, ξₜ) − ∇f(Xₜ₋₁, ξₜ)]</a:t>
            </a:r>
          </a:p>
        </p:txBody>
      </p:sp>
      <p:sp>
        <p:nvSpPr>
          <p:cNvPr id="8" name="">
            <a:extLst xmlns:a="http://schemas.openxmlformats.org/drawingml/2006/main">
              <a:ext uri="{FF2B5EF4-FFF2-40B4-BE49-F238E27FC236}">
                <a16:creationId xmlns:a16="http://schemas.microsoft.com/office/drawing/2014/main" id="{FB246D2B-4681-4EEF-A869-EA4B3F707617}"/>
              </a:ext>
            </a:extLst>
          </p:cNvPr>
          <p:cNvSpPr>
            <a:spLocks xmlns:a="http://schemas.openxmlformats.org/drawingml/2006/main" noGrp="1"/>
          </p:cNvSpPr>
          <p:nvPr/>
        </p:nvSpPr>
        <p:spPr>
          <a:xfrm xmlns:a="http://schemas.openxmlformats.org/drawingml/2006/main">
            <a:off x="819150" y="1962150"/>
            <a:ext cx="10553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0" i="0">
                <a:solidFill>
                  <a:srgbClr val="282828"/>
                </a:solidFill>
                <a:latin typeface="Arial"/>
                <a:ea typeface="Arial"/>
                <a:cs typeface="Arial"/>
              </a:defRPr>
            </a:pPr>
            <a:r>
              <a:rPr sz="1800" b="0" i="0">
                <a:solidFill>
                  <a:srgbClr val="282828"/>
                </a:solidFill>
                <a:latin typeface="Arial"/>
                <a:ea typeface="Arial"/>
                <a:cs typeface="Arial"/>
              </a:rPr>
              <a:t>Mₜ = βMₜ₋₁ + (1−β) Clip(Cₜ, 1)</a:t>
            </a:r>
          </a:p>
        </p:txBody>
      </p:sp>
      <p:sp>
        <p:nvSpPr>
          <p:cNvPr id="9" name="">
            <a:extLst xmlns:a="http://schemas.openxmlformats.org/drawingml/2006/main">
              <a:ext uri="{FF2B5EF4-FFF2-40B4-BE49-F238E27FC236}">
                <a16:creationId xmlns:a16="http://schemas.microsoft.com/office/drawing/2014/main" id="{FD1704B8-6DE0-4D5B-8D9A-E4AC48829C09}"/>
              </a:ext>
            </a:extLst>
          </p:cNvPr>
          <p:cNvSpPr>
            <a:spLocks xmlns:a="http://schemas.openxmlformats.org/drawingml/2006/main" noGrp="1"/>
          </p:cNvSpPr>
          <p:nvPr/>
        </p:nvSpPr>
        <p:spPr>
          <a:xfrm xmlns:a="http://schemas.openxmlformats.org/drawingml/2006/main">
            <a:off x="819150" y="2457450"/>
            <a:ext cx="10553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0" i="0">
                <a:solidFill>
                  <a:srgbClr val="282828"/>
                </a:solidFill>
                <a:latin typeface="Arial"/>
                <a:ea typeface="Arial"/>
                <a:cs typeface="Arial"/>
              </a:defRPr>
            </a:pPr>
            <a:r>
              <a:rPr sz="1800" b="0" i="0">
                <a:solidFill>
                  <a:srgbClr val="282828"/>
                </a:solidFill>
                <a:latin typeface="Arial"/>
                <a:ea typeface="Arial"/>
                <a:cs typeface="Arial"/>
              </a:rPr>
              <a:t>Oₜ = NewtonSchulz(Mₜ)</a:t>
            </a:r>
          </a:p>
        </p:txBody>
      </p:sp>
      <p:sp>
        <p:nvSpPr>
          <p:cNvPr id="10" name="">
            <a:extLst xmlns:a="http://schemas.openxmlformats.org/drawingml/2006/main">
              <a:ext uri="{FF2B5EF4-FFF2-40B4-BE49-F238E27FC236}">
                <a16:creationId xmlns:a16="http://schemas.microsoft.com/office/drawing/2014/main" id="{F17219DF-3B5D-4EFF-8F9D-1E4AFD1D7E4B}"/>
              </a:ext>
            </a:extLst>
          </p:cNvPr>
          <p:cNvSpPr>
            <a:spLocks xmlns:a="http://schemas.openxmlformats.org/drawingml/2006/main" noGrp="1"/>
          </p:cNvSpPr>
          <p:nvPr/>
        </p:nvSpPr>
        <p:spPr>
          <a:xfrm xmlns:a="http://schemas.openxmlformats.org/drawingml/2006/main">
            <a:off x="819150" y="2895600"/>
            <a:ext cx="10553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0" i="0">
                <a:solidFill>
                  <a:srgbClr val="282828"/>
                </a:solidFill>
                <a:latin typeface="Arial"/>
                <a:ea typeface="Arial"/>
                <a:cs typeface="Arial"/>
              </a:defRPr>
            </a:pPr>
            <a:r>
              <a:rPr sz="1800" b="0" i="0">
                <a:solidFill>
                  <a:srgbClr val="282828"/>
                </a:solidFill>
                <a:latin typeface="Arial"/>
                <a:ea typeface="Arial"/>
                <a:cs typeface="Arial"/>
              </a:rPr>
              <a:t>Xₜ₊₁ = Xₜ − ηₜ[0.2 Oₜ √max(m,n) + λXₜ]</a:t>
            </a:r>
          </a:p>
        </p:txBody>
      </p:sp>
      <p:sp>
        <p:nvSpPr>
          <p:cNvPr id="11" name="">
            <a:extLst xmlns:a="http://schemas.openxmlformats.org/drawingml/2006/main">
              <a:ext uri="{FF2B5EF4-FFF2-40B4-BE49-F238E27FC236}">
                <a16:creationId xmlns:a16="http://schemas.microsoft.com/office/drawing/2014/main" id="{B337028B-1340-4354-968C-7E16BA07B416}"/>
              </a:ext>
            </a:extLst>
          </p:cNvPr>
          <p:cNvSpPr>
            <a:spLocks xmlns:a="http://schemas.openxmlformats.org/drawingml/2006/main" noGrp="1"/>
          </p:cNvSpPr>
          <p:nvPr/>
        </p:nvSpPr>
        <p:spPr>
          <a:xfrm xmlns:a="http://schemas.openxmlformats.org/drawingml/2006/main">
            <a:off x="1047750" y="3476625"/>
            <a:ext cx="100965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2" name="">
            <a:extLst xmlns:a="http://schemas.openxmlformats.org/drawingml/2006/main">
              <a:ext uri="{FF2B5EF4-FFF2-40B4-BE49-F238E27FC236}">
                <a16:creationId xmlns:a16="http://schemas.microsoft.com/office/drawing/2014/main" id="{D19A0646-CE12-4319-BC13-69DBC1744335}"/>
              </a:ext>
            </a:extLst>
          </p:cNvPr>
          <p:cNvSpPr>
            <a:spLocks xmlns:a="http://schemas.openxmlformats.org/drawingml/2006/main" noGrp="1"/>
          </p:cNvSpPr>
          <p:nvPr/>
        </p:nvSpPr>
        <p:spPr>
          <a:xfrm xmlns:a="http://schemas.openxmlformats.org/drawingml/2006/main">
            <a:off x="952500" y="37147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282828"/>
                </a:solidFill>
                <a:latin typeface="Arial"/>
                <a:ea typeface="Arial"/>
                <a:cs typeface="Arial"/>
              </a:defRPr>
            </a:pPr>
            <a:r>
              <a:rPr sz="1575" b="1" i="0">
                <a:solidFill>
                  <a:srgbClr val="282828"/>
                </a:solidFill>
                <a:latin typeface="Arial"/>
                <a:ea typeface="Arial"/>
                <a:cs typeface="Arial"/>
              </a:rPr>
              <a:t>What MARS-M established</a:t>
            </a:r>
          </a:p>
        </p:txBody>
      </p:sp>
      <p:sp>
        <p:nvSpPr>
          <p:cNvPr id="13" name="">
            <a:extLst xmlns:a="http://schemas.openxmlformats.org/drawingml/2006/main">
              <a:ext uri="{FF2B5EF4-FFF2-40B4-BE49-F238E27FC236}">
                <a16:creationId xmlns:a16="http://schemas.microsoft.com/office/drawing/2014/main" id="{28F9461A-1189-48F2-83D2-E20187E0CDB3}"/>
              </a:ext>
            </a:extLst>
          </p:cNvPr>
          <p:cNvSpPr>
            <a:spLocks xmlns:a="http://schemas.openxmlformats.org/drawingml/2006/main" noGrp="1"/>
          </p:cNvSpPr>
          <p:nvPr/>
        </p:nvSpPr>
        <p:spPr>
          <a:xfrm xmlns:a="http://schemas.openxmlformats.org/drawingml/2006/main">
            <a:off x="952500" y="4133850"/>
            <a:ext cx="44767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333333"/>
                </a:solidFill>
                <a:latin typeface="Arial"/>
                <a:ea typeface="Arial"/>
                <a:cs typeface="Arial"/>
              </a:defRPr>
            </a:pPr>
            <a:r>
              <a:rPr sz="1275" b="0" i="0">
                <a:solidFill>
                  <a:srgbClr val="333333"/>
                </a:solidFill>
                <a:latin typeface="Arial"/>
                <a:ea typeface="Arial"/>
                <a:cs typeface="Arial"/>
              </a:rPr>
              <a:t>•  A formal MARS–Muon construction</a:t>
            </a:r>
          </a:p>
          <a:p xmlns:a="http://schemas.openxmlformats.org/drawingml/2006/main">
            <a:pPr algn="l">
              <a:lnSpc>
                <a:spcPct val="116000"/>
              </a:lnSpc>
              <a:buNone/>
              <a:defRPr sz="1275" b="0" i="0">
                <a:solidFill>
                  <a:srgbClr val="333333"/>
                </a:solidFill>
                <a:latin typeface="Arial"/>
                <a:ea typeface="Arial"/>
                <a:cs typeface="Arial"/>
              </a:defRPr>
            </a:pPr>
            <a:r>
              <a:rPr sz="1275" b="0" i="0">
                <a:solidFill>
                  <a:srgbClr val="333333"/>
                </a:solidFill>
                <a:latin typeface="Arial"/>
                <a:ea typeface="Arial"/>
                <a:cs typeface="Arial"/>
              </a:rPr>
              <a:t>•  Improved results on language modeling and vision</a:t>
            </a:r>
          </a:p>
          <a:p xmlns:a="http://schemas.openxmlformats.org/drawingml/2006/main">
            <a:pPr algn="l">
              <a:lnSpc>
                <a:spcPct val="116000"/>
              </a:lnSpc>
              <a:buNone/>
              <a:defRPr sz="1275" b="0" i="0">
                <a:solidFill>
                  <a:srgbClr val="333333"/>
                </a:solidFill>
                <a:latin typeface="Arial"/>
                <a:ea typeface="Arial"/>
                <a:cs typeface="Arial"/>
              </a:defRPr>
            </a:pPr>
            <a:r>
              <a:rPr sz="1275" b="0" i="0">
                <a:solidFill>
                  <a:srgbClr val="333333"/>
                </a:solidFill>
                <a:latin typeface="Arial"/>
                <a:ea typeface="Arial"/>
                <a:cs typeface="Arial"/>
              </a:rPr>
              <a:t>•  A stronger nonconvex stationarity rate under its assumptions</a:t>
            </a:r>
          </a:p>
        </p:txBody>
      </p:sp>
      <p:sp>
        <p:nvSpPr>
          <p:cNvPr id="14" name="">
            <a:extLst xmlns:a="http://schemas.openxmlformats.org/drawingml/2006/main">
              <a:ext uri="{FF2B5EF4-FFF2-40B4-BE49-F238E27FC236}">
                <a16:creationId xmlns:a16="http://schemas.microsoft.com/office/drawing/2014/main" id="{A0F7234F-9697-4944-B333-C2E4B8E44D89}"/>
              </a:ext>
            </a:extLst>
          </p:cNvPr>
          <p:cNvSpPr>
            <a:spLocks xmlns:a="http://schemas.openxmlformats.org/drawingml/2006/main" noGrp="1"/>
          </p:cNvSpPr>
          <p:nvPr/>
        </p:nvSpPr>
        <p:spPr>
          <a:xfrm xmlns:a="http://schemas.openxmlformats.org/drawingml/2006/main">
            <a:off x="6286500" y="37147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282828"/>
                </a:solidFill>
                <a:latin typeface="Arial"/>
                <a:ea typeface="Arial"/>
                <a:cs typeface="Arial"/>
              </a:defRPr>
            </a:pPr>
            <a:r>
              <a:rPr sz="1575" b="1" i="0">
                <a:solidFill>
                  <a:srgbClr val="282828"/>
                </a:solidFill>
                <a:latin typeface="Arial"/>
                <a:ea typeface="Arial"/>
                <a:cs typeface="Arial"/>
              </a:rPr>
              <a:t>What we isolate</a:t>
            </a:r>
          </a:p>
        </p:txBody>
      </p:sp>
      <p:sp>
        <p:nvSpPr>
          <p:cNvPr id="15" name="">
            <a:extLst xmlns:a="http://schemas.openxmlformats.org/drawingml/2006/main">
              <a:ext uri="{FF2B5EF4-FFF2-40B4-BE49-F238E27FC236}">
                <a16:creationId xmlns:a16="http://schemas.microsoft.com/office/drawing/2014/main" id="{7FFCC34A-CE6D-4EA2-83AB-15EC5B2A6EB6}"/>
              </a:ext>
            </a:extLst>
          </p:cNvPr>
          <p:cNvSpPr>
            <a:spLocks xmlns:a="http://schemas.openxmlformats.org/drawingml/2006/main" noGrp="1"/>
          </p:cNvSpPr>
          <p:nvPr/>
        </p:nvSpPr>
        <p:spPr>
          <a:xfrm xmlns:a="http://schemas.openxmlformats.org/drawingml/2006/main">
            <a:off x="6286500" y="4133850"/>
            <a:ext cx="47625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333333"/>
                </a:solidFill>
                <a:latin typeface="Arial"/>
                <a:ea typeface="Arial"/>
                <a:cs typeface="Arial"/>
              </a:defRPr>
            </a:pPr>
            <a:r>
              <a:rPr sz="1275" b="0" i="0">
                <a:solidFill>
                  <a:srgbClr val="333333"/>
                </a:solidFill>
                <a:latin typeface="Arial"/>
                <a:ea typeface="Arial"/>
                <a:cs typeface="Arial"/>
              </a:rPr>
              <a:t>•  The consecutive-gradient correction cₜ = gₜ + γₜ(gₜ−gₜ₋₁)</a:t>
            </a:r>
          </a:p>
          <a:p xmlns:a="http://schemas.openxmlformats.org/drawingml/2006/main">
            <a:pPr algn="l">
              <a:lnSpc>
                <a:spcPct val="116000"/>
              </a:lnSpc>
              <a:buNone/>
              <a:defRPr sz="1275" b="0" i="0">
                <a:solidFill>
                  <a:srgbClr val="333333"/>
                </a:solidFill>
                <a:latin typeface="Arial"/>
                <a:ea typeface="Arial"/>
                <a:cs typeface="Arial"/>
              </a:defRPr>
            </a:pPr>
            <a:r>
              <a:rPr sz="1275" b="0" i="0">
                <a:solidFill>
                  <a:srgbClr val="333333"/>
                </a:solidFill>
                <a:latin typeface="Arial"/>
                <a:ea typeface="Arial"/>
                <a:cs typeface="Arial"/>
              </a:rPr>
              <a:t>•  Learning-rate robustness in two controlled vision workloads</a:t>
            </a:r>
          </a:p>
          <a:p xmlns:a="http://schemas.openxmlformats.org/drawingml/2006/main">
            <a:pPr algn="l">
              <a:lnSpc>
                <a:spcPct val="116000"/>
              </a:lnSpc>
              <a:buNone/>
              <a:defRPr sz="1275" b="0" i="0">
                <a:solidFill>
                  <a:srgbClr val="333333"/>
                </a:solidFill>
                <a:latin typeface="Arial"/>
                <a:ea typeface="Arial"/>
                <a:cs typeface="Arial"/>
              </a:defRPr>
            </a:pPr>
            <a:r>
              <a:rPr sz="1275" b="0" i="0">
                <a:solidFill>
                  <a:srgbClr val="333333"/>
                </a:solidFill>
                <a:latin typeface="Arial"/>
                <a:ea typeface="Arial"/>
                <a:cs typeface="Arial"/>
              </a:rPr>
              <a:t>•  Interactions with momentum decay and the Mu²-inspired module</a:t>
            </a:r>
          </a:p>
        </p:txBody>
      </p:sp>
      <p:sp>
        <p:nvSpPr>
          <p:cNvPr id="16" name="">
            <a:extLst xmlns:a="http://schemas.openxmlformats.org/drawingml/2006/main">
              <a:ext uri="{FF2B5EF4-FFF2-40B4-BE49-F238E27FC236}">
                <a16:creationId xmlns:a16="http://schemas.microsoft.com/office/drawing/2014/main" id="{69965F42-91C2-45EB-9CCA-1C5963B73F56}"/>
              </a:ext>
            </a:extLst>
          </p:cNvPr>
          <p:cNvSpPr>
            <a:spLocks xmlns:a="http://schemas.openxmlformats.org/drawingml/2006/main" noGrp="1"/>
          </p:cNvSpPr>
          <p:nvPr/>
        </p:nvSpPr>
        <p:spPr>
          <a:xfrm xmlns:a="http://schemas.openxmlformats.org/drawingml/2006/main">
            <a:off x="952500" y="556260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0" i="0">
                <a:solidFill>
                  <a:srgbClr val="333333"/>
                </a:solidFill>
                <a:latin typeface="Arial"/>
                <a:ea typeface="Arial"/>
                <a:cs typeface="Arial"/>
              </a:defRPr>
            </a:pPr>
            <a:r>
              <a:rPr sz="1050" b="0" i="0">
                <a:solidFill>
                  <a:srgbClr val="333333"/>
                </a:solidFill>
                <a:latin typeface="Arial"/>
                <a:ea typeface="Arial"/>
                <a:cs typeface="Arial"/>
              </a:rPr>
              <a:t>MARS-M also studies a consecutive-gradient approximation. We examine a simplified correction within our Muon implementation and its interaction with momentum schedules.</a:t>
            </a:r>
          </a:p>
        </p:txBody>
      </p:sp>
      <p:sp>
        <p:nvSpPr>
          <p:cNvPr id="17" name="">
            <a:extLst xmlns:a="http://schemas.openxmlformats.org/drawingml/2006/main">
              <a:ext uri="{FF2B5EF4-FFF2-40B4-BE49-F238E27FC236}">
                <a16:creationId xmlns:a16="http://schemas.microsoft.com/office/drawing/2014/main" id="{37F2B5E8-E3CA-42A4-AF6A-E90508C924AE}"/>
              </a:ext>
            </a:extLst>
          </p:cNvPr>
          <p:cNvSpPr>
            <a:spLocks xmlns:a="http://schemas.openxmlformats.org/drawingml/2006/main" noGrp="1"/>
          </p:cNvSpPr>
          <p:nvPr/>
        </p:nvSpPr>
        <p:spPr>
          <a:xfrm xmlns:a="http://schemas.openxmlformats.org/drawingml/2006/main">
            <a:off x="685800" y="6286500"/>
            <a:ext cx="10668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i="0">
                <a:solidFill>
                  <a:srgbClr val="666666"/>
                </a:solidFill>
                <a:latin typeface="Arial"/>
                <a:ea typeface="Arial"/>
                <a:cs typeface="Arial"/>
              </a:defRPr>
            </a:pPr>
            <a:r>
              <a:rPr sz="750" b="0" i="0">
                <a:solidFill>
                  <a:srgbClr val="666666"/>
                </a:solidFill>
                <a:latin typeface="Arial"/>
                <a:ea typeface="Arial"/>
                <a:cs typeface="Arial"/>
              </a:rPr>
              <a:t>Liu, Yuan, and Gu, MARS-M: When Variance Reduction Meets Matrices, 2025</a:t>
            </a:r>
          </a:p>
        </p:txBody>
      </p:sp>
    </p:spTree>
    <p:extLst>
      <p:ext uri="{BB962C8B-B14F-4D97-AF65-F5344CB8AC3E}">
        <p14:creationId xmlns:p14="http://schemas.microsoft.com/office/powerpoint/2010/main" val="77208730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C7D9F833-5E91-4F98-820D-4CC8EE5CC6AB}"/>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ResNet-18 MARS learning-rate ablation</a:t>
            </a:r>
          </a:p>
        </p:txBody>
      </p:sp>
      <p:sp>
        <p:nvSpPr>
          <p:cNvPr id="2" name="">
            <a:extLst xmlns:a="http://schemas.openxmlformats.org/drawingml/2006/main">
              <a:ext uri="{FF2B5EF4-FFF2-40B4-BE49-F238E27FC236}">
                <a16:creationId xmlns:a16="http://schemas.microsoft.com/office/drawing/2014/main" id="{67E0AF31-4A16-4BCA-AFF6-813787B36925}"/>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BE1738FE-AF8C-494A-8417-A937423F3E1A}"/>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833F968-B6FE-4EFC-8AA7-C1CA4CC86922}"/>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63509DA9-978F-4178-A67F-D4F572F3DFA5}"/>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19</a:t>
            </a:r>
          </a:p>
        </p:txBody>
      </p:sp>
      <p:sp>
        <p:nvSpPr>
          <p:cNvPr id="6" name="">
            <a:extLst xmlns:a="http://schemas.openxmlformats.org/drawingml/2006/main">
              <a:ext uri="{FF2B5EF4-FFF2-40B4-BE49-F238E27FC236}">
                <a16:creationId xmlns:a16="http://schemas.microsoft.com/office/drawing/2014/main" id="{44597487-CC05-48D5-8A54-FF7913DC7EC0}"/>
              </a:ext>
            </a:extLst>
          </p:cNvPr>
          <p:cNvSpPr>
            <a:spLocks xmlns:a="http://schemas.openxmlformats.org/drawingml/2006/main" noGrp="1"/>
          </p:cNvSpPr>
          <p:nvPr/>
        </p:nvSpPr>
        <p:spPr>
          <a:xfrm xmlns:a="http://schemas.openxmlformats.org/drawingml/2006/main">
            <a:off x="685800" y="10477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0" i="0">
                <a:solidFill>
                  <a:srgbClr val="666666"/>
                </a:solidFill>
                <a:latin typeface="Arial"/>
                <a:ea typeface="Arial"/>
                <a:cs typeface="Arial"/>
              </a:defRPr>
            </a:pPr>
            <a:r>
              <a:rPr sz="900" b="0" i="0">
                <a:solidFill>
                  <a:srgbClr val="666666"/>
                </a:solidFill>
                <a:latin typeface="Arial"/>
                <a:ea typeface="Arial"/>
                <a:cs typeface="Arial"/>
              </a:rPr>
              <a:t>Dots = individual seeds. Left error bars = per-condition sample SD; right error bars = sample SD of paired seed differences.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1c38497801c42eb"/>
          <a:stretch xmlns:a="http://schemas.openxmlformats.org/drawingml/2006/main"/>
        </p:blipFill>
        <p:spPr>
          <a:xfrm xmlns:a="http://schemas.openxmlformats.org/drawingml/2006/main">
            <a:off x="825015" y="1295400"/>
            <a:ext cx="10541971" cy="4591050"/>
          </a:xfrm>
          <a:prstGeom xmlns:a="http://schemas.openxmlformats.org/drawingml/2006/main" prst="rect">
            <a:avLst/>
          </a:prstGeom>
        </p:spPr>
      </p:pic>
    </p:spTree>
    <p:extLst>
      <p:ext uri="{BB962C8B-B14F-4D97-AF65-F5344CB8AC3E}">
        <p14:creationId xmlns:p14="http://schemas.microsoft.com/office/powerpoint/2010/main" val="181297216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F673E7D8-5ABC-4FE2-872F-8AD8B1D33846}"/>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MARS coefficient ablation</a:t>
            </a:r>
          </a:p>
        </p:txBody>
      </p:sp>
      <p:sp>
        <p:nvSpPr>
          <p:cNvPr id="2" name="">
            <a:extLst xmlns:a="http://schemas.openxmlformats.org/drawingml/2006/main">
              <a:ext uri="{FF2B5EF4-FFF2-40B4-BE49-F238E27FC236}">
                <a16:creationId xmlns:a16="http://schemas.microsoft.com/office/drawing/2014/main" id="{9E84E8E2-24D5-4804-BF55-8BD70A0B56C8}"/>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D31F6D00-EC8C-4BCD-970C-6CEFA75A07F9}"/>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5F35325-687C-4B64-834C-E82C10E8FD01}"/>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E37F073C-63BF-4AC2-981F-7A1B6D78B6FA}"/>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20</a:t>
            </a:r>
          </a:p>
        </p:txBody>
      </p:sp>
      <p:sp>
        <p:nvSpPr>
          <p:cNvPr id="6" name="">
            <a:extLst xmlns:a="http://schemas.openxmlformats.org/drawingml/2006/main">
              <a:ext uri="{FF2B5EF4-FFF2-40B4-BE49-F238E27FC236}">
                <a16:creationId xmlns:a16="http://schemas.microsoft.com/office/drawing/2014/main" id="{DDD52653-D0A2-44CD-8740-36713159C756}"/>
              </a:ext>
            </a:extLst>
          </p:cNvPr>
          <p:cNvSpPr>
            <a:spLocks xmlns:a="http://schemas.openxmlformats.org/drawingml/2006/main" noGrp="1"/>
          </p:cNvSpPr>
          <p:nvPr/>
        </p:nvSpPr>
        <p:spPr>
          <a:xfrm xmlns:a="http://schemas.openxmlformats.org/drawingml/2006/main">
            <a:off x="685800" y="10477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i="0">
                <a:solidFill>
                  <a:srgbClr val="333333"/>
                </a:solidFill>
                <a:latin typeface="Arial"/>
                <a:ea typeface="Arial"/>
                <a:cs typeface="Arial"/>
              </a:defRPr>
            </a:pPr>
            <a:r>
              <a:rPr sz="1050" b="0" i="0">
                <a:solidFill>
                  <a:srgbClr val="333333"/>
                </a:solidFill>
                <a:latin typeface="Arial"/>
                <a:ea typeface="Arial"/>
                <a:cs typeface="Arial"/>
              </a:rPr>
              <a:t>Dots = individual seeds; markers = means; error bars = per-condition sample SD.</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b605c5f797a4dba"/>
          <a:stretch xmlns:a="http://schemas.openxmlformats.org/drawingml/2006/main"/>
        </p:blipFill>
        <p:spPr>
          <a:xfrm xmlns:a="http://schemas.openxmlformats.org/drawingml/2006/main">
            <a:off x="2368458" y="1295400"/>
            <a:ext cx="7455084" cy="4591050"/>
          </a:xfrm>
          <a:prstGeom xmlns:a="http://schemas.openxmlformats.org/drawingml/2006/main" prst="rect">
            <a:avLst/>
          </a:prstGeom>
        </p:spPr>
      </p:pic>
    </p:spTree>
    <p:extLst>
      <p:ext uri="{BB962C8B-B14F-4D97-AF65-F5344CB8AC3E}">
        <p14:creationId xmlns:p14="http://schemas.microsoft.com/office/powerpoint/2010/main" val="4188275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E9C0DD4E-3F74-43F9-8D36-9B8B38A282F1}"/>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MARS learning curves</a:t>
            </a:r>
          </a:p>
        </p:txBody>
      </p:sp>
      <p:sp>
        <p:nvSpPr>
          <p:cNvPr id="2" name="">
            <a:extLst xmlns:a="http://schemas.openxmlformats.org/drawingml/2006/main">
              <a:ext uri="{FF2B5EF4-FFF2-40B4-BE49-F238E27FC236}">
                <a16:creationId xmlns:a16="http://schemas.microsoft.com/office/drawing/2014/main" id="{B17272A4-8862-4D38-8DE3-CA503777D2A1}"/>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8C13FCB1-6D77-4DE3-B7F5-39A1067FC8D7}"/>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DE0D7AC-7CA8-4A08-AAE0-6A75B0D920A0}"/>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BA4935C2-EB32-424E-AB8B-F59073343EB3}"/>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21</a:t>
            </a:r>
          </a:p>
        </p:txBody>
      </p:sp>
      <p:sp>
        <p:nvSpPr>
          <p:cNvPr id="6" name="">
            <a:extLst xmlns:a="http://schemas.openxmlformats.org/drawingml/2006/main">
              <a:ext uri="{FF2B5EF4-FFF2-40B4-BE49-F238E27FC236}">
                <a16:creationId xmlns:a16="http://schemas.microsoft.com/office/drawing/2014/main" id="{1069ACF1-2B5A-4584-8025-9429FF04F44E}"/>
              </a:ext>
            </a:extLst>
          </p:cNvPr>
          <p:cNvSpPr>
            <a:spLocks xmlns:a="http://schemas.openxmlformats.org/drawingml/2006/main" noGrp="1"/>
          </p:cNvSpPr>
          <p:nvPr/>
        </p:nvSpPr>
        <p:spPr>
          <a:xfrm xmlns:a="http://schemas.openxmlformats.org/drawingml/2006/main">
            <a:off x="685800" y="10477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i="0">
                <a:solidFill>
                  <a:srgbClr val="333333"/>
                </a:solidFill>
                <a:latin typeface="Arial"/>
                <a:ea typeface="Arial"/>
                <a:cs typeface="Arial"/>
              </a:defRPr>
            </a:pPr>
            <a:r>
              <a:rPr sz="1050" b="0" i="0">
                <a:solidFill>
                  <a:srgbClr val="333333"/>
                </a:solidFill>
                <a:latin typeface="Arial"/>
                <a:ea typeface="Arial"/>
                <a:cs typeface="Arial"/>
              </a:rPr>
              <a:t>Lines = three-seed means; bands = per-condition sample SD.</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4080adc5a854b84"/>
          <a:stretch xmlns:a="http://schemas.openxmlformats.org/drawingml/2006/main"/>
        </p:blipFill>
        <p:spPr>
          <a:xfrm xmlns:a="http://schemas.openxmlformats.org/drawingml/2006/main">
            <a:off x="718202" y="1295400"/>
            <a:ext cx="10755596" cy="4591050"/>
          </a:xfrm>
          <a:prstGeom xmlns:a="http://schemas.openxmlformats.org/drawingml/2006/main" prst="rect">
            <a:avLst/>
          </a:prstGeom>
        </p:spPr>
      </p:pic>
    </p:spTree>
    <p:extLst>
      <p:ext uri="{BB962C8B-B14F-4D97-AF65-F5344CB8AC3E}">
        <p14:creationId xmlns:p14="http://schemas.microsoft.com/office/powerpoint/2010/main" val="50796080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616B9F49-8F2F-4D82-A00E-2D77CA1485F4}"/>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TinyViT MARS confirmation</a:t>
            </a:r>
          </a:p>
        </p:txBody>
      </p:sp>
      <p:sp>
        <p:nvSpPr>
          <p:cNvPr id="2" name="">
            <a:extLst xmlns:a="http://schemas.openxmlformats.org/drawingml/2006/main">
              <a:ext uri="{FF2B5EF4-FFF2-40B4-BE49-F238E27FC236}">
                <a16:creationId xmlns:a16="http://schemas.microsoft.com/office/drawing/2014/main" id="{4B63809D-B857-4C42-898B-2D28A3A369BA}"/>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9723D2F0-6BCF-44FF-89DA-64B69F1A8F93}"/>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E8DC765-C863-4C27-815A-CD38EB26AFA2}"/>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32A555BC-DD50-47B5-8B95-79D8983811D8}"/>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22</a:t>
            </a:r>
          </a:p>
        </p:txBody>
      </p:sp>
      <p:sp>
        <p:nvSpPr>
          <p:cNvPr id="6" name="">
            <a:extLst xmlns:a="http://schemas.openxmlformats.org/drawingml/2006/main">
              <a:ext uri="{FF2B5EF4-FFF2-40B4-BE49-F238E27FC236}">
                <a16:creationId xmlns:a16="http://schemas.microsoft.com/office/drawing/2014/main" id="{1A09714F-14A9-4133-BBE6-6393B545C39E}"/>
              </a:ext>
            </a:extLst>
          </p:cNvPr>
          <p:cNvSpPr>
            <a:spLocks xmlns:a="http://schemas.openxmlformats.org/drawingml/2006/main" noGrp="1"/>
          </p:cNvSpPr>
          <p:nvPr/>
        </p:nvSpPr>
        <p:spPr>
          <a:xfrm xmlns:a="http://schemas.openxmlformats.org/drawingml/2006/main">
            <a:off x="685800" y="102870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i="0">
                <a:solidFill>
                  <a:srgbClr val="333333"/>
                </a:solidFill>
                <a:latin typeface="Arial"/>
                <a:ea typeface="Arial"/>
                <a:cs typeface="Arial"/>
              </a:defRPr>
            </a:pPr>
            <a:r>
              <a:rPr sz="1050" b="0" i="0">
                <a:solidFill>
                  <a:srgbClr val="333333"/>
                </a:solidFill>
                <a:latin typeface="Arial"/>
                <a:ea typeface="Arial"/>
                <a:cs typeface="Arial"/>
              </a:rPr>
              <a:t>Dots = individual seeds; crossbars = per-condition mean ± sample SD. Reported MARS change uses matched seed labels.</a:t>
            </a:r>
          </a:p>
        </p:txBody>
      </p:sp>
      <p:sp>
        <p:nvSpPr>
          <p:cNvPr id="7" name="">
            <a:extLst xmlns:a="http://schemas.openxmlformats.org/drawingml/2006/main">
              <a:ext uri="{FF2B5EF4-FFF2-40B4-BE49-F238E27FC236}">
                <a16:creationId xmlns:a16="http://schemas.microsoft.com/office/drawing/2014/main" id="{AF819DE0-D2A9-4701-AA38-A97268856927}"/>
              </a:ext>
            </a:extLst>
          </p:cNvPr>
          <p:cNvSpPr>
            <a:spLocks xmlns:a="http://schemas.openxmlformats.org/drawingml/2006/main" noGrp="1"/>
          </p:cNvSpPr>
          <p:nvPr/>
        </p:nvSpPr>
        <p:spPr>
          <a:xfrm xmlns:a="http://schemas.openxmlformats.org/drawingml/2006/main">
            <a:off x="685800" y="12763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i="0">
                <a:solidFill>
                  <a:srgbClr val="282828"/>
                </a:solidFill>
                <a:latin typeface="Arial"/>
                <a:ea typeface="Arial"/>
                <a:cs typeface="Arial"/>
              </a:defRPr>
            </a:pPr>
            <a:r>
              <a:rPr sz="1050" b="1" i="0">
                <a:solidFill>
                  <a:srgbClr val="282828"/>
                </a:solidFill>
                <a:latin typeface="Arial"/>
                <a:ea typeface="Arial"/>
                <a:cs typeface="Arial"/>
              </a:rPr>
              <a:t>TinyViT-5M / ImageNet-100; cosine matrix LR 0.01; β = 0.90; γ = 0.35</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dc2c2ed5764498a"/>
          <a:stretch xmlns:a="http://schemas.openxmlformats.org/drawingml/2006/main"/>
        </p:blipFill>
        <p:spPr>
          <a:xfrm xmlns:a="http://schemas.openxmlformats.org/drawingml/2006/main">
            <a:off x="1188244" y="1524000"/>
            <a:ext cx="9815513" cy="4362450"/>
          </a:xfrm>
          <a:prstGeom xmlns:a="http://schemas.openxmlformats.org/drawingml/2006/main" prst="rect">
            <a:avLst/>
          </a:prstGeom>
        </p:spPr>
      </p:pic>
    </p:spTree>
    <p:extLst>
      <p:ext uri="{BB962C8B-B14F-4D97-AF65-F5344CB8AC3E}">
        <p14:creationId xmlns:p14="http://schemas.microsoft.com/office/powerpoint/2010/main" val="161722981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3D25C2ED-CCAF-4544-8A3C-CB64F691D71C}"/>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MARS results</a:t>
            </a:r>
          </a:p>
        </p:txBody>
      </p:sp>
      <p:sp>
        <p:nvSpPr>
          <p:cNvPr id="2" name="">
            <a:extLst xmlns:a="http://schemas.openxmlformats.org/drawingml/2006/main">
              <a:ext uri="{FF2B5EF4-FFF2-40B4-BE49-F238E27FC236}">
                <a16:creationId xmlns:a16="http://schemas.microsoft.com/office/drawing/2014/main" id="{BE26C8D8-508A-46CA-9DBC-46C4F76B6AC3}"/>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5ED95F82-7A9B-41AC-94C4-C3D35B18B834}"/>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DA90548-B590-4E9A-B56F-1930A82620AE}"/>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33BE77F8-103C-4CE1-9D81-37A2F6023B99}"/>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23</a:t>
            </a:r>
          </a:p>
        </p:txBody>
      </p:sp>
      <p:sp>
        <p:nvSpPr>
          <p:cNvPr id="6" name="">
            <a:extLst xmlns:a="http://schemas.openxmlformats.org/drawingml/2006/main">
              <a:ext uri="{FF2B5EF4-FFF2-40B4-BE49-F238E27FC236}">
                <a16:creationId xmlns:a16="http://schemas.microsoft.com/office/drawing/2014/main" id="{C007718D-362C-4173-8646-FD455A1D2927}"/>
              </a:ext>
            </a:extLst>
          </p:cNvPr>
          <p:cNvSpPr>
            <a:spLocks xmlns:a="http://schemas.openxmlformats.org/drawingml/2006/main" noGrp="1"/>
          </p:cNvSpPr>
          <p:nvPr/>
        </p:nvSpPr>
        <p:spPr>
          <a:xfrm xmlns:a="http://schemas.openxmlformats.org/drawingml/2006/main">
            <a:off x="685800" y="161925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EVIDENCE</a:t>
            </a:r>
          </a:p>
        </p:txBody>
      </p:sp>
      <p:sp>
        <p:nvSpPr>
          <p:cNvPr id="7" name="">
            <a:extLst xmlns:a="http://schemas.openxmlformats.org/drawingml/2006/main">
              <a:ext uri="{FF2B5EF4-FFF2-40B4-BE49-F238E27FC236}">
                <a16:creationId xmlns:a16="http://schemas.microsoft.com/office/drawing/2014/main" id="{7FA7923F-7BC0-4D48-BED7-82B39B1EBE1F}"/>
              </a:ext>
            </a:extLst>
          </p:cNvPr>
          <p:cNvSpPr>
            <a:spLocks xmlns:a="http://schemas.openxmlformats.org/drawingml/2006/main" noGrp="1"/>
          </p:cNvSpPr>
          <p:nvPr/>
        </p:nvSpPr>
        <p:spPr>
          <a:xfrm xmlns:a="http://schemas.openxmlformats.org/drawingml/2006/main">
            <a:off x="685800" y="188595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Established</a:t>
            </a:r>
          </a:p>
        </p:txBody>
      </p:sp>
      <p:sp>
        <p:nvSpPr>
          <p:cNvPr id="8" name="">
            <a:extLst xmlns:a="http://schemas.openxmlformats.org/drawingml/2006/main">
              <a:ext uri="{FF2B5EF4-FFF2-40B4-BE49-F238E27FC236}">
                <a16:creationId xmlns:a16="http://schemas.microsoft.com/office/drawing/2014/main" id="{F15FDE8D-DA43-4401-8407-F1F6D448B24E}"/>
              </a:ext>
            </a:extLst>
          </p:cNvPr>
          <p:cNvSpPr>
            <a:spLocks xmlns:a="http://schemas.openxmlformats.org/drawingml/2006/main" noGrp="1"/>
          </p:cNvSpPr>
          <p:nvPr/>
        </p:nvSpPr>
        <p:spPr>
          <a:xfrm xmlns:a="http://schemas.openxmlformats.org/drawingml/2006/main">
            <a:off x="685800" y="233362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9" name="">
            <a:extLst xmlns:a="http://schemas.openxmlformats.org/drawingml/2006/main">
              <a:ext uri="{FF2B5EF4-FFF2-40B4-BE49-F238E27FC236}">
                <a16:creationId xmlns:a16="http://schemas.microsoft.com/office/drawing/2014/main" id="{FFAA2A7A-4E1A-4951-BF5B-306CC863C051}"/>
              </a:ext>
            </a:extLst>
          </p:cNvPr>
          <p:cNvSpPr>
            <a:spLocks xmlns:a="http://schemas.openxmlformats.org/drawingml/2006/main" noGrp="1"/>
          </p:cNvSpPr>
          <p:nvPr/>
        </p:nvSpPr>
        <p:spPr>
          <a:xfrm xmlns:a="http://schemas.openxmlformats.org/drawingml/2006/main">
            <a:off x="685800" y="2476500"/>
            <a:ext cx="3352800" cy="243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 Small gains in selected higher-LR cells</a:t>
            </a:r>
          </a:p>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 Clean ResNet confirmations</a:t>
            </a:r>
          </a:p>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 One matched TinyViT increment</a:t>
            </a:r>
          </a:p>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 Stress-dependent coefficient response</a:t>
            </a:r>
          </a:p>
        </p:txBody>
      </p:sp>
      <p:sp>
        <p:nvSpPr>
          <p:cNvPr id="10" name="">
            <a:extLst xmlns:a="http://schemas.openxmlformats.org/drawingml/2006/main">
              <a:ext uri="{FF2B5EF4-FFF2-40B4-BE49-F238E27FC236}">
                <a16:creationId xmlns:a16="http://schemas.microsoft.com/office/drawing/2014/main" id="{648D9A26-185F-4348-B18A-082139E0C7DA}"/>
              </a:ext>
            </a:extLst>
          </p:cNvPr>
          <p:cNvSpPr>
            <a:spLocks xmlns:a="http://schemas.openxmlformats.org/drawingml/2006/main" noGrp="1"/>
          </p:cNvSpPr>
          <p:nvPr/>
        </p:nvSpPr>
        <p:spPr>
          <a:xfrm xmlns:a="http://schemas.openxmlformats.org/drawingml/2006/main">
            <a:off x="4419600" y="161925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BOUNDARY</a:t>
            </a:r>
          </a:p>
        </p:txBody>
      </p:sp>
      <p:sp>
        <p:nvSpPr>
          <p:cNvPr id="11" name="">
            <a:extLst xmlns:a="http://schemas.openxmlformats.org/drawingml/2006/main">
              <a:ext uri="{FF2B5EF4-FFF2-40B4-BE49-F238E27FC236}">
                <a16:creationId xmlns:a16="http://schemas.microsoft.com/office/drawing/2014/main" id="{DC9C1C8E-C7E2-406D-9202-36FDF6E19F3E}"/>
              </a:ext>
            </a:extLst>
          </p:cNvPr>
          <p:cNvSpPr>
            <a:spLocks xmlns:a="http://schemas.openxmlformats.org/drawingml/2006/main" noGrp="1"/>
          </p:cNvSpPr>
          <p:nvPr/>
        </p:nvSpPr>
        <p:spPr>
          <a:xfrm xmlns:a="http://schemas.openxmlformats.org/drawingml/2006/main">
            <a:off x="4419600" y="188595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Conditional</a:t>
            </a:r>
          </a:p>
        </p:txBody>
      </p:sp>
      <p:sp>
        <p:nvSpPr>
          <p:cNvPr id="12" name="">
            <a:extLst xmlns:a="http://schemas.openxmlformats.org/drawingml/2006/main">
              <a:ext uri="{FF2B5EF4-FFF2-40B4-BE49-F238E27FC236}">
                <a16:creationId xmlns:a16="http://schemas.microsoft.com/office/drawing/2014/main" id="{EE4FFF14-E61A-41E3-9CE8-40E5AFC0FA79}"/>
              </a:ext>
            </a:extLst>
          </p:cNvPr>
          <p:cNvSpPr>
            <a:spLocks xmlns:a="http://schemas.openxmlformats.org/drawingml/2006/main" noGrp="1"/>
          </p:cNvSpPr>
          <p:nvPr/>
        </p:nvSpPr>
        <p:spPr>
          <a:xfrm xmlns:a="http://schemas.openxmlformats.org/drawingml/2006/main">
            <a:off x="4419600" y="233362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3" name="">
            <a:extLst xmlns:a="http://schemas.openxmlformats.org/drawingml/2006/main">
              <a:ext uri="{FF2B5EF4-FFF2-40B4-BE49-F238E27FC236}">
                <a16:creationId xmlns:a16="http://schemas.microsoft.com/office/drawing/2014/main" id="{12101970-EE06-48D1-86F8-F9B05C76DF23}"/>
              </a:ext>
            </a:extLst>
          </p:cNvPr>
          <p:cNvSpPr>
            <a:spLocks xmlns:a="http://schemas.openxmlformats.org/drawingml/2006/main" noGrp="1"/>
          </p:cNvSpPr>
          <p:nvPr/>
        </p:nvSpPr>
        <p:spPr>
          <a:xfrm xmlns:a="http://schemas.openxmlformats.org/drawingml/2006/main">
            <a:off x="4419600" y="2476500"/>
            <a:ext cx="3352800" cy="243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 Little or negative gain at lower LR</a:t>
            </a:r>
          </a:p>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 Best γ differs by regime</a:t>
            </a:r>
          </a:p>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 Separation often appears late</a:t>
            </a:r>
          </a:p>
        </p:txBody>
      </p:sp>
      <p:sp>
        <p:nvSpPr>
          <p:cNvPr id="14" name="">
            <a:extLst xmlns:a="http://schemas.openxmlformats.org/drawingml/2006/main">
              <a:ext uri="{FF2B5EF4-FFF2-40B4-BE49-F238E27FC236}">
                <a16:creationId xmlns:a16="http://schemas.microsoft.com/office/drawing/2014/main" id="{644F98B9-5A08-44A1-AF14-8FC494E24DE2}"/>
              </a:ext>
            </a:extLst>
          </p:cNvPr>
          <p:cNvSpPr>
            <a:spLocks xmlns:a="http://schemas.openxmlformats.org/drawingml/2006/main" noGrp="1"/>
          </p:cNvSpPr>
          <p:nvPr/>
        </p:nvSpPr>
        <p:spPr>
          <a:xfrm xmlns:a="http://schemas.openxmlformats.org/drawingml/2006/main">
            <a:off x="8153400" y="161925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NON-CLAIM</a:t>
            </a:r>
          </a:p>
        </p:txBody>
      </p:sp>
      <p:sp>
        <p:nvSpPr>
          <p:cNvPr id="15" name="">
            <a:extLst xmlns:a="http://schemas.openxmlformats.org/drawingml/2006/main">
              <a:ext uri="{FF2B5EF4-FFF2-40B4-BE49-F238E27FC236}">
                <a16:creationId xmlns:a16="http://schemas.microsoft.com/office/drawing/2014/main" id="{1010F659-76AC-410B-8D06-9DC8F3509667}"/>
              </a:ext>
            </a:extLst>
          </p:cNvPr>
          <p:cNvSpPr>
            <a:spLocks xmlns:a="http://schemas.openxmlformats.org/drawingml/2006/main" noGrp="1"/>
          </p:cNvSpPr>
          <p:nvPr/>
        </p:nvSpPr>
        <p:spPr>
          <a:xfrm xmlns:a="http://schemas.openxmlformats.org/drawingml/2006/main">
            <a:off x="8153400" y="188595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Not claimed</a:t>
            </a:r>
          </a:p>
        </p:txBody>
      </p:sp>
      <p:sp>
        <p:nvSpPr>
          <p:cNvPr id="16" name="">
            <a:extLst xmlns:a="http://schemas.openxmlformats.org/drawingml/2006/main">
              <a:ext uri="{FF2B5EF4-FFF2-40B4-BE49-F238E27FC236}">
                <a16:creationId xmlns:a16="http://schemas.microsoft.com/office/drawing/2014/main" id="{FD0050E1-3ED9-4581-883C-F3BFFDB79F06}"/>
              </a:ext>
            </a:extLst>
          </p:cNvPr>
          <p:cNvSpPr>
            <a:spLocks xmlns:a="http://schemas.openxmlformats.org/drawingml/2006/main" noGrp="1"/>
          </p:cNvSpPr>
          <p:nvPr/>
        </p:nvSpPr>
        <p:spPr>
          <a:xfrm xmlns:a="http://schemas.openxmlformats.org/drawingml/2006/main">
            <a:off x="8153400" y="233362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7" name="">
            <a:extLst xmlns:a="http://schemas.openxmlformats.org/drawingml/2006/main">
              <a:ext uri="{FF2B5EF4-FFF2-40B4-BE49-F238E27FC236}">
                <a16:creationId xmlns:a16="http://schemas.microsoft.com/office/drawing/2014/main" id="{8C204E15-9BA7-4323-8999-C26B03AB5BB7}"/>
              </a:ext>
            </a:extLst>
          </p:cNvPr>
          <p:cNvSpPr>
            <a:spLocks xmlns:a="http://schemas.openxmlformats.org/drawingml/2006/main" noGrp="1"/>
          </p:cNvSpPr>
          <p:nvPr/>
        </p:nvSpPr>
        <p:spPr>
          <a:xfrm xmlns:a="http://schemas.openxmlformats.org/drawingml/2006/main">
            <a:off x="8153400" y="2476500"/>
            <a:ext cx="3352800" cy="243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 Universal superiority</a:t>
            </a:r>
          </a:p>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 First MARS–Muon combination</a:t>
            </a:r>
          </a:p>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 One coefficient for every regime</a:t>
            </a:r>
          </a:p>
        </p:txBody>
      </p:sp>
      <p:sp>
        <p:nvSpPr>
          <p:cNvPr id="18" name="">
            <a:extLst xmlns:a="http://schemas.openxmlformats.org/drawingml/2006/main">
              <a:ext uri="{FF2B5EF4-FFF2-40B4-BE49-F238E27FC236}">
                <a16:creationId xmlns:a16="http://schemas.microsoft.com/office/drawing/2014/main" id="{596BEC56-F41F-4359-A36B-52550C3C4309}"/>
              </a:ext>
            </a:extLst>
          </p:cNvPr>
          <p:cNvSpPr>
            <a:spLocks xmlns:a="http://schemas.openxmlformats.org/drawingml/2006/main" noGrp="1"/>
          </p:cNvSpPr>
          <p:nvPr/>
        </p:nvSpPr>
        <p:spPr>
          <a:xfrm xmlns:a="http://schemas.openxmlformats.org/drawingml/2006/main">
            <a:off x="876300" y="5334000"/>
            <a:ext cx="1043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i="0">
                <a:solidFill>
                  <a:srgbClr val="282828"/>
                </a:solidFill>
                <a:latin typeface="Arial"/>
                <a:ea typeface="Arial"/>
                <a:cs typeface="Arial"/>
              </a:defRPr>
            </a:pPr>
            <a:r>
              <a:rPr sz="1200" b="1" i="0">
                <a:solidFill>
                  <a:srgbClr val="282828"/>
                </a:solidFill>
                <a:latin typeface="Arial"/>
                <a:ea typeface="Arial"/>
                <a:cs typeface="Arial"/>
              </a:rPr>
              <a:t>Calibrated claim: small improvements in selected higher-LR conditions, not direct evidence of variance reduction or universal stabilization.</a:t>
            </a:r>
          </a:p>
        </p:txBody>
      </p:sp>
    </p:spTree>
    <p:extLst>
      <p:ext uri="{BB962C8B-B14F-4D97-AF65-F5344CB8AC3E}">
        <p14:creationId xmlns:p14="http://schemas.microsoft.com/office/powerpoint/2010/main" val="52133984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257BA9E2-4A8C-4F01-81E3-3A5A0E00AB3E}"/>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Momentum decay shortens directional memory</a:t>
            </a:r>
          </a:p>
        </p:txBody>
      </p:sp>
      <p:sp>
        <p:nvSpPr>
          <p:cNvPr id="2" name="">
            <a:extLst xmlns:a="http://schemas.openxmlformats.org/drawingml/2006/main">
              <a:ext uri="{FF2B5EF4-FFF2-40B4-BE49-F238E27FC236}">
                <a16:creationId xmlns:a16="http://schemas.microsoft.com/office/drawing/2014/main" id="{49559A27-4BAB-405B-8597-B5E14C408CF3}"/>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3A9BD77D-B7DB-44E3-8655-0477AC77C746}"/>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AA54246-92C4-4AA0-AAC8-8A0646451D2D}"/>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AAF89CED-0BE4-453E-8AA0-E2104A4339A5}"/>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24</a:t>
            </a:r>
          </a:p>
        </p:txBody>
      </p:sp>
      <p:sp>
        <p:nvSpPr>
          <p:cNvPr id="6" name="">
            <a:extLst xmlns:a="http://schemas.openxmlformats.org/drawingml/2006/main">
              <a:ext uri="{FF2B5EF4-FFF2-40B4-BE49-F238E27FC236}">
                <a16:creationId xmlns:a16="http://schemas.microsoft.com/office/drawing/2014/main" id="{9596F0C5-C56E-4294-853C-B9D5DC68C2BB}"/>
              </a:ext>
            </a:extLst>
          </p:cNvPr>
          <p:cNvSpPr>
            <a:spLocks xmlns:a="http://schemas.openxmlformats.org/drawingml/2006/main" noGrp="1"/>
          </p:cNvSpPr>
          <p:nvPr/>
        </p:nvSpPr>
        <p:spPr>
          <a:xfrm xmlns:a="http://schemas.openxmlformats.org/drawingml/2006/main">
            <a:off x="1619250" y="1352550"/>
            <a:ext cx="895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0" i="0">
                <a:solidFill>
                  <a:srgbClr val="282828"/>
                </a:solidFill>
                <a:latin typeface="Arial"/>
                <a:ea typeface="Arial"/>
                <a:cs typeface="Arial"/>
              </a:defRPr>
            </a:pPr>
            <a:r>
              <a:rPr sz="2550" b="0" i="0">
                <a:solidFill>
                  <a:srgbClr val="282828"/>
                </a:solidFill>
                <a:latin typeface="Arial"/>
                <a:ea typeface="Arial"/>
                <a:cs typeface="Arial"/>
              </a:rPr>
              <a:t>mₜ = βₜmₜ₋₁ + (1 − βₜ)gₜ</a:t>
            </a:r>
          </a:p>
        </p:txBody>
      </p:sp>
      <p:sp>
        <p:nvSpPr>
          <p:cNvPr id="7" name="">
            <a:extLst xmlns:a="http://schemas.openxmlformats.org/drawingml/2006/main">
              <a:ext uri="{FF2B5EF4-FFF2-40B4-BE49-F238E27FC236}">
                <a16:creationId xmlns:a16="http://schemas.microsoft.com/office/drawing/2014/main" id="{C4421E6D-B63F-4E4A-B1C0-35B70BE21840}"/>
              </a:ext>
            </a:extLst>
          </p:cNvPr>
          <p:cNvSpPr>
            <a:spLocks xmlns:a="http://schemas.openxmlformats.org/drawingml/2006/main" noGrp="1"/>
          </p:cNvSpPr>
          <p:nvPr/>
        </p:nvSpPr>
        <p:spPr>
          <a:xfrm xmlns:a="http://schemas.openxmlformats.org/drawingml/2006/main">
            <a:off x="1619250" y="1924050"/>
            <a:ext cx="895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00" b="0" i="0">
                <a:solidFill>
                  <a:srgbClr val="282828"/>
                </a:solidFill>
                <a:latin typeface="Arial"/>
                <a:ea typeface="Arial"/>
                <a:cs typeface="Arial"/>
              </a:defRPr>
            </a:pPr>
            <a:r>
              <a:rPr sz="2100" b="0" i="0">
                <a:solidFill>
                  <a:srgbClr val="282828"/>
                </a:solidFill>
                <a:latin typeface="Arial"/>
                <a:ea typeface="Arial"/>
                <a:cs typeface="Arial"/>
              </a:rPr>
              <a:t>sₜ = (1 − βₜ)gₜ + βₜmₜ</a:t>
            </a:r>
          </a:p>
        </p:txBody>
      </p:sp>
      <p:sp>
        <p:nvSpPr>
          <p:cNvPr id="8" name="">
            <a:extLst xmlns:a="http://schemas.openxmlformats.org/drawingml/2006/main">
              <a:ext uri="{FF2B5EF4-FFF2-40B4-BE49-F238E27FC236}">
                <a16:creationId xmlns:a16="http://schemas.microsoft.com/office/drawing/2014/main" id="{88884AD3-2324-404E-AA9E-CAC42E8B392F}"/>
              </a:ext>
            </a:extLst>
          </p:cNvPr>
          <p:cNvSpPr>
            <a:spLocks xmlns:a="http://schemas.openxmlformats.org/drawingml/2006/main" noGrp="1"/>
          </p:cNvSpPr>
          <p:nvPr/>
        </p:nvSpPr>
        <p:spPr>
          <a:xfrm xmlns:a="http://schemas.openxmlformats.org/drawingml/2006/main">
            <a:off x="1619250" y="2457450"/>
            <a:ext cx="895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950" b="0" i="0">
                <a:solidFill>
                  <a:srgbClr val="282828"/>
                </a:solidFill>
                <a:latin typeface="Arial"/>
                <a:ea typeface="Arial"/>
                <a:cs typeface="Arial"/>
              </a:defRPr>
            </a:pPr>
            <a:r>
              <a:rPr sz="1950" b="0" i="0">
                <a:solidFill>
                  <a:srgbClr val="282828"/>
                </a:solidFill>
                <a:latin typeface="Arial"/>
                <a:ea typeface="Arial"/>
                <a:cs typeface="Arial"/>
              </a:rPr>
              <a:t>β(e) = β₀ + ½(βf − β₀)[1 − cos(πτ(e))]</a:t>
            </a:r>
          </a:p>
        </p:txBody>
      </p:sp>
      <p:sp>
        <p:nvSpPr>
          <p:cNvPr id="9" name="">
            <a:extLst xmlns:a="http://schemas.openxmlformats.org/drawingml/2006/main">
              <a:ext uri="{FF2B5EF4-FFF2-40B4-BE49-F238E27FC236}">
                <a16:creationId xmlns:a16="http://schemas.microsoft.com/office/drawing/2014/main" id="{10818DA0-91C2-4DCA-AD87-6953F48F893E}"/>
              </a:ext>
            </a:extLst>
          </p:cNvPr>
          <p:cNvSpPr>
            <a:spLocks xmlns:a="http://schemas.openxmlformats.org/drawingml/2006/main" noGrp="1"/>
          </p:cNvSpPr>
          <p:nvPr/>
        </p:nvSpPr>
        <p:spPr>
          <a:xfrm xmlns:a="http://schemas.openxmlformats.org/drawingml/2006/main">
            <a:off x="1619250" y="2952750"/>
            <a:ext cx="895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0" i="0">
                <a:solidFill>
                  <a:srgbClr val="666666"/>
                </a:solidFill>
                <a:latin typeface="Arial"/>
                <a:ea typeface="Arial"/>
                <a:cs typeface="Arial"/>
              </a:defRPr>
            </a:pPr>
            <a:r>
              <a:rPr sz="1650" b="0" i="0">
                <a:solidFill>
                  <a:srgbClr val="666666"/>
                </a:solidFill>
                <a:latin typeface="Arial"/>
                <a:ea typeface="Arial"/>
                <a:cs typeface="Arial"/>
              </a:rPr>
              <a:t>τ(e) = clip[(e − es)/(ef − es), 0, 1]</a:t>
            </a:r>
          </a:p>
        </p:txBody>
      </p:sp>
      <p:sp>
        <p:nvSpPr>
          <p:cNvPr id="10" name="">
            <a:extLst xmlns:a="http://schemas.openxmlformats.org/drawingml/2006/main">
              <a:ext uri="{FF2B5EF4-FFF2-40B4-BE49-F238E27FC236}">
                <a16:creationId xmlns:a16="http://schemas.microsoft.com/office/drawing/2014/main" id="{4B7CA2D7-E604-4FCA-9C16-0C653EF78659}"/>
              </a:ext>
            </a:extLst>
          </p:cNvPr>
          <p:cNvSpPr>
            <a:spLocks xmlns:a="http://schemas.openxmlformats.org/drawingml/2006/main" noGrp="1"/>
          </p:cNvSpPr>
          <p:nvPr/>
        </p:nvSpPr>
        <p:spPr>
          <a:xfrm xmlns:a="http://schemas.openxmlformats.org/drawingml/2006/main">
            <a:off x="1047750" y="3524250"/>
            <a:ext cx="100965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1" name="">
            <a:extLst xmlns:a="http://schemas.openxmlformats.org/drawingml/2006/main">
              <a:ext uri="{FF2B5EF4-FFF2-40B4-BE49-F238E27FC236}">
                <a16:creationId xmlns:a16="http://schemas.microsoft.com/office/drawing/2014/main" id="{75BB87BB-0E00-48E1-A330-B0637CF5ABB2}"/>
              </a:ext>
            </a:extLst>
          </p:cNvPr>
          <p:cNvSpPr>
            <a:spLocks xmlns:a="http://schemas.openxmlformats.org/drawingml/2006/main" noGrp="1"/>
          </p:cNvSpPr>
          <p:nvPr/>
        </p:nvSpPr>
        <p:spPr>
          <a:xfrm xmlns:a="http://schemas.openxmlformats.org/drawingml/2006/main">
            <a:off x="952500" y="379095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282828"/>
                </a:solidFill>
                <a:latin typeface="Arial"/>
                <a:ea typeface="Arial"/>
                <a:cs typeface="Arial"/>
              </a:defRPr>
            </a:pPr>
            <a:r>
              <a:rPr sz="1500" b="1" i="0">
                <a:solidFill>
                  <a:srgbClr val="282828"/>
                </a:solidFill>
                <a:latin typeface="Arial"/>
                <a:ea typeface="Arial"/>
                <a:cs typeface="Arial"/>
              </a:rPr>
              <a:t>Memory length</a:t>
            </a:r>
          </a:p>
        </p:txBody>
      </p:sp>
      <p:sp>
        <p:nvSpPr>
          <p:cNvPr id="12" name="">
            <a:extLst xmlns:a="http://schemas.openxmlformats.org/drawingml/2006/main">
              <a:ext uri="{FF2B5EF4-FFF2-40B4-BE49-F238E27FC236}">
                <a16:creationId xmlns:a16="http://schemas.microsoft.com/office/drawing/2014/main" id="{B82003CB-2206-463A-AADF-F46395097472}"/>
              </a:ext>
            </a:extLst>
          </p:cNvPr>
          <p:cNvSpPr>
            <a:spLocks xmlns:a="http://schemas.openxmlformats.org/drawingml/2006/main" noGrp="1"/>
          </p:cNvSpPr>
          <p:nvPr/>
        </p:nvSpPr>
        <p:spPr>
          <a:xfrm xmlns:a="http://schemas.openxmlformats.org/drawingml/2006/main">
            <a:off x="952500" y="4171950"/>
            <a:ext cx="295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275" b="0" i="0">
                <a:solidFill>
                  <a:srgbClr val="333333"/>
                </a:solidFill>
                <a:latin typeface="Arial"/>
                <a:ea typeface="Arial"/>
                <a:cs typeface="Arial"/>
              </a:defRPr>
            </a:pPr>
            <a:r>
              <a:rPr sz="1275" b="0" i="0">
                <a:solidFill>
                  <a:srgbClr val="333333"/>
                </a:solidFill>
                <a:latin typeface="Arial"/>
                <a:ea typeface="Arial"/>
                <a:cs typeface="Arial"/>
              </a:rPr>
              <a:t>A useful approximation is 1/(1−β). β=.98 retains roughly 50 steps; β=.50 retains roughly 2.</a:t>
            </a:r>
          </a:p>
        </p:txBody>
      </p:sp>
      <p:sp>
        <p:nvSpPr>
          <p:cNvPr id="13" name="">
            <a:extLst xmlns:a="http://schemas.openxmlformats.org/drawingml/2006/main">
              <a:ext uri="{FF2B5EF4-FFF2-40B4-BE49-F238E27FC236}">
                <a16:creationId xmlns:a16="http://schemas.microsoft.com/office/drawing/2014/main" id="{13777801-311B-4D64-8FE5-406DF91CC3DF}"/>
              </a:ext>
            </a:extLst>
          </p:cNvPr>
          <p:cNvSpPr>
            <a:spLocks xmlns:a="http://schemas.openxmlformats.org/drawingml/2006/main" noGrp="1"/>
          </p:cNvSpPr>
          <p:nvPr/>
        </p:nvSpPr>
        <p:spPr>
          <a:xfrm xmlns:a="http://schemas.openxmlformats.org/drawingml/2006/main">
            <a:off x="4572000" y="379095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282828"/>
                </a:solidFill>
                <a:latin typeface="Arial"/>
                <a:ea typeface="Arial"/>
                <a:cs typeface="Arial"/>
              </a:defRPr>
            </a:pPr>
            <a:r>
              <a:rPr sz="1500" b="1" i="0">
                <a:solidFill>
                  <a:srgbClr val="282828"/>
                </a:solidFill>
                <a:latin typeface="Arial"/>
                <a:ea typeface="Arial"/>
                <a:cs typeface="Arial"/>
              </a:rPr>
              <a:t>Tested late schedule</a:t>
            </a:r>
          </a:p>
        </p:txBody>
      </p:sp>
      <p:sp>
        <p:nvSpPr>
          <p:cNvPr id="14" name="">
            <a:extLst xmlns:a="http://schemas.openxmlformats.org/drawingml/2006/main">
              <a:ext uri="{FF2B5EF4-FFF2-40B4-BE49-F238E27FC236}">
                <a16:creationId xmlns:a16="http://schemas.microsoft.com/office/drawing/2014/main" id="{FC901E0B-E01E-46DE-8E50-656BFF0370B7}"/>
              </a:ext>
            </a:extLst>
          </p:cNvPr>
          <p:cNvSpPr>
            <a:spLocks xmlns:a="http://schemas.openxmlformats.org/drawingml/2006/main" noGrp="1"/>
          </p:cNvSpPr>
          <p:nvPr/>
        </p:nvSpPr>
        <p:spPr>
          <a:xfrm xmlns:a="http://schemas.openxmlformats.org/drawingml/2006/main">
            <a:off x="4572000" y="4171950"/>
            <a:ext cx="295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275" b="0" i="0">
                <a:solidFill>
                  <a:srgbClr val="333333"/>
                </a:solidFill>
                <a:latin typeface="Arial"/>
                <a:ea typeface="Arial"/>
                <a:cs typeface="Arial"/>
              </a:defRPr>
            </a:pPr>
            <a:r>
              <a:rPr sz="1275" b="0" i="0">
                <a:solidFill>
                  <a:srgbClr val="333333"/>
                </a:solidFill>
                <a:latin typeface="Arial"/>
                <a:ea typeface="Arial"/>
                <a:cs typeface="Arial"/>
              </a:rPr>
              <a:t>β₀=.98, βf=.50, es=36, ef=48. The transition is cosine-smooth inside that epoch window.</a:t>
            </a:r>
          </a:p>
        </p:txBody>
      </p:sp>
      <p:sp>
        <p:nvSpPr>
          <p:cNvPr id="15" name="">
            <a:extLst xmlns:a="http://schemas.openxmlformats.org/drawingml/2006/main">
              <a:ext uri="{FF2B5EF4-FFF2-40B4-BE49-F238E27FC236}">
                <a16:creationId xmlns:a16="http://schemas.microsoft.com/office/drawing/2014/main" id="{CAC748FB-9423-4A7F-AED3-C399075F1018}"/>
              </a:ext>
            </a:extLst>
          </p:cNvPr>
          <p:cNvSpPr>
            <a:spLocks xmlns:a="http://schemas.openxmlformats.org/drawingml/2006/main" noGrp="1"/>
          </p:cNvSpPr>
          <p:nvPr/>
        </p:nvSpPr>
        <p:spPr>
          <a:xfrm xmlns:a="http://schemas.openxmlformats.org/drawingml/2006/main">
            <a:off x="8191500" y="379095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282828"/>
                </a:solidFill>
                <a:latin typeface="Arial"/>
                <a:ea typeface="Arial"/>
                <a:cs typeface="Arial"/>
              </a:defRPr>
            </a:pPr>
            <a:r>
              <a:rPr sz="1500" b="1" i="0">
                <a:solidFill>
                  <a:srgbClr val="282828"/>
                </a:solidFill>
                <a:latin typeface="Arial"/>
                <a:ea typeface="Arial"/>
                <a:cs typeface="Arial"/>
              </a:rPr>
              <a:t>What changes</a:t>
            </a:r>
          </a:p>
        </p:txBody>
      </p:sp>
      <p:sp>
        <p:nvSpPr>
          <p:cNvPr id="16" name="">
            <a:extLst xmlns:a="http://schemas.openxmlformats.org/drawingml/2006/main">
              <a:ext uri="{FF2B5EF4-FFF2-40B4-BE49-F238E27FC236}">
                <a16:creationId xmlns:a16="http://schemas.microsoft.com/office/drawing/2014/main" id="{A17F016C-6DBC-4298-8EC8-142EC28A4C8E}"/>
              </a:ext>
            </a:extLst>
          </p:cNvPr>
          <p:cNvSpPr>
            <a:spLocks xmlns:a="http://schemas.openxmlformats.org/drawingml/2006/main" noGrp="1"/>
          </p:cNvSpPr>
          <p:nvPr/>
        </p:nvSpPr>
        <p:spPr>
          <a:xfrm xmlns:a="http://schemas.openxmlformats.org/drawingml/2006/main">
            <a:off x="8191500" y="4171950"/>
            <a:ext cx="295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275" b="0" i="0">
                <a:solidFill>
                  <a:srgbClr val="333333"/>
                </a:solidFill>
                <a:latin typeface="Arial"/>
                <a:ea typeface="Arial"/>
                <a:cs typeface="Arial"/>
              </a:defRPr>
            </a:pPr>
            <a:r>
              <a:rPr sz="1275" b="0" i="0">
                <a:solidFill>
                  <a:srgbClr val="333333"/>
                </a:solidFill>
                <a:latin typeface="Arial"/>
                <a:ea typeface="Arial"/>
                <a:cs typeface="Arial"/>
              </a:rPr>
              <a:t>The schedule changes which directions dominate the Nesterov signal. It does not directly reduce the learning rate.</a:t>
            </a:r>
          </a:p>
        </p:txBody>
      </p:sp>
    </p:spTree>
    <p:extLst>
      <p:ext uri="{BB962C8B-B14F-4D97-AF65-F5344CB8AC3E}">
        <p14:creationId xmlns:p14="http://schemas.microsoft.com/office/powerpoint/2010/main" val="200386459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EC029875-33E7-44AB-9FFC-E97F95D375EC}"/>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DEMON studied momentum decay before Muon</a:t>
            </a:r>
          </a:p>
        </p:txBody>
      </p:sp>
      <p:sp>
        <p:nvSpPr>
          <p:cNvPr id="2" name="">
            <a:extLst xmlns:a="http://schemas.openxmlformats.org/drawingml/2006/main">
              <a:ext uri="{FF2B5EF4-FFF2-40B4-BE49-F238E27FC236}">
                <a16:creationId xmlns:a16="http://schemas.microsoft.com/office/drawing/2014/main" id="{91686F25-767F-49E7-A5C9-33830CFB07DD}"/>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39DAA1F5-E229-46E9-B357-224F9502E56A}"/>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9C3C9E2-DE1E-4983-A843-36D38E972225}"/>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291FB338-4833-418A-9F6E-64A9276C29D0}"/>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25</a:t>
            </a:r>
          </a:p>
        </p:txBody>
      </p:sp>
      <p:sp>
        <p:nvSpPr>
          <p:cNvPr id="6" name="">
            <a:extLst xmlns:a="http://schemas.openxmlformats.org/drawingml/2006/main">
              <a:ext uri="{FF2B5EF4-FFF2-40B4-BE49-F238E27FC236}">
                <a16:creationId xmlns:a16="http://schemas.microsoft.com/office/drawing/2014/main" id="{A8FCB700-BAEA-4687-BC68-5494A8C097C7}"/>
              </a:ext>
            </a:extLst>
          </p:cNvPr>
          <p:cNvSpPr>
            <a:spLocks xmlns:a="http://schemas.openxmlformats.org/drawingml/2006/main" noGrp="1"/>
          </p:cNvSpPr>
          <p:nvPr/>
        </p:nvSpPr>
        <p:spPr>
          <a:xfrm xmlns:a="http://schemas.openxmlformats.org/drawingml/2006/main">
            <a:off x="952500" y="14287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250" b="1" i="0">
                <a:solidFill>
                  <a:srgbClr val="555555"/>
                </a:solidFill>
                <a:latin typeface="Arial"/>
                <a:ea typeface="Arial"/>
                <a:cs typeface="Arial"/>
              </a:defRPr>
            </a:pPr>
            <a:r>
              <a:rPr sz="2250" b="1" i="0">
                <a:solidFill>
                  <a:srgbClr val="555555"/>
                </a:solidFill>
                <a:latin typeface="Arial"/>
                <a:ea typeface="Arial"/>
                <a:cs typeface="Arial"/>
              </a:rPr>
              <a:t>βₜ = βinit (1−t/T) / [(1−βinit) + βinit(1−t/T)]</a:t>
            </a:r>
          </a:p>
        </p:txBody>
      </p:sp>
      <p:sp>
        <p:nvSpPr>
          <p:cNvPr id="7" name="">
            <a:extLst xmlns:a="http://schemas.openxmlformats.org/drawingml/2006/main">
              <a:ext uri="{FF2B5EF4-FFF2-40B4-BE49-F238E27FC236}">
                <a16:creationId xmlns:a16="http://schemas.microsoft.com/office/drawing/2014/main" id="{5643A4F8-64FF-4D08-A3F3-62719B02C1D3}"/>
              </a:ext>
            </a:extLst>
          </p:cNvPr>
          <p:cNvSpPr>
            <a:spLocks xmlns:a="http://schemas.openxmlformats.org/drawingml/2006/main" noGrp="1"/>
          </p:cNvSpPr>
          <p:nvPr/>
        </p:nvSpPr>
        <p:spPr>
          <a:xfrm xmlns:a="http://schemas.openxmlformats.org/drawingml/2006/main">
            <a:off x="1143000" y="2286000"/>
            <a:ext cx="99060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8" name="">
            <a:extLst xmlns:a="http://schemas.openxmlformats.org/drawingml/2006/main">
              <a:ext uri="{FF2B5EF4-FFF2-40B4-BE49-F238E27FC236}">
                <a16:creationId xmlns:a16="http://schemas.microsoft.com/office/drawing/2014/main" id="{4C1E84AA-EB84-44C0-98B6-5CCD8C82ABDE}"/>
              </a:ext>
            </a:extLst>
          </p:cNvPr>
          <p:cNvSpPr>
            <a:spLocks xmlns:a="http://schemas.openxmlformats.org/drawingml/2006/main" noGrp="1"/>
          </p:cNvSpPr>
          <p:nvPr/>
        </p:nvSpPr>
        <p:spPr>
          <a:xfrm xmlns:a="http://schemas.openxmlformats.org/drawingml/2006/main">
            <a:off x="914400" y="2647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i="0">
                <a:solidFill>
                  <a:srgbClr val="282828"/>
                </a:solidFill>
                <a:latin typeface="Arial"/>
                <a:ea typeface="Arial"/>
                <a:cs typeface="Arial"/>
              </a:defRPr>
            </a:pPr>
            <a:r>
              <a:rPr sz="1800" b="1" i="0">
                <a:solidFill>
                  <a:srgbClr val="282828"/>
                </a:solidFill>
                <a:latin typeface="Arial"/>
                <a:ea typeface="Arial"/>
                <a:cs typeface="Arial"/>
              </a:rPr>
              <a:t>DEMON</a:t>
            </a:r>
          </a:p>
        </p:txBody>
      </p:sp>
      <p:sp>
        <p:nvSpPr>
          <p:cNvPr id="9" name="">
            <a:extLst xmlns:a="http://schemas.openxmlformats.org/drawingml/2006/main">
              <a:ext uri="{FF2B5EF4-FFF2-40B4-BE49-F238E27FC236}">
                <a16:creationId xmlns:a16="http://schemas.microsoft.com/office/drawing/2014/main" id="{10B0307C-5F21-4776-9394-B01BFC0D0C84}"/>
              </a:ext>
            </a:extLst>
          </p:cNvPr>
          <p:cNvSpPr>
            <a:spLocks xmlns:a="http://schemas.openxmlformats.org/drawingml/2006/main" noGrp="1"/>
          </p:cNvSpPr>
          <p:nvPr/>
        </p:nvSpPr>
        <p:spPr>
          <a:xfrm xmlns:a="http://schemas.openxmlformats.org/drawingml/2006/main">
            <a:off x="914400" y="3086100"/>
            <a:ext cx="4762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350" b="0" i="0">
                <a:solidFill>
                  <a:srgbClr val="333333"/>
                </a:solidFill>
                <a:latin typeface="Arial"/>
                <a:ea typeface="Arial"/>
                <a:cs typeface="Arial"/>
              </a:defRPr>
            </a:pPr>
            <a:r>
              <a:rPr sz="1350" b="0" i="0">
                <a:solidFill>
                  <a:srgbClr val="333333"/>
                </a:solidFill>
                <a:latin typeface="Arial"/>
                <a:ea typeface="Arial"/>
                <a:cs typeface="Arial"/>
              </a:rPr>
              <a:t>•  Derived from cumulative future momentum influence</a:t>
            </a:r>
          </a:p>
          <a:p xmlns:a="http://schemas.openxmlformats.org/drawingml/2006/main">
            <a:pPr algn="l">
              <a:lnSpc>
                <a:spcPct val="118000"/>
              </a:lnSpc>
              <a:buNone/>
              <a:defRPr sz="1350" b="0" i="0">
                <a:solidFill>
                  <a:srgbClr val="333333"/>
                </a:solidFill>
                <a:latin typeface="Arial"/>
                <a:ea typeface="Arial"/>
                <a:cs typeface="Arial"/>
              </a:defRPr>
            </a:pPr>
            <a:r>
              <a:rPr sz="1350" b="0" i="0">
                <a:solidFill>
                  <a:srgbClr val="333333"/>
                </a:solidFill>
                <a:latin typeface="Arial"/>
                <a:ea typeface="Arial"/>
                <a:cs typeface="Arial"/>
              </a:rPr>
              <a:t>•  β decays across the remaining training horizon</a:t>
            </a:r>
          </a:p>
          <a:p xmlns:a="http://schemas.openxmlformats.org/drawingml/2006/main">
            <a:pPr algn="l">
              <a:lnSpc>
                <a:spcPct val="118000"/>
              </a:lnSpc>
              <a:buNone/>
              <a:defRPr sz="1350" b="0" i="0">
                <a:solidFill>
                  <a:srgbClr val="333333"/>
                </a:solidFill>
                <a:latin typeface="Arial"/>
                <a:ea typeface="Arial"/>
                <a:cs typeface="Arial"/>
              </a:defRPr>
            </a:pPr>
            <a:r>
              <a:rPr sz="1350" b="0" i="0">
                <a:solidFill>
                  <a:srgbClr val="333333"/>
                </a:solidFill>
                <a:latin typeface="Arial"/>
                <a:ea typeface="Arial"/>
                <a:cs typeface="Arial"/>
              </a:rPr>
              <a:t>•  Evaluated with SGDM and Adam</a:t>
            </a:r>
          </a:p>
          <a:p xmlns:a="http://schemas.openxmlformats.org/drawingml/2006/main">
            <a:pPr algn="l">
              <a:lnSpc>
                <a:spcPct val="118000"/>
              </a:lnSpc>
              <a:buNone/>
              <a:defRPr sz="1350" b="0" i="0">
                <a:solidFill>
                  <a:srgbClr val="333333"/>
                </a:solidFill>
                <a:latin typeface="Arial"/>
                <a:ea typeface="Arial"/>
                <a:cs typeface="Arial"/>
              </a:defRPr>
            </a:pPr>
            <a:r>
              <a:rPr sz="1350" b="0" i="0">
                <a:solidFill>
                  <a:srgbClr val="333333"/>
                </a:solidFill>
                <a:latin typeface="Arial"/>
                <a:ea typeface="Arial"/>
                <a:cs typeface="Arial"/>
              </a:rPr>
              <a:t>•  Broad model / dataset / budget study</a:t>
            </a:r>
          </a:p>
        </p:txBody>
      </p:sp>
      <p:sp>
        <p:nvSpPr>
          <p:cNvPr id="10" name="">
            <a:extLst xmlns:a="http://schemas.openxmlformats.org/drawingml/2006/main">
              <a:ext uri="{FF2B5EF4-FFF2-40B4-BE49-F238E27FC236}">
                <a16:creationId xmlns:a16="http://schemas.microsoft.com/office/drawing/2014/main" id="{539953AC-B4F1-4083-B469-646CB4503071}"/>
              </a:ext>
            </a:extLst>
          </p:cNvPr>
          <p:cNvSpPr>
            <a:spLocks xmlns:a="http://schemas.openxmlformats.org/drawingml/2006/main" noGrp="1"/>
          </p:cNvSpPr>
          <p:nvPr/>
        </p:nvSpPr>
        <p:spPr>
          <a:xfrm xmlns:a="http://schemas.openxmlformats.org/drawingml/2006/main">
            <a:off x="6515100" y="2647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i="0">
                <a:solidFill>
                  <a:srgbClr val="282828"/>
                </a:solidFill>
                <a:latin typeface="Arial"/>
                <a:ea typeface="Arial"/>
                <a:cs typeface="Arial"/>
              </a:defRPr>
            </a:pPr>
            <a:r>
              <a:rPr sz="1800" b="1" i="0">
                <a:solidFill>
                  <a:srgbClr val="282828"/>
                </a:solidFill>
                <a:latin typeface="Arial"/>
                <a:ea typeface="Arial"/>
                <a:cs typeface="Arial"/>
              </a:rPr>
              <a:t>This study</a:t>
            </a:r>
          </a:p>
        </p:txBody>
      </p:sp>
      <p:sp>
        <p:nvSpPr>
          <p:cNvPr id="11" name="">
            <a:extLst xmlns:a="http://schemas.openxmlformats.org/drawingml/2006/main">
              <a:ext uri="{FF2B5EF4-FFF2-40B4-BE49-F238E27FC236}">
                <a16:creationId xmlns:a16="http://schemas.microsoft.com/office/drawing/2014/main" id="{392361F0-38A3-4A30-BB56-A5DB2453B9D2}"/>
              </a:ext>
            </a:extLst>
          </p:cNvPr>
          <p:cNvSpPr>
            <a:spLocks xmlns:a="http://schemas.openxmlformats.org/drawingml/2006/main" noGrp="1"/>
          </p:cNvSpPr>
          <p:nvPr/>
        </p:nvSpPr>
        <p:spPr>
          <a:xfrm xmlns:a="http://schemas.openxmlformats.org/drawingml/2006/main">
            <a:off x="6515100" y="3086100"/>
            <a:ext cx="4762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350" b="0" i="0">
                <a:solidFill>
                  <a:srgbClr val="333333"/>
                </a:solidFill>
                <a:latin typeface="Arial"/>
                <a:ea typeface="Arial"/>
                <a:cs typeface="Arial"/>
              </a:defRPr>
            </a:pPr>
            <a:r>
              <a:rPr sz="1350" b="0" i="0">
                <a:solidFill>
                  <a:srgbClr val="333333"/>
                </a:solidFill>
                <a:latin typeface="Arial"/>
                <a:ea typeface="Arial"/>
                <a:cs typeface="Arial"/>
              </a:rPr>
              <a:t>•  Selected β windows: early and late</a:t>
            </a:r>
          </a:p>
          <a:p xmlns:a="http://schemas.openxmlformats.org/drawingml/2006/main">
            <a:pPr algn="l">
              <a:lnSpc>
                <a:spcPct val="118000"/>
              </a:lnSpc>
              <a:buNone/>
              <a:defRPr sz="1350" b="0" i="0">
                <a:solidFill>
                  <a:srgbClr val="333333"/>
                </a:solidFill>
                <a:latin typeface="Arial"/>
                <a:ea typeface="Arial"/>
                <a:cs typeface="Arial"/>
              </a:defRPr>
            </a:pPr>
            <a:r>
              <a:rPr sz="1350" b="0" i="0">
                <a:solidFill>
                  <a:srgbClr val="333333"/>
                </a:solidFill>
                <a:latin typeface="Arial"/>
                <a:ea typeface="Arial"/>
                <a:cs typeface="Arial"/>
              </a:rPr>
              <a:t>•  Applied only to Muon's matrix momentum</a:t>
            </a:r>
          </a:p>
          <a:p xmlns:a="http://schemas.openxmlformats.org/drawingml/2006/main">
            <a:pPr algn="l">
              <a:lnSpc>
                <a:spcPct val="118000"/>
              </a:lnSpc>
              <a:buNone/>
              <a:defRPr sz="1350" b="0" i="0">
                <a:solidFill>
                  <a:srgbClr val="333333"/>
                </a:solidFill>
                <a:latin typeface="Arial"/>
                <a:ea typeface="Arial"/>
                <a:cs typeface="Arial"/>
              </a:defRPr>
            </a:pPr>
            <a:r>
              <a:rPr sz="1350" b="0" i="0">
                <a:solidFill>
                  <a:srgbClr val="333333"/>
                </a:solidFill>
                <a:latin typeface="Arial"/>
                <a:ea typeface="Arial"/>
                <a:cs typeface="Arial"/>
              </a:rPr>
              <a:t>•  Crossed with constant and cosine matrix LR</a:t>
            </a:r>
          </a:p>
          <a:p xmlns:a="http://schemas.openxmlformats.org/drawingml/2006/main">
            <a:pPr algn="l">
              <a:lnSpc>
                <a:spcPct val="118000"/>
              </a:lnSpc>
              <a:buNone/>
              <a:defRPr sz="1350" b="0" i="0">
                <a:solidFill>
                  <a:srgbClr val="333333"/>
                </a:solidFill>
                <a:latin typeface="Arial"/>
                <a:ea typeface="Arial"/>
                <a:cs typeface="Arial"/>
              </a:defRPr>
            </a:pPr>
            <a:r>
              <a:rPr sz="1350" b="0" i="0">
                <a:solidFill>
                  <a:srgbClr val="333333"/>
                </a:solidFill>
                <a:latin typeface="Arial"/>
                <a:ea typeface="Arial"/>
                <a:cs typeface="Arial"/>
              </a:rPr>
              <a:t>•  Replicated early and late windows on seeds 42–44</a:t>
            </a:r>
          </a:p>
        </p:txBody>
      </p:sp>
      <p:sp>
        <p:nvSpPr>
          <p:cNvPr id="12" name="">
            <a:extLst xmlns:a="http://schemas.openxmlformats.org/drawingml/2006/main">
              <a:ext uri="{FF2B5EF4-FFF2-40B4-BE49-F238E27FC236}">
                <a16:creationId xmlns:a16="http://schemas.microsoft.com/office/drawing/2014/main" id="{EBA80AA3-92E3-4EC7-9D0A-D85409534F95}"/>
              </a:ext>
            </a:extLst>
          </p:cNvPr>
          <p:cNvSpPr>
            <a:spLocks xmlns:a="http://schemas.openxmlformats.org/drawingml/2006/main" noGrp="1"/>
          </p:cNvSpPr>
          <p:nvPr/>
        </p:nvSpPr>
        <p:spPr>
          <a:xfrm xmlns:a="http://schemas.openxmlformats.org/drawingml/2006/main">
            <a:off x="952500" y="57150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55555"/>
                </a:solidFill>
                <a:latin typeface="Arial"/>
                <a:ea typeface="Arial"/>
                <a:cs typeface="Arial"/>
              </a:defRPr>
            </a:pPr>
            <a:r>
              <a:rPr sz="1350" b="1" i="0">
                <a:solidFill>
                  <a:srgbClr val="555555"/>
                </a:solidFill>
                <a:latin typeface="Arial"/>
                <a:ea typeface="Arial"/>
                <a:cs typeface="Arial"/>
              </a:rPr>
              <a:t>The novelty is the controlled Muon interaction, not the idea of decaying momentum itself.</a:t>
            </a:r>
          </a:p>
        </p:txBody>
      </p:sp>
    </p:spTree>
    <p:extLst>
      <p:ext uri="{BB962C8B-B14F-4D97-AF65-F5344CB8AC3E}">
        <p14:creationId xmlns:p14="http://schemas.microsoft.com/office/powerpoint/2010/main" val="96167644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89D15E2F-16B4-4891-A8C8-530F76858C5D}"/>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i="0">
                <a:solidFill>
                  <a:srgbClr val="282828"/>
                </a:solidFill>
                <a:latin typeface="Arial"/>
                <a:ea typeface="Arial"/>
                <a:cs typeface="Arial"/>
              </a:defRPr>
            </a:pPr>
            <a:r>
              <a:rPr sz="2175" b="0" i="0">
                <a:solidFill>
                  <a:srgbClr val="282828"/>
                </a:solidFill>
                <a:latin typeface="Arial"/>
                <a:ea typeface="Arial"/>
                <a:cs typeface="Arial"/>
              </a:rPr>
              <a:t>Early momentum decay gives a transient post-baseline boost</a:t>
            </a:r>
          </a:p>
        </p:txBody>
      </p:sp>
      <p:sp>
        <p:nvSpPr>
          <p:cNvPr id="2" name="">
            <a:extLst xmlns:a="http://schemas.openxmlformats.org/drawingml/2006/main">
              <a:ext uri="{FF2B5EF4-FFF2-40B4-BE49-F238E27FC236}">
                <a16:creationId xmlns:a16="http://schemas.microsoft.com/office/drawing/2014/main" id="{BFE3AA92-A9A7-4648-B6DF-8DCC8F162A7F}"/>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21C145CE-AB4A-42FE-BFF1-C601B42492BC}"/>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1B52B77-0154-426F-8E5A-D56B01F94A5E}"/>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DA014A41-C4BD-4C99-AFB7-BCF86AFE1958}"/>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26</a:t>
            </a:r>
          </a:p>
        </p:txBody>
      </p:sp>
      <p:sp>
        <p:nvSpPr>
          <p:cNvPr id="6" name="">
            <a:extLst xmlns:a="http://schemas.openxmlformats.org/drawingml/2006/main">
              <a:ext uri="{FF2B5EF4-FFF2-40B4-BE49-F238E27FC236}">
                <a16:creationId xmlns:a16="http://schemas.microsoft.com/office/drawing/2014/main" id="{77FF417F-B9C9-42E9-9EDA-AE25A7342DE1}"/>
              </a:ext>
            </a:extLst>
          </p:cNvPr>
          <p:cNvSpPr>
            <a:spLocks xmlns:a="http://schemas.openxmlformats.org/drawingml/2006/main" noGrp="1"/>
          </p:cNvSpPr>
          <p:nvPr/>
        </p:nvSpPr>
        <p:spPr>
          <a:xfrm xmlns:a="http://schemas.openxmlformats.org/drawingml/2006/main">
            <a:off x="685800" y="106680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333333"/>
                </a:solidFill>
                <a:latin typeface="Arial"/>
                <a:ea typeface="Arial"/>
                <a:cs typeface="Arial"/>
              </a:defRPr>
            </a:pPr>
            <a:r>
              <a:rPr sz="1050" b="0" i="0">
                <a:solidFill>
                  <a:srgbClr val="333333"/>
                </a:solidFill>
                <a:latin typeface="Arial"/>
                <a:ea typeface="Arial"/>
                <a:cs typeface="Arial"/>
              </a:rPr>
              <a:t>ResNet-18 / CIFAR-100; seeds 42, 43, and 44; paired gap centered at epoch 5</a:t>
            </a:r>
          </a:p>
        </p:txBody>
      </p:sp>
      <p:sp>
        <p:nvSpPr>
          <p:cNvPr id="7" name="">
            <a:extLst xmlns:a="http://schemas.openxmlformats.org/drawingml/2006/main">
              <a:ext uri="{FF2B5EF4-FFF2-40B4-BE49-F238E27FC236}">
                <a16:creationId xmlns:a16="http://schemas.microsoft.com/office/drawing/2014/main" id="{1E344EEE-A42B-436A-B3CE-699233E251B9}"/>
              </a:ext>
            </a:extLst>
          </p:cNvPr>
          <p:cNvSpPr>
            <a:spLocks xmlns:a="http://schemas.openxmlformats.org/drawingml/2006/main" noGrp="1"/>
          </p:cNvSpPr>
          <p:nvPr/>
        </p:nvSpPr>
        <p:spPr>
          <a:xfrm xmlns:a="http://schemas.openxmlformats.org/drawingml/2006/main">
            <a:off x="6858000" y="1066800"/>
            <a:ext cx="4648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i="0">
                <a:solidFill>
                  <a:srgbClr val="333333"/>
                </a:solidFill>
                <a:latin typeface="Arial"/>
                <a:ea typeface="Arial"/>
                <a:cs typeface="Arial"/>
              </a:defRPr>
            </a:pPr>
            <a:r>
              <a:rPr sz="1050" b="0" i="0">
                <a:solidFill>
                  <a:srgbClr val="333333"/>
                </a:solidFill>
                <a:latin typeface="Arial"/>
                <a:ea typeface="Arial"/>
                <a:cs typeface="Arial"/>
              </a:rPr>
              <a:t>Cosine LR; beta 0.98 to 0.50 after epoch 6 through epoch 18</a:t>
            </a:r>
          </a:p>
        </p:txBody>
      </p:sp>
      <p:sp>
        <p:nvSpPr>
          <p:cNvPr id="8" name="">
            <a:extLst xmlns:a="http://schemas.openxmlformats.org/drawingml/2006/main">
              <a:ext uri="{FF2B5EF4-FFF2-40B4-BE49-F238E27FC236}">
                <a16:creationId xmlns:a16="http://schemas.microsoft.com/office/drawing/2014/main" id="{85635447-A54D-482D-A08A-4BD84FACF23C}"/>
              </a:ext>
            </a:extLst>
          </p:cNvPr>
          <p:cNvSpPr>
            <a:spLocks xmlns:a="http://schemas.openxmlformats.org/drawingml/2006/main" noGrp="1"/>
          </p:cNvSpPr>
          <p:nvPr/>
        </p:nvSpPr>
        <p:spPr>
          <a:xfrm xmlns:a="http://schemas.openxmlformats.org/drawingml/2006/main">
            <a:off x="685800" y="1333500"/>
            <a:ext cx="10820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i="0">
                <a:solidFill>
                  <a:srgbClr val="282828"/>
                </a:solidFill>
                <a:latin typeface="Arial"/>
                <a:ea typeface="Arial"/>
                <a:cs typeface="Arial"/>
              </a:defRPr>
            </a:pPr>
            <a:r>
              <a:rPr sz="1050" b="1" i="0">
                <a:solidFill>
                  <a:srgbClr val="282828"/>
                </a:solidFill>
                <a:latin typeface="Arial"/>
                <a:ea typeface="Arial"/>
                <a:cs typeface="Arial"/>
              </a:rPr>
              <a:t>Each curve shows how the between-condition accuracy gap changes relative to epoch 5.</a:t>
            </a:r>
          </a:p>
        </p:txBody>
      </p:sp>
      <p:sp>
        <p:nvSpPr>
          <p:cNvPr id="9" name="">
            <a:extLst xmlns:a="http://schemas.openxmlformats.org/drawingml/2006/main">
              <a:ext uri="{FF2B5EF4-FFF2-40B4-BE49-F238E27FC236}">
                <a16:creationId xmlns:a16="http://schemas.microsoft.com/office/drawing/2014/main" id="{1D817AF1-B096-44D7-AC93-F377FE685337}"/>
              </a:ext>
            </a:extLst>
          </p:cNvPr>
          <p:cNvSpPr>
            <a:spLocks xmlns:a="http://schemas.openxmlformats.org/drawingml/2006/main" noGrp="1"/>
          </p:cNvSpPr>
          <p:nvPr/>
        </p:nvSpPr>
        <p:spPr>
          <a:xfrm xmlns:a="http://schemas.openxmlformats.org/drawingml/2006/main">
            <a:off x="685800" y="160020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282828"/>
                </a:solidFill>
                <a:latin typeface="Arial"/>
                <a:ea typeface="Arial"/>
                <a:cs typeface="Arial"/>
              </a:defRPr>
            </a:pPr>
            <a:r>
              <a:rPr sz="1500" b="1" i="0">
                <a:solidFill>
                  <a:srgbClr val="282828"/>
                </a:solidFill>
                <a:latin typeface="Arial"/>
                <a:ea typeface="Arial"/>
                <a:cs typeface="Arial"/>
              </a:rPr>
              <a:t>Matrix LR 0.04</a:t>
            </a:r>
          </a:p>
        </p:txBody>
      </p:sp>
      <p:sp>
        <p:nvSpPr>
          <p:cNvPr id="10" name="">
            <a:extLst xmlns:a="http://schemas.openxmlformats.org/drawingml/2006/main">
              <a:ext uri="{FF2B5EF4-FFF2-40B4-BE49-F238E27FC236}">
                <a16:creationId xmlns:a16="http://schemas.microsoft.com/office/drawing/2014/main" id="{8EF6B844-5EEE-41D2-AEFD-0337DA7544B6}"/>
              </a:ext>
            </a:extLst>
          </p:cNvPr>
          <p:cNvSpPr>
            <a:spLocks xmlns:a="http://schemas.openxmlformats.org/drawingml/2006/main" noGrp="1"/>
          </p:cNvSpPr>
          <p:nvPr/>
        </p:nvSpPr>
        <p:spPr>
          <a:xfrm xmlns:a="http://schemas.openxmlformats.org/drawingml/2006/main">
            <a:off x="685800" y="1885950"/>
            <a:ext cx="5105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0" i="0">
                <a:solidFill>
                  <a:srgbClr val="333333"/>
                </a:solidFill>
                <a:latin typeface="Arial"/>
                <a:ea typeface="Arial"/>
                <a:cs typeface="Arial"/>
              </a:defRPr>
            </a:pPr>
            <a:r>
              <a:rPr sz="900" b="0" i="0">
                <a:solidFill>
                  <a:srgbClr val="333333"/>
                </a:solidFill>
                <a:latin typeface="Arial"/>
                <a:ea typeface="Arial"/>
                <a:cs typeface="Arial"/>
              </a:rPr>
              <a:t>Thin lines = individual seeds; thick line = mean.</a:t>
            </a:r>
          </a:p>
        </p:txBody>
      </p:sp>
      <p:graphicFrame>
        <p:nvGraphicFramePr>
          <p:cNvPr id="26" name="Chart"/>
          <p:cNvGraphicFramePr/>
          <p:nvPr/>
        </p:nvGraphicFramePr>
        <p:xfrm>
          <a:off xmlns:a="http://schemas.openxmlformats.org/drawingml/2006/main" x="685800" y="2114550"/>
          <a:ext xmlns:a="http://schemas.openxmlformats.org/drawingml/2006/main" cx="5105400" cy="3581400"/>
        </p:xfrm>
        <a:graphic xmlns:a="http://schemas.openxmlformats.org/drawingml/2006/main">
          <a:graphicData uri="http://schemas.openxmlformats.org/drawingml/2006/chart">
            <c:chart xmlns:r="http://schemas.openxmlformats.org/officeDocument/2006/relationships" xmlns:c="http://schemas.openxmlformats.org/drawingml/2006/chart" r:id="Rb5b3845d6178473f"/>
          </a:graphicData>
        </a:graphic>
      </p:graphicFrame>
      <p:sp>
        <p:nvSpPr>
          <p:cNvPr id="12" name="">
            <a:extLst xmlns:a="http://schemas.openxmlformats.org/drawingml/2006/main">
              <a:ext uri="{FF2B5EF4-FFF2-40B4-BE49-F238E27FC236}">
                <a16:creationId xmlns:a16="http://schemas.microsoft.com/office/drawing/2014/main" id="{DF09A03D-75DE-4682-98B0-2880D0B17AB0}"/>
              </a:ext>
            </a:extLst>
          </p:cNvPr>
          <p:cNvSpPr>
            <a:spLocks xmlns:a="http://schemas.openxmlformats.org/drawingml/2006/main" noGrp="1"/>
          </p:cNvSpPr>
          <p:nvPr/>
        </p:nvSpPr>
        <p:spPr>
          <a:xfrm xmlns:a="http://schemas.openxmlformats.org/drawingml/2006/main">
            <a:off x="6400800" y="160020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282828"/>
                </a:solidFill>
                <a:latin typeface="Arial"/>
                <a:ea typeface="Arial"/>
                <a:cs typeface="Arial"/>
              </a:defRPr>
            </a:pPr>
            <a:r>
              <a:rPr sz="1500" b="1" i="0">
                <a:solidFill>
                  <a:srgbClr val="282828"/>
                </a:solidFill>
                <a:latin typeface="Arial"/>
                <a:ea typeface="Arial"/>
                <a:cs typeface="Arial"/>
              </a:rPr>
              <a:t>Matrix LR 0.08</a:t>
            </a:r>
          </a:p>
        </p:txBody>
      </p:sp>
      <p:sp>
        <p:nvSpPr>
          <p:cNvPr id="13" name="">
            <a:extLst xmlns:a="http://schemas.openxmlformats.org/drawingml/2006/main">
              <a:ext uri="{FF2B5EF4-FFF2-40B4-BE49-F238E27FC236}">
                <a16:creationId xmlns:a16="http://schemas.microsoft.com/office/drawing/2014/main" id="{0AA4A740-E6B1-40D5-B93E-07843EA0040C}"/>
              </a:ext>
            </a:extLst>
          </p:cNvPr>
          <p:cNvSpPr>
            <a:spLocks xmlns:a="http://schemas.openxmlformats.org/drawingml/2006/main" noGrp="1"/>
          </p:cNvSpPr>
          <p:nvPr/>
        </p:nvSpPr>
        <p:spPr>
          <a:xfrm xmlns:a="http://schemas.openxmlformats.org/drawingml/2006/main">
            <a:off x="6400800" y="1885950"/>
            <a:ext cx="5105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0" i="0">
                <a:solidFill>
                  <a:srgbClr val="333333"/>
                </a:solidFill>
                <a:latin typeface="Arial"/>
                <a:ea typeface="Arial"/>
                <a:cs typeface="Arial"/>
              </a:defRPr>
            </a:pPr>
            <a:r>
              <a:rPr sz="900" b="0" i="0">
                <a:solidFill>
                  <a:srgbClr val="333333"/>
                </a:solidFill>
                <a:latin typeface="Arial"/>
                <a:ea typeface="Arial"/>
                <a:cs typeface="Arial"/>
              </a:rPr>
              <a:t>Thin lines = individual seeds; thick line = mean.</a:t>
            </a:r>
          </a:p>
        </p:txBody>
      </p:sp>
      <p:graphicFrame>
        <p:nvGraphicFramePr>
          <p:cNvPr id="29" name="Chart"/>
          <p:cNvGraphicFramePr/>
          <p:nvPr/>
        </p:nvGraphicFramePr>
        <p:xfrm>
          <a:off xmlns:a="http://schemas.openxmlformats.org/drawingml/2006/main" x="6400800" y="2114550"/>
          <a:ext xmlns:a="http://schemas.openxmlformats.org/drawingml/2006/main" cx="5105400" cy="3581400"/>
        </p:xfrm>
        <a:graphic xmlns:a="http://schemas.openxmlformats.org/drawingml/2006/main">
          <a:graphicData uri="http://schemas.openxmlformats.org/drawingml/2006/chart">
            <c:chart xmlns:r="http://schemas.openxmlformats.org/officeDocument/2006/relationships" xmlns:c="http://schemas.openxmlformats.org/drawingml/2006/chart" r:id="Ra339ea40976b4fd0"/>
          </a:graphicData>
        </a:graphic>
      </p:graphicFrame>
      <p:sp>
        <p:nvSpPr>
          <p:cNvPr id="15" name="">
            <a:extLst xmlns:a="http://schemas.openxmlformats.org/drawingml/2006/main">
              <a:ext uri="{FF2B5EF4-FFF2-40B4-BE49-F238E27FC236}">
                <a16:creationId xmlns:a16="http://schemas.microsoft.com/office/drawing/2014/main" id="{F63E231A-8ACB-493D-BA1F-993BD66F7B47}"/>
              </a:ext>
            </a:extLst>
          </p:cNvPr>
          <p:cNvSpPr>
            <a:spLocks xmlns:a="http://schemas.openxmlformats.org/drawingml/2006/main" noGrp="1"/>
          </p:cNvSpPr>
          <p:nvPr/>
        </p:nvSpPr>
        <p:spPr>
          <a:xfrm xmlns:a="http://schemas.openxmlformats.org/drawingml/2006/main">
            <a:off x="781050" y="5905500"/>
            <a:ext cx="10629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i="0">
                <a:solidFill>
                  <a:srgbClr val="282828"/>
                </a:solidFill>
                <a:latin typeface="Arial"/>
                <a:ea typeface="Arial"/>
                <a:cs typeface="Arial"/>
              </a:defRPr>
            </a:pPr>
            <a:r>
              <a:rPr sz="1125" b="1" i="0">
                <a:solidFill>
                  <a:srgbClr val="282828"/>
                </a:solidFill>
                <a:latin typeface="Arial"/>
                <a:ea typeface="Arial"/>
                <a:cs typeface="Arial"/>
              </a:rPr>
              <a:t>Peak post-baseline gains: +1.70 ± 0.42 pp at epoch 10 and +3.30 ± 0.55 pp at epoch 15; ± is paired-difference sample SD.</a:t>
            </a:r>
          </a:p>
        </p:txBody>
      </p:sp>
    </p:spTree>
    <p:extLst>
      <p:ext uri="{BB962C8B-B14F-4D97-AF65-F5344CB8AC3E}">
        <p14:creationId xmlns:p14="http://schemas.microsoft.com/office/powerpoint/2010/main" val="43804176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CBB3831E-EBC8-4279-AE6F-A390938A4182}"/>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Low constant momentum is not uniformly better</a:t>
            </a:r>
          </a:p>
        </p:txBody>
      </p:sp>
      <p:sp>
        <p:nvSpPr>
          <p:cNvPr id="2" name="">
            <a:extLst xmlns:a="http://schemas.openxmlformats.org/drawingml/2006/main">
              <a:ext uri="{FF2B5EF4-FFF2-40B4-BE49-F238E27FC236}">
                <a16:creationId xmlns:a16="http://schemas.microsoft.com/office/drawing/2014/main" id="{CACAB978-D281-4882-9861-7FBE9EE2AB49}"/>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37D7FC37-3A39-4876-83E5-80EBABA8E7DF}"/>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5455647-C330-47C7-BA40-211DAFEF5865}"/>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40F48C88-EB2A-403D-BFE1-9E5828CF6315}"/>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27</a:t>
            </a:r>
          </a:p>
        </p:txBody>
      </p:sp>
      <p:sp>
        <p:nvSpPr>
          <p:cNvPr id="6" name="">
            <a:extLst xmlns:a="http://schemas.openxmlformats.org/drawingml/2006/main">
              <a:ext uri="{FF2B5EF4-FFF2-40B4-BE49-F238E27FC236}">
                <a16:creationId xmlns:a16="http://schemas.microsoft.com/office/drawing/2014/main" id="{B0FBE650-7F64-46E2-B2B4-415CB25FEA85}"/>
              </a:ext>
            </a:extLst>
          </p:cNvPr>
          <p:cNvSpPr>
            <a:spLocks xmlns:a="http://schemas.openxmlformats.org/drawingml/2006/main" noGrp="1"/>
          </p:cNvSpPr>
          <p:nvPr/>
        </p:nvSpPr>
        <p:spPr>
          <a:xfrm xmlns:a="http://schemas.openxmlformats.org/drawingml/2006/main">
            <a:off x="685800" y="1066800"/>
            <a:ext cx="657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333333"/>
                </a:solidFill>
                <a:latin typeface="Arial"/>
                <a:ea typeface="Arial"/>
                <a:cs typeface="Arial"/>
              </a:defRPr>
            </a:pPr>
            <a:r>
              <a:rPr sz="1050" b="0" i="0">
                <a:solidFill>
                  <a:srgbClr val="333333"/>
                </a:solidFill>
                <a:latin typeface="Arial"/>
                <a:ea typeface="Arial"/>
                <a:cs typeface="Arial"/>
              </a:rPr>
              <a:t>ResNet-18 / CIFAR-100; cosine LR; 50 epochs; seeds 42, 43, and 44</a:t>
            </a:r>
          </a:p>
        </p:txBody>
      </p:sp>
      <p:sp>
        <p:nvSpPr>
          <p:cNvPr id="7" name="">
            <a:extLst xmlns:a="http://schemas.openxmlformats.org/drawingml/2006/main">
              <a:ext uri="{FF2B5EF4-FFF2-40B4-BE49-F238E27FC236}">
                <a16:creationId xmlns:a16="http://schemas.microsoft.com/office/drawing/2014/main" id="{708E5303-3093-4EA0-862C-415F90F35C39}"/>
              </a:ext>
            </a:extLst>
          </p:cNvPr>
          <p:cNvSpPr>
            <a:spLocks xmlns:a="http://schemas.openxmlformats.org/drawingml/2006/main" noGrp="1"/>
          </p:cNvSpPr>
          <p:nvPr/>
        </p:nvSpPr>
        <p:spPr>
          <a:xfrm xmlns:a="http://schemas.openxmlformats.org/drawingml/2006/main">
            <a:off x="7239000" y="1066800"/>
            <a:ext cx="426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i="0">
                <a:solidFill>
                  <a:srgbClr val="282828"/>
                </a:solidFill>
                <a:latin typeface="Arial"/>
                <a:ea typeface="Arial"/>
                <a:cs typeface="Arial"/>
              </a:defRPr>
            </a:pPr>
            <a:r>
              <a:rPr sz="1050" b="1" i="0">
                <a:solidFill>
                  <a:srgbClr val="282828"/>
                </a:solidFill>
                <a:latin typeface="Arial"/>
                <a:ea typeface="Arial"/>
                <a:cs typeface="Arial"/>
              </a:rPr>
              <a:t>Beta 0.50 loses at LR 0.04 but wins at LR 0.08</a:t>
            </a:r>
          </a:p>
        </p:txBody>
      </p:sp>
      <p:sp>
        <p:nvSpPr>
          <p:cNvPr id="8" name="">
            <a:extLst xmlns:a="http://schemas.openxmlformats.org/drawingml/2006/main">
              <a:ext uri="{FF2B5EF4-FFF2-40B4-BE49-F238E27FC236}">
                <a16:creationId xmlns:a16="http://schemas.microsoft.com/office/drawing/2014/main" id="{0BB27D8B-BB23-462A-8BB2-EB43E80B5820}"/>
              </a:ext>
            </a:extLst>
          </p:cNvPr>
          <p:cNvSpPr>
            <a:spLocks xmlns:a="http://schemas.openxmlformats.org/drawingml/2006/main" noGrp="1"/>
          </p:cNvSpPr>
          <p:nvPr/>
        </p:nvSpPr>
        <p:spPr>
          <a:xfrm xmlns:a="http://schemas.openxmlformats.org/drawingml/2006/main">
            <a:off x="685800" y="1295400"/>
            <a:ext cx="10820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0" i="0">
                <a:solidFill>
                  <a:srgbClr val="666666"/>
                </a:solidFill>
                <a:latin typeface="Arial"/>
                <a:ea typeface="Arial"/>
                <a:cs typeface="Arial"/>
              </a:defRPr>
            </a:pPr>
            <a:r>
              <a:rPr sz="825" b="0" i="0">
                <a:solidFill>
                  <a:srgbClr val="666666"/>
                </a:solidFill>
                <a:latin typeface="Arial"/>
                <a:ea typeface="Arial"/>
                <a:cs typeface="Arial"/>
              </a:rPr>
              <a:t>Dots = individual seeds; crossbars = per-condition mean ± sample SD.</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95cbd47f75b479a"/>
          <a:stretch xmlns:a="http://schemas.openxmlformats.org/drawingml/2006/main"/>
        </p:blipFill>
        <p:spPr>
          <a:xfrm xmlns:a="http://schemas.openxmlformats.org/drawingml/2006/main">
            <a:off x="931069" y="1466850"/>
            <a:ext cx="10329863" cy="4591050"/>
          </a:xfrm>
          <a:prstGeom xmlns:a="http://schemas.openxmlformats.org/drawingml/2006/main" prst="rect">
            <a:avLst/>
          </a:prstGeom>
        </p:spPr>
      </p:pic>
    </p:spTree>
    <p:extLst>
      <p:ext uri="{BB962C8B-B14F-4D97-AF65-F5344CB8AC3E}">
        <p14:creationId xmlns:p14="http://schemas.microsoft.com/office/powerpoint/2010/main" val="48708415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360DF00E-4805-4ED3-8FE5-6F766FBFC271}"/>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Three-seed timing of the momentum-decay gain</a:t>
            </a:r>
          </a:p>
        </p:txBody>
      </p:sp>
      <p:sp>
        <p:nvSpPr>
          <p:cNvPr id="2" name="">
            <a:extLst xmlns:a="http://schemas.openxmlformats.org/drawingml/2006/main">
              <a:ext uri="{FF2B5EF4-FFF2-40B4-BE49-F238E27FC236}">
                <a16:creationId xmlns:a16="http://schemas.microsoft.com/office/drawing/2014/main" id="{3E5AC17A-2348-4728-849F-51DDFF2C8BA8}"/>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162EDE12-4A02-40F9-8DCF-7C8EA4CA623C}"/>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4BD181F-4138-4C23-8107-88413C879291}"/>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927B8C8E-A0BE-4D98-A5E0-83D9D2F3F85D}"/>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28</a:t>
            </a:r>
          </a:p>
        </p:txBody>
      </p:sp>
      <p:sp>
        <p:nvSpPr>
          <p:cNvPr id="6" name="">
            <a:extLst xmlns:a="http://schemas.openxmlformats.org/drawingml/2006/main">
              <a:ext uri="{FF2B5EF4-FFF2-40B4-BE49-F238E27FC236}">
                <a16:creationId xmlns:a16="http://schemas.microsoft.com/office/drawing/2014/main" id="{F56E5884-4DE2-4CEF-A881-4EFC43D91162}"/>
              </a:ext>
            </a:extLst>
          </p:cNvPr>
          <p:cNvSpPr>
            <a:spLocks xmlns:a="http://schemas.openxmlformats.org/drawingml/2006/main" noGrp="1"/>
          </p:cNvSpPr>
          <p:nvPr/>
        </p:nvSpPr>
        <p:spPr>
          <a:xfrm xmlns:a="http://schemas.openxmlformats.org/drawingml/2006/main">
            <a:off x="685800" y="1066800"/>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333333"/>
                </a:solidFill>
                <a:latin typeface="Arial"/>
                <a:ea typeface="Arial"/>
                <a:cs typeface="Arial"/>
              </a:defRPr>
            </a:pPr>
            <a:r>
              <a:rPr sz="1125" b="0" i="0">
                <a:solidFill>
                  <a:srgbClr val="333333"/>
                </a:solidFill>
                <a:latin typeface="Arial"/>
                <a:ea typeface="Arial"/>
                <a:cs typeface="Arial"/>
              </a:rPr>
              <a:t>Seeds 42, 43, and 44; evaluated every 5 epochs</a:t>
            </a:r>
          </a:p>
        </p:txBody>
      </p:sp>
      <p:sp>
        <p:nvSpPr>
          <p:cNvPr id="7" name="">
            <a:extLst xmlns:a="http://schemas.openxmlformats.org/drawingml/2006/main">
              <a:ext uri="{FF2B5EF4-FFF2-40B4-BE49-F238E27FC236}">
                <a16:creationId xmlns:a16="http://schemas.microsoft.com/office/drawing/2014/main" id="{F877E89B-1B2C-4C4E-AF63-76A4AFAD0707}"/>
              </a:ext>
            </a:extLst>
          </p:cNvPr>
          <p:cNvSpPr>
            <a:spLocks xmlns:a="http://schemas.openxmlformats.org/drawingml/2006/main" noGrp="1"/>
          </p:cNvSpPr>
          <p:nvPr/>
        </p:nvSpPr>
        <p:spPr>
          <a:xfrm xmlns:a="http://schemas.openxmlformats.org/drawingml/2006/main">
            <a:off x="5905500" y="1066800"/>
            <a:ext cx="560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282828"/>
                </a:solidFill>
                <a:latin typeface="Arial"/>
                <a:ea typeface="Arial"/>
                <a:cs typeface="Arial"/>
              </a:defRPr>
            </a:pPr>
            <a:r>
              <a:rPr sz="1125" b="1" i="0">
                <a:solidFill>
                  <a:srgbClr val="282828"/>
                </a:solidFill>
                <a:latin typeface="Arial"/>
                <a:ea typeface="Arial"/>
                <a:cs typeface="Arial"/>
              </a:rPr>
              <a:t>Epoch 50 under constant LR: +1.58 ± 0.33 percentage points</a:t>
            </a:r>
          </a:p>
        </p:txBody>
      </p:sp>
      <p:sp>
        <p:nvSpPr>
          <p:cNvPr id="8" name="">
            <a:extLst xmlns:a="http://schemas.openxmlformats.org/drawingml/2006/main">
              <a:ext uri="{FF2B5EF4-FFF2-40B4-BE49-F238E27FC236}">
                <a16:creationId xmlns:a16="http://schemas.microsoft.com/office/drawing/2014/main" id="{ACCE7FE8-494A-41AB-AF69-4C69D4CFE860}"/>
              </a:ext>
            </a:extLst>
          </p:cNvPr>
          <p:cNvSpPr>
            <a:spLocks xmlns:a="http://schemas.openxmlformats.org/drawingml/2006/main" noGrp="1"/>
          </p:cNvSpPr>
          <p:nvPr/>
        </p:nvSpPr>
        <p:spPr>
          <a:xfrm xmlns:a="http://schemas.openxmlformats.org/drawingml/2006/main">
            <a:off x="685800" y="1314450"/>
            <a:ext cx="10820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0" i="0">
                <a:solidFill>
                  <a:srgbClr val="666666"/>
                </a:solidFill>
                <a:latin typeface="Arial"/>
                <a:ea typeface="Arial"/>
                <a:cs typeface="Arial"/>
              </a:defRPr>
            </a:pPr>
            <a:r>
              <a:rPr sz="825" b="0" i="0">
                <a:solidFill>
                  <a:srgbClr val="666666"/>
                </a:solidFill>
                <a:latin typeface="Arial"/>
                <a:ea typeface="Arial"/>
                <a:cs typeface="Arial"/>
              </a:rPr>
              <a:t>Lines = means; bands = per-condition sample SD. The +1.58 ± 0.33 result is mean ± sample SD of paired seed differences.</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1d5273a37ce455a"/>
          <a:stretch xmlns:a="http://schemas.openxmlformats.org/drawingml/2006/main"/>
        </p:blipFill>
        <p:spPr>
          <a:xfrm xmlns:a="http://schemas.openxmlformats.org/drawingml/2006/main">
            <a:off x="977883" y="1504950"/>
            <a:ext cx="10236233" cy="4552950"/>
          </a:xfrm>
          <a:prstGeom xmlns:a="http://schemas.openxmlformats.org/drawingml/2006/main" prst="rect">
            <a:avLst/>
          </a:prstGeom>
        </p:spPr>
      </p:pic>
    </p:spTree>
    <p:extLst>
      <p:ext uri="{BB962C8B-B14F-4D97-AF65-F5344CB8AC3E}">
        <p14:creationId xmlns:p14="http://schemas.microsoft.com/office/powerpoint/2010/main" val="16111849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7F2003CF-B69D-44EA-9404-0290A6BA67AF}"/>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TinyViT final accuracy</a:t>
            </a:r>
          </a:p>
        </p:txBody>
      </p:sp>
      <p:sp>
        <p:nvSpPr>
          <p:cNvPr id="2" name="">
            <a:extLst xmlns:a="http://schemas.openxmlformats.org/drawingml/2006/main">
              <a:ext uri="{FF2B5EF4-FFF2-40B4-BE49-F238E27FC236}">
                <a16:creationId xmlns:a16="http://schemas.microsoft.com/office/drawing/2014/main" id="{62764E47-547F-4991-820D-909C082F2A8B}"/>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57DB7DEC-C74C-445D-A845-6C43573A1052}"/>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14B72F3-311D-4140-9DEB-D11D1F6FAB2C}"/>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3E7646A1-5AC1-4EF8-8D15-79E74C1B66FA}"/>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29</a:t>
            </a:r>
          </a:p>
        </p:txBody>
      </p:sp>
      <p:sp>
        <p:nvSpPr>
          <p:cNvPr id="6" name="">
            <a:extLst xmlns:a="http://schemas.openxmlformats.org/drawingml/2006/main">
              <a:ext uri="{FF2B5EF4-FFF2-40B4-BE49-F238E27FC236}">
                <a16:creationId xmlns:a16="http://schemas.microsoft.com/office/drawing/2014/main" id="{3D491062-98FD-46F6-ABDF-1A9BD8A03737}"/>
              </a:ext>
            </a:extLst>
          </p:cNvPr>
          <p:cNvSpPr>
            <a:spLocks xmlns:a="http://schemas.openxmlformats.org/drawingml/2006/main" noGrp="1"/>
          </p:cNvSpPr>
          <p:nvPr/>
        </p:nvSpPr>
        <p:spPr>
          <a:xfrm xmlns:a="http://schemas.openxmlformats.org/drawingml/2006/main">
            <a:off x="685800" y="10477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0" i="0">
                <a:solidFill>
                  <a:srgbClr val="666666"/>
                </a:solidFill>
                <a:latin typeface="Arial"/>
                <a:ea typeface="Arial"/>
                <a:cs typeface="Arial"/>
              </a:defRPr>
            </a:pPr>
            <a:r>
              <a:rPr sz="900" b="0" i="0">
                <a:solidFill>
                  <a:srgbClr val="666666"/>
                </a:solidFill>
                <a:latin typeface="Arial"/>
                <a:ea typeface="Arial"/>
                <a:cs typeface="Arial"/>
              </a:rPr>
              <a:t>Dots = individual seeds; crossbars = per-condition mean ± sample SD. Reported changes are mean ± sample SD of paired seed differences.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b614c5af311402c"/>
          <a:stretch xmlns:a="http://schemas.openxmlformats.org/drawingml/2006/main"/>
        </p:blipFill>
        <p:spPr>
          <a:xfrm xmlns:a="http://schemas.openxmlformats.org/drawingml/2006/main">
            <a:off x="931069" y="1295400"/>
            <a:ext cx="10329863" cy="4591050"/>
          </a:xfrm>
          <a:prstGeom xmlns:a="http://schemas.openxmlformats.org/drawingml/2006/main" prst="rect">
            <a:avLst/>
          </a:prstGeom>
        </p:spPr>
      </p:pic>
    </p:spTree>
    <p:extLst>
      <p:ext uri="{BB962C8B-B14F-4D97-AF65-F5344CB8AC3E}">
        <p14:creationId xmlns:p14="http://schemas.microsoft.com/office/powerpoint/2010/main" val="8400310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C75AE421-524B-4AF4-B68A-D749C216F11B}"/>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Convergence speed and final accuracy</a:t>
            </a:r>
          </a:p>
        </p:txBody>
      </p:sp>
      <p:sp>
        <p:nvSpPr>
          <p:cNvPr id="2" name="">
            <a:extLst xmlns:a="http://schemas.openxmlformats.org/drawingml/2006/main">
              <a:ext uri="{FF2B5EF4-FFF2-40B4-BE49-F238E27FC236}">
                <a16:creationId xmlns:a16="http://schemas.microsoft.com/office/drawing/2014/main" id="{3027E410-C02A-438D-B5D0-84DBBBC46DC4}"/>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65842C29-B4DC-4E2C-903D-AA66AD84347F}"/>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8E09B66-C243-4BB5-8416-C42E94DB7D12}"/>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B036ACA5-AB42-41AC-BDE0-4FED4524515C}"/>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30</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3b71bdbd3e24a01"/>
          <a:stretch xmlns:a="http://schemas.openxmlformats.org/drawingml/2006/main"/>
        </p:blipFill>
        <p:spPr>
          <a:xfrm xmlns:a="http://schemas.openxmlformats.org/drawingml/2006/main">
            <a:off x="767346" y="1143000"/>
            <a:ext cx="10657308" cy="4743450"/>
          </a:xfrm>
          <a:prstGeom xmlns:a="http://schemas.openxmlformats.org/drawingml/2006/main" prst="rect">
            <a:avLst/>
          </a:prstGeom>
        </p:spPr>
      </p:pic>
    </p:spTree>
    <p:extLst>
      <p:ext uri="{BB962C8B-B14F-4D97-AF65-F5344CB8AC3E}">
        <p14:creationId xmlns:p14="http://schemas.microsoft.com/office/powerpoint/2010/main" val="143050744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6AB1A17A-C4FE-40DE-A68B-E2380F4599B3}"/>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Constant versus cosine learning rate</a:t>
            </a:r>
          </a:p>
        </p:txBody>
      </p:sp>
      <p:sp>
        <p:nvSpPr>
          <p:cNvPr id="2" name="">
            <a:extLst xmlns:a="http://schemas.openxmlformats.org/drawingml/2006/main">
              <a:ext uri="{FF2B5EF4-FFF2-40B4-BE49-F238E27FC236}">
                <a16:creationId xmlns:a16="http://schemas.microsoft.com/office/drawing/2014/main" id="{0695D92E-46DA-426B-A9C2-A02C4DB40914}"/>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452B9644-EE41-45A3-804A-C7BBCD30C359}"/>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FCDDD99-807F-4A35-A690-A5CE43FA2FEE}"/>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C7F0DFEA-60BA-4076-976C-93D650787B84}"/>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31</a:t>
            </a:r>
          </a:p>
        </p:txBody>
      </p:sp>
      <p:sp>
        <p:nvSpPr>
          <p:cNvPr id="6" name="">
            <a:extLst xmlns:a="http://schemas.openxmlformats.org/drawingml/2006/main">
              <a:ext uri="{FF2B5EF4-FFF2-40B4-BE49-F238E27FC236}">
                <a16:creationId xmlns:a16="http://schemas.microsoft.com/office/drawing/2014/main" id="{CD4A3BDE-B614-4D4B-9AAB-ECB183A5C9D0}"/>
              </a:ext>
            </a:extLst>
          </p:cNvPr>
          <p:cNvSpPr>
            <a:spLocks xmlns:a="http://schemas.openxmlformats.org/drawingml/2006/main" noGrp="1"/>
          </p:cNvSpPr>
          <p:nvPr/>
        </p:nvSpPr>
        <p:spPr>
          <a:xfrm xmlns:a="http://schemas.openxmlformats.org/drawingml/2006/main">
            <a:off x="685800" y="1485900"/>
            <a:ext cx="5105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COMPATIBLE CONTROLS</a:t>
            </a:r>
          </a:p>
        </p:txBody>
      </p:sp>
      <p:sp>
        <p:nvSpPr>
          <p:cNvPr id="7" name="">
            <a:extLst xmlns:a="http://schemas.openxmlformats.org/drawingml/2006/main">
              <a:ext uri="{FF2B5EF4-FFF2-40B4-BE49-F238E27FC236}">
                <a16:creationId xmlns:a16="http://schemas.microsoft.com/office/drawing/2014/main" id="{5B8E708E-53A7-4C70-8ACE-5E9839F8ADD1}"/>
              </a:ext>
            </a:extLst>
          </p:cNvPr>
          <p:cNvSpPr>
            <a:spLocks xmlns:a="http://schemas.openxmlformats.org/drawingml/2006/main" noGrp="1"/>
          </p:cNvSpPr>
          <p:nvPr/>
        </p:nvSpPr>
        <p:spPr>
          <a:xfrm xmlns:a="http://schemas.openxmlformats.org/drawingml/2006/main">
            <a:off x="685800" y="1752600"/>
            <a:ext cx="510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i="0">
                <a:solidFill>
                  <a:srgbClr val="282828"/>
                </a:solidFill>
                <a:latin typeface="Arial"/>
                <a:ea typeface="Arial"/>
                <a:cs typeface="Arial"/>
              </a:defRPr>
            </a:pPr>
            <a:r>
              <a:rPr sz="1950" b="1" i="0">
                <a:solidFill>
                  <a:srgbClr val="282828"/>
                </a:solidFill>
                <a:latin typeface="Arial"/>
                <a:ea typeface="Arial"/>
                <a:cs typeface="Arial"/>
              </a:rPr>
              <a:t>Constant LR + late β decay</a:t>
            </a:r>
          </a:p>
        </p:txBody>
      </p:sp>
      <p:sp>
        <p:nvSpPr>
          <p:cNvPr id="8" name="">
            <a:extLst xmlns:a="http://schemas.openxmlformats.org/drawingml/2006/main">
              <a:ext uri="{FF2B5EF4-FFF2-40B4-BE49-F238E27FC236}">
                <a16:creationId xmlns:a16="http://schemas.microsoft.com/office/drawing/2014/main" id="{1EF13011-64A5-4ED9-8385-913FBC8DE58D}"/>
              </a:ext>
            </a:extLst>
          </p:cNvPr>
          <p:cNvSpPr>
            <a:spLocks xmlns:a="http://schemas.openxmlformats.org/drawingml/2006/main" noGrp="1"/>
          </p:cNvSpPr>
          <p:nvPr/>
        </p:nvSpPr>
        <p:spPr>
          <a:xfrm xmlns:a="http://schemas.openxmlformats.org/drawingml/2006/main">
            <a:off x="685800" y="2200275"/>
            <a:ext cx="5105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9" name="">
            <a:extLst xmlns:a="http://schemas.openxmlformats.org/drawingml/2006/main">
              <a:ext uri="{FF2B5EF4-FFF2-40B4-BE49-F238E27FC236}">
                <a16:creationId xmlns:a16="http://schemas.microsoft.com/office/drawing/2014/main" id="{250C56C5-7E8D-4B63-B827-39FA33650760}"/>
              </a:ext>
            </a:extLst>
          </p:cNvPr>
          <p:cNvSpPr>
            <a:spLocks xmlns:a="http://schemas.openxmlformats.org/drawingml/2006/main" noGrp="1"/>
          </p:cNvSpPr>
          <p:nvPr/>
        </p:nvSpPr>
        <p:spPr>
          <a:xfrm xmlns:a="http://schemas.openxmlformats.org/drawingml/2006/main">
            <a:off x="685800" y="2343150"/>
            <a:ext cx="51054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333333"/>
                </a:solidFill>
                <a:latin typeface="Arial"/>
                <a:ea typeface="Arial"/>
                <a:cs typeface="Arial"/>
              </a:defRPr>
            </a:pPr>
            <a:r>
              <a:rPr sz="1350" b="0" i="0">
                <a:solidFill>
                  <a:srgbClr val="333333"/>
                </a:solidFill>
                <a:latin typeface="Arial"/>
                <a:ea typeface="Arial"/>
                <a:cs typeface="Arial"/>
              </a:rPr>
              <a:t>1. β decay shortens directional memory</a:t>
            </a:r>
          </a:p>
          <a:p xmlns:a="http://schemas.openxmlformats.org/drawingml/2006/main">
            <a:pPr algn="l">
              <a:lnSpc>
                <a:spcPct val="108000"/>
              </a:lnSpc>
              <a:buNone/>
              <a:defRPr sz="1350" b="0" i="0">
                <a:solidFill>
                  <a:srgbClr val="333333"/>
                </a:solidFill>
                <a:latin typeface="Arial"/>
                <a:ea typeface="Arial"/>
                <a:cs typeface="Arial"/>
              </a:defRPr>
            </a:pPr>
            <a:r>
              <a:rPr sz="1350" b="0" i="0">
                <a:solidFill>
                  <a:srgbClr val="333333"/>
                </a:solidFill>
                <a:latin typeface="Arial"/>
                <a:ea typeface="Arial"/>
                <a:cs typeface="Arial"/>
              </a:rPr>
              <a:t>2. recent gradients rotate the estimate</a:t>
            </a:r>
          </a:p>
          <a:p xmlns:a="http://schemas.openxmlformats.org/drawingml/2006/main">
            <a:pPr algn="l">
              <a:lnSpc>
                <a:spcPct val="108000"/>
              </a:lnSpc>
              <a:buNone/>
              <a:defRPr sz="1350" b="0" i="0">
                <a:solidFill>
                  <a:srgbClr val="333333"/>
                </a:solidFill>
                <a:latin typeface="Arial"/>
                <a:ea typeface="Arial"/>
                <a:cs typeface="Arial"/>
              </a:defRPr>
            </a:pPr>
            <a:r>
              <a:rPr sz="1350" b="0" i="0">
                <a:solidFill>
                  <a:srgbClr val="333333"/>
                </a:solidFill>
                <a:latin typeface="Arial"/>
                <a:ea typeface="Arial"/>
                <a:cs typeface="Arial"/>
              </a:rPr>
              <a:t>3. Muon preserves the changed orientation</a:t>
            </a:r>
          </a:p>
          <a:p xmlns:a="http://schemas.openxmlformats.org/drawingml/2006/main">
            <a:pPr algn="l">
              <a:lnSpc>
                <a:spcPct val="108000"/>
              </a:lnSpc>
              <a:buNone/>
              <a:defRPr sz="1350" b="0" i="0">
                <a:solidFill>
                  <a:srgbClr val="333333"/>
                </a:solidFill>
                <a:latin typeface="Arial"/>
                <a:ea typeface="Arial"/>
                <a:cs typeface="Arial"/>
              </a:defRPr>
            </a:pPr>
            <a:r>
              <a:rPr sz="1350" b="0" i="0">
                <a:solidFill>
                  <a:srgbClr val="333333"/>
                </a:solidFill>
                <a:latin typeface="Arial"/>
                <a:ea typeface="Arial"/>
                <a:cs typeface="Arial"/>
              </a:rPr>
              <a:t>4. constant η leaves substantial path length</a:t>
            </a:r>
          </a:p>
          <a:p xmlns:a="http://schemas.openxmlformats.org/drawingml/2006/main">
            <a:pPr algn="l">
              <a:lnSpc>
                <a:spcPct val="108000"/>
              </a:lnSpc>
              <a:buNone/>
              <a:defRPr sz="1350" b="0" i="0">
                <a:solidFill>
                  <a:srgbClr val="333333"/>
                </a:solidFill>
                <a:latin typeface="Arial"/>
                <a:ea typeface="Arial"/>
                <a:cs typeface="Arial"/>
              </a:defRPr>
            </a:pPr>
            <a:r>
              <a:rPr sz="1350" b="0" i="0">
                <a:solidFill>
                  <a:srgbClr val="333333"/>
                </a:solidFill>
                <a:latin typeface="Arial"/>
                <a:ea typeface="Arial"/>
                <a:cs typeface="Arial"/>
              </a:rPr>
              <a:t>5. the model can act on the refreshed direction</a:t>
            </a:r>
          </a:p>
        </p:txBody>
      </p:sp>
      <p:sp>
        <p:nvSpPr>
          <p:cNvPr id="10" name="">
            <a:extLst xmlns:a="http://schemas.openxmlformats.org/drawingml/2006/main">
              <a:ext uri="{FF2B5EF4-FFF2-40B4-BE49-F238E27FC236}">
                <a16:creationId xmlns:a16="http://schemas.microsoft.com/office/drawing/2014/main" id="{EBB20B65-2D3A-452F-BAA7-2034113F656D}"/>
              </a:ext>
            </a:extLst>
          </p:cNvPr>
          <p:cNvSpPr>
            <a:spLocks xmlns:a="http://schemas.openxmlformats.org/drawingml/2006/main" noGrp="1"/>
          </p:cNvSpPr>
          <p:nvPr/>
        </p:nvSpPr>
        <p:spPr>
          <a:xfrm xmlns:a="http://schemas.openxmlformats.org/drawingml/2006/main">
            <a:off x="6400800" y="1485900"/>
            <a:ext cx="5105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TIMESCALE MISMATCH</a:t>
            </a:r>
          </a:p>
        </p:txBody>
      </p:sp>
      <p:sp>
        <p:nvSpPr>
          <p:cNvPr id="11" name="">
            <a:extLst xmlns:a="http://schemas.openxmlformats.org/drawingml/2006/main">
              <a:ext uri="{FF2B5EF4-FFF2-40B4-BE49-F238E27FC236}">
                <a16:creationId xmlns:a16="http://schemas.microsoft.com/office/drawing/2014/main" id="{03370BE8-6967-47F0-9F53-4F9563A41813}"/>
              </a:ext>
            </a:extLst>
          </p:cNvPr>
          <p:cNvSpPr>
            <a:spLocks xmlns:a="http://schemas.openxmlformats.org/drawingml/2006/main" noGrp="1"/>
          </p:cNvSpPr>
          <p:nvPr/>
        </p:nvSpPr>
        <p:spPr>
          <a:xfrm xmlns:a="http://schemas.openxmlformats.org/drawingml/2006/main">
            <a:off x="6400800" y="1752600"/>
            <a:ext cx="510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i="0">
                <a:solidFill>
                  <a:srgbClr val="282828"/>
                </a:solidFill>
                <a:latin typeface="Arial"/>
                <a:ea typeface="Arial"/>
                <a:cs typeface="Arial"/>
              </a:defRPr>
            </a:pPr>
            <a:r>
              <a:rPr sz="1950" b="1" i="0">
                <a:solidFill>
                  <a:srgbClr val="282828"/>
                </a:solidFill>
                <a:latin typeface="Arial"/>
                <a:ea typeface="Arial"/>
                <a:cs typeface="Arial"/>
              </a:rPr>
              <a:t>Cosine LR + late β decay</a:t>
            </a:r>
          </a:p>
        </p:txBody>
      </p:sp>
      <p:sp>
        <p:nvSpPr>
          <p:cNvPr id="12" name="">
            <a:extLst xmlns:a="http://schemas.openxmlformats.org/drawingml/2006/main">
              <a:ext uri="{FF2B5EF4-FFF2-40B4-BE49-F238E27FC236}">
                <a16:creationId xmlns:a16="http://schemas.microsoft.com/office/drawing/2014/main" id="{4894F305-FF92-4090-ACF7-758756400D11}"/>
              </a:ext>
            </a:extLst>
          </p:cNvPr>
          <p:cNvSpPr>
            <a:spLocks xmlns:a="http://schemas.openxmlformats.org/drawingml/2006/main" noGrp="1"/>
          </p:cNvSpPr>
          <p:nvPr/>
        </p:nvSpPr>
        <p:spPr>
          <a:xfrm xmlns:a="http://schemas.openxmlformats.org/drawingml/2006/main">
            <a:off x="6400800" y="2200275"/>
            <a:ext cx="5105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3" name="">
            <a:extLst xmlns:a="http://schemas.openxmlformats.org/drawingml/2006/main">
              <a:ext uri="{FF2B5EF4-FFF2-40B4-BE49-F238E27FC236}">
                <a16:creationId xmlns:a16="http://schemas.microsoft.com/office/drawing/2014/main" id="{66C828A5-DD04-4A32-8B39-6A5442CE3DC8}"/>
              </a:ext>
            </a:extLst>
          </p:cNvPr>
          <p:cNvSpPr>
            <a:spLocks xmlns:a="http://schemas.openxmlformats.org/drawingml/2006/main" noGrp="1"/>
          </p:cNvSpPr>
          <p:nvPr/>
        </p:nvSpPr>
        <p:spPr>
          <a:xfrm xmlns:a="http://schemas.openxmlformats.org/drawingml/2006/main">
            <a:off x="6400800" y="2343150"/>
            <a:ext cx="51054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1. β decay still changes orientation</a:t>
            </a:r>
          </a:p>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2. however, ηₜ is already small</a:t>
            </a:r>
          </a:p>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3. the remaining cumulative displacement is limited</a:t>
            </a:r>
          </a:p>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4. the smaller outer learning rate may limit the effect of changing direction</a:t>
            </a:r>
          </a:p>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5. any directional gain may not reach a new region</a:t>
            </a:r>
          </a:p>
        </p:txBody>
      </p:sp>
      <p:sp>
        <p:nvSpPr>
          <p:cNvPr id="14" name="">
            <a:extLst xmlns:a="http://schemas.openxmlformats.org/drawingml/2006/main">
              <a:ext uri="{FF2B5EF4-FFF2-40B4-BE49-F238E27FC236}">
                <a16:creationId xmlns:a16="http://schemas.microsoft.com/office/drawing/2014/main" id="{996948BC-3F6C-43DD-9269-5A0A926FAF7F}"/>
              </a:ext>
            </a:extLst>
          </p:cNvPr>
          <p:cNvSpPr>
            <a:spLocks xmlns:a="http://schemas.openxmlformats.org/drawingml/2006/main" noGrp="1"/>
          </p:cNvSpPr>
          <p:nvPr/>
        </p:nvSpPr>
        <p:spPr>
          <a:xfrm xmlns:a="http://schemas.openxmlformats.org/drawingml/2006/main">
            <a:off x="876300" y="5715000"/>
            <a:ext cx="1043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i="0">
                <a:solidFill>
                  <a:srgbClr val="555555"/>
                </a:solidFill>
                <a:latin typeface="Arial"/>
                <a:ea typeface="Arial"/>
                <a:cs typeface="Arial"/>
              </a:defRPr>
            </a:pPr>
            <a:r>
              <a:rPr sz="1125" b="1" i="0">
                <a:solidFill>
                  <a:srgbClr val="555555"/>
                </a:solidFill>
                <a:latin typeface="Arial"/>
                <a:ea typeface="Arial"/>
                <a:cs typeface="Arial"/>
              </a:rPr>
              <a:t>Mechanistic hypothesis, not a causal proof: the observed interaction is consistent with path-length × orientation coupling.</a:t>
            </a:r>
          </a:p>
        </p:txBody>
      </p:sp>
    </p:spTree>
    <p:extLst>
      <p:ext uri="{BB962C8B-B14F-4D97-AF65-F5344CB8AC3E}">
        <p14:creationId xmlns:p14="http://schemas.microsoft.com/office/powerpoint/2010/main" val="12466935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lide-title">
            <a:extLst xmlns:a="http://schemas.openxmlformats.org/drawingml/2006/main">
              <a:ext uri="{FF2B5EF4-FFF2-40B4-BE49-F238E27FC236}">
                <a16:creationId xmlns:a16="http://schemas.microsoft.com/office/drawing/2014/main" id="{64F77CA1-4AC9-4B87-A151-E8BE2467A9A7}"/>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Prior μ²-SGD results without Muon</a:t>
            </a:r>
          </a:p>
        </p:txBody>
      </p:sp>
      <p:sp>
        <p:nvSpPr>
          <p:cNvPr id="2" name="">
            <a:extLst xmlns:a="http://schemas.openxmlformats.org/drawingml/2006/main">
              <a:ext uri="{FF2B5EF4-FFF2-40B4-BE49-F238E27FC236}">
                <a16:creationId xmlns:a16="http://schemas.microsoft.com/office/drawing/2014/main" id="{6864BBA8-3D49-4973-A851-EF4A613E846E}"/>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BA2D3261-F3EB-46AD-B91E-C725825CE9F7}"/>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BA22D01-4FDF-4A90-B8D8-EBC04F6A98CF}"/>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5E22DE12-CA77-4E9F-859B-72F9D32FE745}"/>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32</a:t>
            </a:r>
          </a:p>
        </p:txBody>
      </p:sp>
      <p:sp>
        <p:nvSpPr>
          <p:cNvPr id="6" name="">
            <a:extLst xmlns:a="http://schemas.openxmlformats.org/drawingml/2006/main">
              <a:ext uri="{FF2B5EF4-FFF2-40B4-BE49-F238E27FC236}">
                <a16:creationId xmlns:a16="http://schemas.microsoft.com/office/drawing/2014/main" id="{A44C836B-11EF-47F6-AF1B-F26F04BFA4E4}"/>
              </a:ext>
            </a:extLst>
          </p:cNvPr>
          <p:cNvSpPr>
            <a:spLocks xmlns:a="http://schemas.openxmlformats.org/drawingml/2006/main" noGrp="1"/>
          </p:cNvSpPr>
          <p:nvPr/>
        </p:nvSpPr>
        <p:spPr>
          <a:xfrm xmlns:a="http://schemas.openxmlformats.org/drawingml/2006/main">
            <a:off x="914400" y="1447800"/>
            <a:ext cx="10363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0" i="0">
                <a:solidFill>
                  <a:srgbClr val="282828"/>
                </a:solidFill>
                <a:latin typeface="Arial"/>
                <a:ea typeface="Arial"/>
                <a:cs typeface="Arial"/>
              </a:defRPr>
            </a:pPr>
            <a:r>
              <a:rPr sz="1875" b="0" i="0">
                <a:solidFill>
                  <a:srgbClr val="282828"/>
                </a:solidFill>
                <a:latin typeface="Arial"/>
                <a:ea typeface="Arial"/>
                <a:cs typeface="Arial"/>
              </a:rPr>
              <a:t>xₜ₊₁ = [α₁:ₜ / α₁:ₜ₊₁]xₜ + [αₜ₊₁ / α₁:ₜ₊₁]wₜ₊₁</a:t>
            </a:r>
          </a:p>
        </p:txBody>
      </p:sp>
      <p:sp>
        <p:nvSpPr>
          <p:cNvPr id="7" name="">
            <a:extLst xmlns:a="http://schemas.openxmlformats.org/drawingml/2006/main">
              <a:ext uri="{FF2B5EF4-FFF2-40B4-BE49-F238E27FC236}">
                <a16:creationId xmlns:a16="http://schemas.microsoft.com/office/drawing/2014/main" id="{73E38D84-257A-41BC-81A8-ECD4922F42D2}"/>
              </a:ext>
            </a:extLst>
          </p:cNvPr>
          <p:cNvSpPr>
            <a:spLocks xmlns:a="http://schemas.openxmlformats.org/drawingml/2006/main" noGrp="1"/>
          </p:cNvSpPr>
          <p:nvPr/>
        </p:nvSpPr>
        <p:spPr>
          <a:xfrm xmlns:a="http://schemas.openxmlformats.org/drawingml/2006/main">
            <a:off x="914400" y="2076450"/>
            <a:ext cx="10363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00" b="0" i="0">
                <a:solidFill>
                  <a:srgbClr val="282828"/>
                </a:solidFill>
                <a:latin typeface="Arial"/>
                <a:ea typeface="Arial"/>
                <a:cs typeface="Arial"/>
              </a:defRPr>
            </a:pPr>
            <a:r>
              <a:rPr sz="2100" b="0" i="0">
                <a:solidFill>
                  <a:srgbClr val="282828"/>
                </a:solidFill>
                <a:latin typeface="Arial"/>
                <a:ea typeface="Arial"/>
                <a:cs typeface="Arial"/>
              </a:rPr>
              <a:t>dₜ₊₁ = gₜ₊₁ + (1−βₜ₊₁)(dₜ − g̃ₜ)</a:t>
            </a:r>
          </a:p>
        </p:txBody>
      </p:sp>
      <p:sp>
        <p:nvSpPr>
          <p:cNvPr id="8" name="">
            <a:extLst xmlns:a="http://schemas.openxmlformats.org/drawingml/2006/main">
              <a:ext uri="{FF2B5EF4-FFF2-40B4-BE49-F238E27FC236}">
                <a16:creationId xmlns:a16="http://schemas.microsoft.com/office/drawing/2014/main" id="{3DF9F7EF-FFA6-4222-97B5-6F93AD3987A5}"/>
              </a:ext>
            </a:extLst>
          </p:cNvPr>
          <p:cNvSpPr>
            <a:spLocks xmlns:a="http://schemas.openxmlformats.org/drawingml/2006/main" noGrp="1"/>
          </p:cNvSpPr>
          <p:nvPr/>
        </p:nvSpPr>
        <p:spPr>
          <a:xfrm xmlns:a="http://schemas.openxmlformats.org/drawingml/2006/main">
            <a:off x="914400" y="2647950"/>
            <a:ext cx="10363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0" i="0">
                <a:solidFill>
                  <a:srgbClr val="282828"/>
                </a:solidFill>
                <a:latin typeface="Arial"/>
                <a:ea typeface="Arial"/>
                <a:cs typeface="Arial"/>
              </a:defRPr>
            </a:pPr>
            <a:r>
              <a:rPr sz="1725" b="0" i="0">
                <a:solidFill>
                  <a:srgbClr val="282828"/>
                </a:solidFill>
                <a:latin typeface="Arial"/>
                <a:ea typeface="Arial"/>
                <a:cs typeface="Arial"/>
              </a:rPr>
              <a:t>gₜ₊₁ = ∇f(xₜ₊₁; zₜ₊₁),     g̃ₜ = ∇f(xₜ; zₜ₊₁)</a:t>
            </a:r>
          </a:p>
        </p:txBody>
      </p:sp>
      <p:sp>
        <p:nvSpPr>
          <p:cNvPr id="9" name="">
            <a:extLst xmlns:a="http://schemas.openxmlformats.org/drawingml/2006/main">
              <a:ext uri="{FF2B5EF4-FFF2-40B4-BE49-F238E27FC236}">
                <a16:creationId xmlns:a16="http://schemas.microsoft.com/office/drawing/2014/main" id="{174C276C-9706-4457-8ED0-13302FECD7B6}"/>
              </a:ext>
            </a:extLst>
          </p:cNvPr>
          <p:cNvSpPr>
            <a:spLocks xmlns:a="http://schemas.openxmlformats.org/drawingml/2006/main" noGrp="1"/>
          </p:cNvSpPr>
          <p:nvPr/>
        </p:nvSpPr>
        <p:spPr>
          <a:xfrm xmlns:a="http://schemas.openxmlformats.org/drawingml/2006/main">
            <a:off x="952500" y="3333750"/>
            <a:ext cx="102870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0" name="">
            <a:extLst xmlns:a="http://schemas.openxmlformats.org/drawingml/2006/main">
              <a:ext uri="{FF2B5EF4-FFF2-40B4-BE49-F238E27FC236}">
                <a16:creationId xmlns:a16="http://schemas.microsoft.com/office/drawing/2014/main" id="{9AB0067F-7EB2-4F48-B49C-C8031A5ACAC0}"/>
              </a:ext>
            </a:extLst>
          </p:cNvPr>
          <p:cNvSpPr>
            <a:spLocks xmlns:a="http://schemas.openxmlformats.org/drawingml/2006/main" noGrp="1"/>
          </p:cNvSpPr>
          <p:nvPr/>
        </p:nvSpPr>
        <p:spPr>
          <a:xfrm xmlns:a="http://schemas.openxmlformats.org/drawingml/2006/main">
            <a:off x="685800" y="363855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Μ²-SGD</a:t>
            </a:r>
          </a:p>
        </p:txBody>
      </p:sp>
      <p:sp>
        <p:nvSpPr>
          <p:cNvPr id="11" name="">
            <a:extLst xmlns:a="http://schemas.openxmlformats.org/drawingml/2006/main">
              <a:ext uri="{FF2B5EF4-FFF2-40B4-BE49-F238E27FC236}">
                <a16:creationId xmlns:a16="http://schemas.microsoft.com/office/drawing/2014/main" id="{B433A8EB-A76B-445C-BD8E-0CD733886395}"/>
              </a:ext>
            </a:extLst>
          </p:cNvPr>
          <p:cNvSpPr>
            <a:spLocks xmlns:a="http://schemas.openxmlformats.org/drawingml/2006/main" noGrp="1"/>
          </p:cNvSpPr>
          <p:nvPr/>
        </p:nvSpPr>
        <p:spPr>
          <a:xfrm xmlns:a="http://schemas.openxmlformats.org/drawingml/2006/main">
            <a:off x="685800" y="390525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Published method</a:t>
            </a:r>
          </a:p>
        </p:txBody>
      </p:sp>
      <p:sp>
        <p:nvSpPr>
          <p:cNvPr id="12" name="">
            <a:extLst xmlns:a="http://schemas.openxmlformats.org/drawingml/2006/main">
              <a:ext uri="{FF2B5EF4-FFF2-40B4-BE49-F238E27FC236}">
                <a16:creationId xmlns:a16="http://schemas.microsoft.com/office/drawing/2014/main" id="{709F43DE-61D2-456F-980F-7AC20E7BB6DA}"/>
              </a:ext>
            </a:extLst>
          </p:cNvPr>
          <p:cNvSpPr>
            <a:spLocks xmlns:a="http://schemas.openxmlformats.org/drawingml/2006/main" noGrp="1"/>
          </p:cNvSpPr>
          <p:nvPr/>
        </p:nvSpPr>
        <p:spPr>
          <a:xfrm xmlns:a="http://schemas.openxmlformats.org/drawingml/2006/main">
            <a:off x="685800" y="435292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3" name="">
            <a:extLst xmlns:a="http://schemas.openxmlformats.org/drawingml/2006/main">
              <a:ext uri="{FF2B5EF4-FFF2-40B4-BE49-F238E27FC236}">
                <a16:creationId xmlns:a16="http://schemas.microsoft.com/office/drawing/2014/main" id="{11B29323-DAA0-4BF5-9665-E41A4040F1CB}"/>
              </a:ext>
            </a:extLst>
          </p:cNvPr>
          <p:cNvSpPr>
            <a:spLocks xmlns:a="http://schemas.openxmlformats.org/drawingml/2006/main" noGrp="1"/>
          </p:cNvSpPr>
          <p:nvPr/>
        </p:nvSpPr>
        <p:spPr>
          <a:xfrm xmlns:a="http://schemas.openxmlformats.org/drawingml/2006/main">
            <a:off x="685800" y="4495800"/>
            <a:ext cx="335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Same-sample gradient correction plus an Anytime query average. The proof uses the complete construction.</a:t>
            </a:r>
          </a:p>
        </p:txBody>
      </p:sp>
      <p:sp>
        <p:nvSpPr>
          <p:cNvPr id="14" name="">
            <a:extLst xmlns:a="http://schemas.openxmlformats.org/drawingml/2006/main">
              <a:ext uri="{FF2B5EF4-FFF2-40B4-BE49-F238E27FC236}">
                <a16:creationId xmlns:a16="http://schemas.microsoft.com/office/drawing/2014/main" id="{DCCDDB51-32AB-414B-B0E1-59DBC7FFDBE4}"/>
              </a:ext>
            </a:extLst>
          </p:cNvPr>
          <p:cNvSpPr>
            <a:spLocks xmlns:a="http://schemas.openxmlformats.org/drawingml/2006/main" noGrp="1"/>
          </p:cNvSpPr>
          <p:nvPr/>
        </p:nvSpPr>
        <p:spPr>
          <a:xfrm xmlns:a="http://schemas.openxmlformats.org/drawingml/2006/main">
            <a:off x="4419600" y="363855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WITHOUT MUON</a:t>
            </a:r>
          </a:p>
        </p:txBody>
      </p:sp>
      <p:sp>
        <p:nvSpPr>
          <p:cNvPr id="15" name="">
            <a:extLst xmlns:a="http://schemas.openxmlformats.org/drawingml/2006/main">
              <a:ext uri="{FF2B5EF4-FFF2-40B4-BE49-F238E27FC236}">
                <a16:creationId xmlns:a16="http://schemas.microsoft.com/office/drawing/2014/main" id="{87821F99-B1AC-4C36-8464-CB6BEC379650}"/>
              </a:ext>
            </a:extLst>
          </p:cNvPr>
          <p:cNvSpPr>
            <a:spLocks xmlns:a="http://schemas.openxmlformats.org/drawingml/2006/main" noGrp="1"/>
          </p:cNvSpPr>
          <p:nvPr/>
        </p:nvSpPr>
        <p:spPr>
          <a:xfrm xmlns:a="http://schemas.openxmlformats.org/drawingml/2006/main">
            <a:off x="4419600" y="390525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Published evidence</a:t>
            </a:r>
          </a:p>
        </p:txBody>
      </p:sp>
      <p:sp>
        <p:nvSpPr>
          <p:cNvPr id="16" name="">
            <a:extLst xmlns:a="http://schemas.openxmlformats.org/drawingml/2006/main">
              <a:ext uri="{FF2B5EF4-FFF2-40B4-BE49-F238E27FC236}">
                <a16:creationId xmlns:a16="http://schemas.microsoft.com/office/drawing/2014/main" id="{6F2DFF1B-D38F-4D84-8D2B-116D92FF38D7}"/>
              </a:ext>
            </a:extLst>
          </p:cNvPr>
          <p:cNvSpPr>
            <a:spLocks xmlns:a="http://schemas.openxmlformats.org/drawingml/2006/main" noGrp="1"/>
          </p:cNvSpPr>
          <p:nvPr/>
        </p:nvSpPr>
        <p:spPr>
          <a:xfrm xmlns:a="http://schemas.openxmlformats.org/drawingml/2006/main">
            <a:off x="4419600" y="435292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7" name="">
            <a:extLst xmlns:a="http://schemas.openxmlformats.org/drawingml/2006/main">
              <a:ext uri="{FF2B5EF4-FFF2-40B4-BE49-F238E27FC236}">
                <a16:creationId xmlns:a16="http://schemas.microsoft.com/office/drawing/2014/main" id="{354C2AEF-B0D5-4036-8512-F37B5AD4FBB8}"/>
              </a:ext>
            </a:extLst>
          </p:cNvPr>
          <p:cNvSpPr>
            <a:spLocks xmlns:a="http://schemas.openxmlformats.org/drawingml/2006/main" noGrp="1"/>
          </p:cNvSpPr>
          <p:nvPr/>
        </p:nvSpPr>
        <p:spPr>
          <a:xfrm xmlns:a="http://schemas.openxmlformats.org/drawingml/2006/main">
            <a:off x="4419600" y="4495800"/>
            <a:ext cx="335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ResNet-18 / CIFAR-10 and a small CNN / MNIST, three seeds, fixed γ=.10 and β=.90; improved learning-rate robustness was reported.</a:t>
            </a:r>
          </a:p>
        </p:txBody>
      </p:sp>
      <p:sp>
        <p:nvSpPr>
          <p:cNvPr id="18" name="">
            <a:extLst xmlns:a="http://schemas.openxmlformats.org/drawingml/2006/main">
              <a:ext uri="{FF2B5EF4-FFF2-40B4-BE49-F238E27FC236}">
                <a16:creationId xmlns:a16="http://schemas.microsoft.com/office/drawing/2014/main" id="{76903528-0116-4A7E-BFD1-AD98C5B8F16D}"/>
              </a:ext>
            </a:extLst>
          </p:cNvPr>
          <p:cNvSpPr>
            <a:spLocks xmlns:a="http://schemas.openxmlformats.org/drawingml/2006/main" noGrp="1"/>
          </p:cNvSpPr>
          <p:nvPr/>
        </p:nvSpPr>
        <p:spPr>
          <a:xfrm xmlns:a="http://schemas.openxmlformats.org/drawingml/2006/main">
            <a:off x="8153400" y="363855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CONTROLLED TRANSFER</a:t>
            </a:r>
          </a:p>
        </p:txBody>
      </p:sp>
      <p:sp>
        <p:nvSpPr>
          <p:cNvPr id="19" name="">
            <a:extLst xmlns:a="http://schemas.openxmlformats.org/drawingml/2006/main">
              <a:ext uri="{FF2B5EF4-FFF2-40B4-BE49-F238E27FC236}">
                <a16:creationId xmlns:a16="http://schemas.microsoft.com/office/drawing/2014/main" id="{7BD543E4-5F63-4398-B514-A8D6E5C38DE7}"/>
              </a:ext>
            </a:extLst>
          </p:cNvPr>
          <p:cNvSpPr>
            <a:spLocks xmlns:a="http://schemas.openxmlformats.org/drawingml/2006/main" noGrp="1"/>
          </p:cNvSpPr>
          <p:nvPr/>
        </p:nvSpPr>
        <p:spPr>
          <a:xfrm xmlns:a="http://schemas.openxmlformats.org/drawingml/2006/main">
            <a:off x="8153400" y="390525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Our question</a:t>
            </a:r>
          </a:p>
        </p:txBody>
      </p:sp>
      <p:sp>
        <p:nvSpPr>
          <p:cNvPr id="20" name="">
            <a:extLst xmlns:a="http://schemas.openxmlformats.org/drawingml/2006/main">
              <a:ext uri="{FF2B5EF4-FFF2-40B4-BE49-F238E27FC236}">
                <a16:creationId xmlns:a16="http://schemas.microsoft.com/office/drawing/2014/main" id="{E769ADF3-C875-4396-AC59-56A1BA63F74A}"/>
              </a:ext>
            </a:extLst>
          </p:cNvPr>
          <p:cNvSpPr>
            <a:spLocks xmlns:a="http://schemas.openxmlformats.org/drawingml/2006/main" noGrp="1"/>
          </p:cNvSpPr>
          <p:nvPr/>
        </p:nvSpPr>
        <p:spPr>
          <a:xfrm xmlns:a="http://schemas.openxmlformats.org/drawingml/2006/main">
            <a:off x="8153400" y="435292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21" name="">
            <a:extLst xmlns:a="http://schemas.openxmlformats.org/drawingml/2006/main">
              <a:ext uri="{FF2B5EF4-FFF2-40B4-BE49-F238E27FC236}">
                <a16:creationId xmlns:a16="http://schemas.microsoft.com/office/drawing/2014/main" id="{EE88C13A-84E8-447C-A4CA-9A6587E6401F}"/>
              </a:ext>
            </a:extLst>
          </p:cNvPr>
          <p:cNvSpPr>
            <a:spLocks xmlns:a="http://schemas.openxmlformats.org/drawingml/2006/main" noGrp="1"/>
          </p:cNvSpPr>
          <p:nvPr/>
        </p:nvSpPr>
        <p:spPr>
          <a:xfrm xmlns:a="http://schemas.openxmlformats.org/drawingml/2006/main">
            <a:off x="8153400" y="4495800"/>
            <a:ext cx="335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Does our μ²-inspired history correction improve Muon?</a:t>
            </a:r>
          </a:p>
        </p:txBody>
      </p:sp>
      <p:sp>
        <p:nvSpPr>
          <p:cNvPr id="22" name="">
            <a:extLst xmlns:a="http://schemas.openxmlformats.org/drawingml/2006/main">
              <a:ext uri="{FF2B5EF4-FFF2-40B4-BE49-F238E27FC236}">
                <a16:creationId xmlns:a16="http://schemas.microsoft.com/office/drawing/2014/main" id="{6ACFDEAD-A71B-4843-ADD9-9318C668B591}"/>
              </a:ext>
            </a:extLst>
          </p:cNvPr>
          <p:cNvSpPr>
            <a:spLocks xmlns:a="http://schemas.openxmlformats.org/drawingml/2006/main" noGrp="1"/>
          </p:cNvSpPr>
          <p:nvPr/>
        </p:nvSpPr>
        <p:spPr>
          <a:xfrm xmlns:a="http://schemas.openxmlformats.org/drawingml/2006/main">
            <a:off x="685800" y="6286500"/>
            <a:ext cx="10668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i="0">
                <a:solidFill>
                  <a:srgbClr val="666666"/>
                </a:solidFill>
                <a:latin typeface="Arial"/>
                <a:ea typeface="Arial"/>
                <a:cs typeface="Arial"/>
              </a:defRPr>
            </a:pPr>
            <a:r>
              <a:rPr sz="750" b="0" i="0">
                <a:solidFill>
                  <a:srgbClr val="666666"/>
                </a:solidFill>
                <a:latin typeface="Arial"/>
                <a:ea typeface="Arial"/>
                <a:cs typeface="Arial"/>
              </a:rPr>
              <a:t>Dahan and Levy, Do Stochastic, Feel Noiseless, 2023/2025</a:t>
            </a:r>
          </a:p>
        </p:txBody>
      </p:sp>
      <p:sp>
        <p:nvSpPr>
          <p:cNvPr id="23" name="">
            <a:extLst xmlns:a="http://schemas.openxmlformats.org/drawingml/2006/main">
              <a:ext uri="{FF2B5EF4-FFF2-40B4-BE49-F238E27FC236}">
                <a16:creationId xmlns:a16="http://schemas.microsoft.com/office/drawing/2014/main" id="{ECAD619D-E42E-48B5-85F7-DE754EFF71A2}"/>
              </a:ext>
            </a:extLst>
          </p:cNvPr>
          <p:cNvSpPr>
            <a:spLocks xmlns:a="http://schemas.openxmlformats.org/drawingml/2006/main" noGrp="1"/>
          </p:cNvSpPr>
          <p:nvPr/>
        </p:nvSpPr>
        <p:spPr>
          <a:xfrm xmlns:a="http://schemas.openxmlformats.org/drawingml/2006/main">
            <a:off x="685800" y="5924550"/>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0" i="0">
                <a:solidFill>
                  <a:srgbClr val="333333"/>
                </a:solidFill>
                <a:latin typeface="Arial"/>
                <a:ea typeface="Arial"/>
                <a:cs typeface="Arial"/>
              </a:defRPr>
            </a:pPr>
            <a:r>
              <a:rPr sz="900" b="0" i="0">
                <a:solidFill>
                  <a:srgbClr val="333333"/>
                </a:solidFill>
                <a:latin typeface="Arial"/>
                <a:ea typeface="Arial"/>
                <a:cs typeface="Arial"/>
              </a:rPr>
              <a:t>The prior result motivates the transfer test; our plug-in is not a reproduction of the full μ²-SGD algorithm.</a:t>
            </a:r>
          </a:p>
        </p:txBody>
      </p:sp>
    </p:spTree>
    <p:extLst>
      <p:ext uri="{BB962C8B-B14F-4D97-AF65-F5344CB8AC3E}">
        <p14:creationId xmlns:p14="http://schemas.microsoft.com/office/powerpoint/2010/main" val="884251340"/>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239DDA55-741B-486B-AC9D-53ED1324DCA3}"/>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Our test: does the correction help Muon?</a:t>
            </a:r>
          </a:p>
        </p:txBody>
      </p:sp>
      <p:sp>
        <p:nvSpPr>
          <p:cNvPr id="2" name="">
            <a:extLst xmlns:a="http://schemas.openxmlformats.org/drawingml/2006/main">
              <a:ext uri="{FF2B5EF4-FFF2-40B4-BE49-F238E27FC236}">
                <a16:creationId xmlns:a16="http://schemas.microsoft.com/office/drawing/2014/main" id="{B82945F2-BCF5-4661-89E9-59A668C963A9}"/>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CF90A912-DF77-4637-B575-1F6F8AC839E8}"/>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4DF161D-7E5B-4774-A0AF-83DE901DD4E5}"/>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F014AF8B-C169-4E72-BD17-0BD29FBE96CB}"/>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33</a:t>
            </a:r>
          </a:p>
        </p:txBody>
      </p:sp>
      <p:sp>
        <p:nvSpPr>
          <p:cNvPr id="6" name="">
            <a:extLst xmlns:a="http://schemas.openxmlformats.org/drawingml/2006/main">
              <a:ext uri="{FF2B5EF4-FFF2-40B4-BE49-F238E27FC236}">
                <a16:creationId xmlns:a16="http://schemas.microsoft.com/office/drawing/2014/main" id="{31FF3637-3687-48D8-873B-C34A47DB99B8}"/>
              </a:ext>
            </a:extLst>
          </p:cNvPr>
          <p:cNvSpPr>
            <a:spLocks xmlns:a="http://schemas.openxmlformats.org/drawingml/2006/main" noGrp="1"/>
          </p:cNvSpPr>
          <p:nvPr/>
        </p:nvSpPr>
        <p:spPr>
          <a:xfrm xmlns:a="http://schemas.openxmlformats.org/drawingml/2006/main">
            <a:off x="1428750" y="1390650"/>
            <a:ext cx="9334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700" b="1" i="0">
                <a:solidFill>
                  <a:srgbClr val="555555"/>
                </a:solidFill>
                <a:latin typeface="Arial"/>
                <a:ea typeface="Arial"/>
                <a:cs typeface="Arial"/>
              </a:defRPr>
            </a:pPr>
            <a:r>
              <a:rPr sz="2700" b="1" i="0">
                <a:solidFill>
                  <a:srgbClr val="555555"/>
                </a:solidFill>
                <a:latin typeface="Arial"/>
                <a:ea typeface="Arial"/>
                <a:cs typeface="Arial"/>
              </a:rPr>
              <a:t>rₜ = gₜ + αₜ (hₜ₋₁ − gₜ₋₁)</a:t>
            </a:r>
          </a:p>
        </p:txBody>
      </p:sp>
      <p:sp>
        <p:nvSpPr>
          <p:cNvPr id="7" name="">
            <a:extLst xmlns:a="http://schemas.openxmlformats.org/drawingml/2006/main">
              <a:ext uri="{FF2B5EF4-FFF2-40B4-BE49-F238E27FC236}">
                <a16:creationId xmlns:a16="http://schemas.microsoft.com/office/drawing/2014/main" id="{E4BC7872-313D-442F-B215-57033873B823}"/>
              </a:ext>
            </a:extLst>
          </p:cNvPr>
          <p:cNvSpPr>
            <a:spLocks xmlns:a="http://schemas.openxmlformats.org/drawingml/2006/main" noGrp="1"/>
          </p:cNvSpPr>
          <p:nvPr/>
        </p:nvSpPr>
        <p:spPr>
          <a:xfrm xmlns:a="http://schemas.openxmlformats.org/drawingml/2006/main">
            <a:off x="1428750" y="2076450"/>
            <a:ext cx="933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0" i="0">
                <a:solidFill>
                  <a:srgbClr val="333333"/>
                </a:solidFill>
                <a:latin typeface="Arial"/>
                <a:ea typeface="Arial"/>
                <a:cs typeface="Arial"/>
              </a:defRPr>
            </a:pPr>
            <a:r>
              <a:rPr sz="1200" b="0" i="0">
                <a:solidFill>
                  <a:srgbClr val="333333"/>
                </a:solidFill>
                <a:latin typeface="Arial"/>
                <a:ea typeface="Arial"/>
                <a:cs typeface="Arial"/>
              </a:rPr>
              <a:t>hₜ₋₁ is the previous Nesterov-combined pre-polar signal stored in place; it is not an untouched rₜ₋₁.</a:t>
            </a:r>
          </a:p>
        </p:txBody>
      </p:sp>
      <p:sp>
        <p:nvSpPr>
          <p:cNvPr id="8" name="">
            <a:extLst xmlns:a="http://schemas.openxmlformats.org/drawingml/2006/main">
              <a:ext uri="{FF2B5EF4-FFF2-40B4-BE49-F238E27FC236}">
                <a16:creationId xmlns:a16="http://schemas.microsoft.com/office/drawing/2014/main" id="{24B41C28-BA5B-4AC6-83F5-ABDC5CE73921}"/>
              </a:ext>
            </a:extLst>
          </p:cNvPr>
          <p:cNvSpPr>
            <a:spLocks xmlns:a="http://schemas.openxmlformats.org/drawingml/2006/main" noGrp="1"/>
          </p:cNvSpPr>
          <p:nvPr/>
        </p:nvSpPr>
        <p:spPr>
          <a:xfrm xmlns:a="http://schemas.openxmlformats.org/drawingml/2006/main">
            <a:off x="685800" y="278130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ONLY ONE CHANGE</a:t>
            </a:r>
          </a:p>
        </p:txBody>
      </p:sp>
      <p:sp>
        <p:nvSpPr>
          <p:cNvPr id="9" name="">
            <a:extLst xmlns:a="http://schemas.openxmlformats.org/drawingml/2006/main">
              <a:ext uri="{FF2B5EF4-FFF2-40B4-BE49-F238E27FC236}">
                <a16:creationId xmlns:a16="http://schemas.microsoft.com/office/drawing/2014/main" id="{07E47B31-99E4-424C-9FAF-124FF48080AD}"/>
              </a:ext>
            </a:extLst>
          </p:cNvPr>
          <p:cNvSpPr>
            <a:spLocks xmlns:a="http://schemas.openxmlformats.org/drawingml/2006/main" noGrp="1"/>
          </p:cNvSpPr>
          <p:nvPr/>
        </p:nvSpPr>
        <p:spPr>
          <a:xfrm xmlns:a="http://schemas.openxmlformats.org/drawingml/2006/main">
            <a:off x="685800" y="30480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Matched control</a:t>
            </a:r>
          </a:p>
        </p:txBody>
      </p:sp>
      <p:sp>
        <p:nvSpPr>
          <p:cNvPr id="10" name="">
            <a:extLst xmlns:a="http://schemas.openxmlformats.org/drawingml/2006/main">
              <a:ext uri="{FF2B5EF4-FFF2-40B4-BE49-F238E27FC236}">
                <a16:creationId xmlns:a16="http://schemas.microsoft.com/office/drawing/2014/main" id="{352FB535-FEA4-4745-8ABF-4A5DB467A274}"/>
              </a:ext>
            </a:extLst>
          </p:cNvPr>
          <p:cNvSpPr>
            <a:spLocks xmlns:a="http://schemas.openxmlformats.org/drawingml/2006/main" noGrp="1"/>
          </p:cNvSpPr>
          <p:nvPr/>
        </p:nvSpPr>
        <p:spPr>
          <a:xfrm xmlns:a="http://schemas.openxmlformats.org/drawingml/2006/main">
            <a:off x="685800" y="349567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1" name="">
            <a:extLst xmlns:a="http://schemas.openxmlformats.org/drawingml/2006/main">
              <a:ext uri="{FF2B5EF4-FFF2-40B4-BE49-F238E27FC236}">
                <a16:creationId xmlns:a16="http://schemas.microsoft.com/office/drawing/2014/main" id="{D27781BA-D656-4D00-A596-841A43643CE7}"/>
              </a:ext>
            </a:extLst>
          </p:cNvPr>
          <p:cNvSpPr>
            <a:spLocks xmlns:a="http://schemas.openxmlformats.org/drawingml/2006/main" noGrp="1"/>
          </p:cNvSpPr>
          <p:nvPr/>
        </p:nvSpPr>
        <p:spPr>
          <a:xfrm xmlns:a="http://schemas.openxmlformats.org/drawingml/2006/main">
            <a:off x="685800" y="3638550"/>
            <a:ext cx="33528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333333"/>
                </a:solidFill>
                <a:latin typeface="Arial"/>
                <a:ea typeface="Arial"/>
                <a:cs typeface="Arial"/>
              </a:defRPr>
            </a:pPr>
            <a:r>
              <a:rPr sz="1350" b="0" i="0">
                <a:solidFill>
                  <a:srgbClr val="333333"/>
                </a:solidFill>
                <a:latin typeface="Arial"/>
                <a:ea typeface="Arial"/>
                <a:cs typeface="Arial"/>
              </a:rPr>
              <a:t>The α=0 run is ordinary Muon with the same β, learning rate, regularization, seed, and auxiliary AdamW branch.</a:t>
            </a:r>
          </a:p>
        </p:txBody>
      </p:sp>
      <p:sp>
        <p:nvSpPr>
          <p:cNvPr id="12" name="">
            <a:extLst xmlns:a="http://schemas.openxmlformats.org/drawingml/2006/main">
              <a:ext uri="{FF2B5EF4-FFF2-40B4-BE49-F238E27FC236}">
                <a16:creationId xmlns:a16="http://schemas.microsoft.com/office/drawing/2014/main" id="{17679EA0-60A6-47A0-B67A-075B11CBA252}"/>
              </a:ext>
            </a:extLst>
          </p:cNvPr>
          <p:cNvSpPr>
            <a:spLocks xmlns:a="http://schemas.openxmlformats.org/drawingml/2006/main" noGrp="1"/>
          </p:cNvSpPr>
          <p:nvPr/>
        </p:nvSpPr>
        <p:spPr>
          <a:xfrm xmlns:a="http://schemas.openxmlformats.org/drawingml/2006/main">
            <a:off x="4419600" y="278130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DID IT ACT?</a:t>
            </a:r>
          </a:p>
        </p:txBody>
      </p:sp>
      <p:sp>
        <p:nvSpPr>
          <p:cNvPr id="13" name="">
            <a:extLst xmlns:a="http://schemas.openxmlformats.org/drawingml/2006/main">
              <a:ext uri="{FF2B5EF4-FFF2-40B4-BE49-F238E27FC236}">
                <a16:creationId xmlns:a16="http://schemas.microsoft.com/office/drawing/2014/main" id="{BFAFE6D4-6930-4D4A-89E1-6874D4B8DAC4}"/>
              </a:ext>
            </a:extLst>
          </p:cNvPr>
          <p:cNvSpPr>
            <a:spLocks xmlns:a="http://schemas.openxmlformats.org/drawingml/2006/main" noGrp="1"/>
          </p:cNvSpPr>
          <p:nvPr/>
        </p:nvSpPr>
        <p:spPr>
          <a:xfrm xmlns:a="http://schemas.openxmlformats.org/drawingml/2006/main">
            <a:off x="4419600" y="30480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Mechanism check</a:t>
            </a:r>
          </a:p>
        </p:txBody>
      </p:sp>
      <p:sp>
        <p:nvSpPr>
          <p:cNvPr id="14" name="">
            <a:extLst xmlns:a="http://schemas.openxmlformats.org/drawingml/2006/main">
              <a:ext uri="{FF2B5EF4-FFF2-40B4-BE49-F238E27FC236}">
                <a16:creationId xmlns:a16="http://schemas.microsoft.com/office/drawing/2014/main" id="{81B2B054-3685-4EF1-9BBB-22F3E2B3BC3A}"/>
              </a:ext>
            </a:extLst>
          </p:cNvPr>
          <p:cNvSpPr>
            <a:spLocks xmlns:a="http://schemas.openxmlformats.org/drawingml/2006/main" noGrp="1"/>
          </p:cNvSpPr>
          <p:nvPr/>
        </p:nvSpPr>
        <p:spPr>
          <a:xfrm xmlns:a="http://schemas.openxmlformats.org/drawingml/2006/main">
            <a:off x="4419600" y="349567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5" name="">
            <a:extLst xmlns:a="http://schemas.openxmlformats.org/drawingml/2006/main">
              <a:ext uri="{FF2B5EF4-FFF2-40B4-BE49-F238E27FC236}">
                <a16:creationId xmlns:a16="http://schemas.microsoft.com/office/drawing/2014/main" id="{5FBDE6BB-7354-403B-8A21-C214F2EAC9C1}"/>
              </a:ext>
            </a:extLst>
          </p:cNvPr>
          <p:cNvSpPr>
            <a:spLocks xmlns:a="http://schemas.openxmlformats.org/drawingml/2006/main" noGrp="1"/>
          </p:cNvSpPr>
          <p:nvPr/>
        </p:nvSpPr>
        <p:spPr>
          <a:xfrm xmlns:a="http://schemas.openxmlformats.org/drawingml/2006/main">
            <a:off x="4419600" y="3638550"/>
            <a:ext cx="33528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333333"/>
                </a:solidFill>
                <a:latin typeface="Arial"/>
                <a:ea typeface="Arial"/>
                <a:cs typeface="Arial"/>
              </a:defRPr>
            </a:pPr>
            <a:r>
              <a:rPr sz="1350" b="0" i="0">
                <a:solidFill>
                  <a:srgbClr val="333333"/>
                </a:solidFill>
                <a:latin typeface="Arial"/>
                <a:ea typeface="Arial"/>
                <a:cs typeface="Arial"/>
              </a:rPr>
              <a:t>We measure the angle between corrected and uncorrected matrix updates before and after Muon's polar transform.</a:t>
            </a:r>
          </a:p>
        </p:txBody>
      </p:sp>
      <p:sp>
        <p:nvSpPr>
          <p:cNvPr id="16" name="">
            <a:extLst xmlns:a="http://schemas.openxmlformats.org/drawingml/2006/main">
              <a:ext uri="{FF2B5EF4-FFF2-40B4-BE49-F238E27FC236}">
                <a16:creationId xmlns:a16="http://schemas.microsoft.com/office/drawing/2014/main" id="{BD6F1197-F827-4CCB-A758-220B3AD3F436}"/>
              </a:ext>
            </a:extLst>
          </p:cNvPr>
          <p:cNvSpPr>
            <a:spLocks xmlns:a="http://schemas.openxmlformats.org/drawingml/2006/main" noGrp="1"/>
          </p:cNvSpPr>
          <p:nvPr/>
        </p:nvSpPr>
        <p:spPr>
          <a:xfrm xmlns:a="http://schemas.openxmlformats.org/drawingml/2006/main">
            <a:off x="8153400" y="278130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DID IT HELP?</a:t>
            </a:r>
          </a:p>
        </p:txBody>
      </p:sp>
      <p:sp>
        <p:nvSpPr>
          <p:cNvPr id="17" name="">
            <a:extLst xmlns:a="http://schemas.openxmlformats.org/drawingml/2006/main">
              <a:ext uri="{FF2B5EF4-FFF2-40B4-BE49-F238E27FC236}">
                <a16:creationId xmlns:a16="http://schemas.microsoft.com/office/drawing/2014/main" id="{5FA829A7-A0A0-4643-A3C3-01BD02C9B991}"/>
              </a:ext>
            </a:extLst>
          </p:cNvPr>
          <p:cNvSpPr>
            <a:spLocks xmlns:a="http://schemas.openxmlformats.org/drawingml/2006/main" noGrp="1"/>
          </p:cNvSpPr>
          <p:nvPr/>
        </p:nvSpPr>
        <p:spPr>
          <a:xfrm xmlns:a="http://schemas.openxmlformats.org/drawingml/2006/main">
            <a:off x="8153400" y="30480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Outcome check</a:t>
            </a:r>
          </a:p>
        </p:txBody>
      </p:sp>
      <p:sp>
        <p:nvSpPr>
          <p:cNvPr id="18" name="">
            <a:extLst xmlns:a="http://schemas.openxmlformats.org/drawingml/2006/main">
              <a:ext uri="{FF2B5EF4-FFF2-40B4-BE49-F238E27FC236}">
                <a16:creationId xmlns:a16="http://schemas.microsoft.com/office/drawing/2014/main" id="{371CD968-809F-452C-A517-249482C8DB8F}"/>
              </a:ext>
            </a:extLst>
          </p:cNvPr>
          <p:cNvSpPr>
            <a:spLocks xmlns:a="http://schemas.openxmlformats.org/drawingml/2006/main" noGrp="1"/>
          </p:cNvSpPr>
          <p:nvPr/>
        </p:nvSpPr>
        <p:spPr>
          <a:xfrm xmlns:a="http://schemas.openxmlformats.org/drawingml/2006/main">
            <a:off x="8153400" y="349567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9" name="">
            <a:extLst xmlns:a="http://schemas.openxmlformats.org/drawingml/2006/main">
              <a:ext uri="{FF2B5EF4-FFF2-40B4-BE49-F238E27FC236}">
                <a16:creationId xmlns:a16="http://schemas.microsoft.com/office/drawing/2014/main" id="{1BE7FFEC-DF72-4EA9-95DD-9C81A3C59B50}"/>
              </a:ext>
            </a:extLst>
          </p:cNvPr>
          <p:cNvSpPr>
            <a:spLocks xmlns:a="http://schemas.openxmlformats.org/drawingml/2006/main" noGrp="1"/>
          </p:cNvSpPr>
          <p:nvPr/>
        </p:nvSpPr>
        <p:spPr>
          <a:xfrm xmlns:a="http://schemas.openxmlformats.org/drawingml/2006/main">
            <a:off x="8153400" y="3638550"/>
            <a:ext cx="33528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333333"/>
                </a:solidFill>
                <a:latin typeface="Arial"/>
                <a:ea typeface="Arial"/>
                <a:cs typeface="Arial"/>
              </a:defRPr>
            </a:pPr>
            <a:r>
              <a:rPr sz="1350" b="0" i="0">
                <a:solidFill>
                  <a:srgbClr val="333333"/>
                </a:solidFill>
                <a:latin typeface="Arial"/>
                <a:ea typeface="Arial"/>
                <a:cs typeface="Arial"/>
              </a:rPr>
              <a:t>We compare final accuracy in a broad coefficient sweep and in matched three-seed confirmations.</a:t>
            </a:r>
          </a:p>
        </p:txBody>
      </p:sp>
      <p:sp>
        <p:nvSpPr>
          <p:cNvPr id="20" name="">
            <a:extLst xmlns:a="http://schemas.openxmlformats.org/drawingml/2006/main">
              <a:ext uri="{FF2B5EF4-FFF2-40B4-BE49-F238E27FC236}">
                <a16:creationId xmlns:a16="http://schemas.microsoft.com/office/drawing/2014/main" id="{03D44F20-1E7C-4D48-95CE-C99C23B205FE}"/>
              </a:ext>
            </a:extLst>
          </p:cNvPr>
          <p:cNvSpPr>
            <a:spLocks xmlns:a="http://schemas.openxmlformats.org/drawingml/2006/main" noGrp="1"/>
          </p:cNvSpPr>
          <p:nvPr/>
        </p:nvSpPr>
        <p:spPr>
          <a:xfrm xmlns:a="http://schemas.openxmlformats.org/drawingml/2006/main">
            <a:off x="876300" y="5467350"/>
            <a:ext cx="10439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i="0">
                <a:solidFill>
                  <a:srgbClr val="282828"/>
                </a:solidFill>
                <a:latin typeface="Arial"/>
                <a:ea typeface="Arial"/>
                <a:cs typeface="Arial"/>
              </a:defRPr>
            </a:pPr>
            <a:r>
              <a:rPr sz="1050" b="1" i="0">
                <a:solidFill>
                  <a:srgbClr val="282828"/>
                </a:solidFill>
                <a:latin typeface="Arial"/>
                <a:ea typeface="Arial"/>
                <a:cs typeface="Arial"/>
              </a:rPr>
              <a:t>The experiment separates geometric activity from optimization benefit: a changed update direction is necessary, but it may still be worse.</a:t>
            </a:r>
          </a:p>
        </p:txBody>
      </p:sp>
    </p:spTree>
    <p:extLst>
      <p:ext uri="{BB962C8B-B14F-4D97-AF65-F5344CB8AC3E}">
        <p14:creationId xmlns:p14="http://schemas.microsoft.com/office/powerpoint/2010/main" val="1546637279"/>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6F6ECDF0-6A30-45AC-931B-8C9273A54E09}"/>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Broad coefficient search found no stable gain</a:t>
            </a:r>
          </a:p>
        </p:txBody>
      </p:sp>
      <p:sp>
        <p:nvSpPr>
          <p:cNvPr id="2" name="">
            <a:extLst xmlns:a="http://schemas.openxmlformats.org/drawingml/2006/main">
              <a:ext uri="{FF2B5EF4-FFF2-40B4-BE49-F238E27FC236}">
                <a16:creationId xmlns:a16="http://schemas.microsoft.com/office/drawing/2014/main" id="{6F487F31-A8BC-458A-BC4D-8F4FA24EACDA}"/>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F23C19D3-6587-4F87-AD62-69E141ECC817}"/>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3A30A80-288E-446E-8D44-8F0107964419}"/>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5694D286-2F5C-4D8B-9D34-8BE14DC815A5}"/>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34</a:t>
            </a:r>
          </a:p>
        </p:txBody>
      </p:sp>
      <p:sp>
        <p:nvSpPr>
          <p:cNvPr id="6" name="">
            <a:extLst xmlns:a="http://schemas.openxmlformats.org/drawingml/2006/main">
              <a:ext uri="{FF2B5EF4-FFF2-40B4-BE49-F238E27FC236}">
                <a16:creationId xmlns:a16="http://schemas.microsoft.com/office/drawing/2014/main" id="{35844C88-98E2-429B-A30C-D6AD1B757AC2}"/>
              </a:ext>
            </a:extLst>
          </p:cNvPr>
          <p:cNvSpPr>
            <a:spLocks xmlns:a="http://schemas.openxmlformats.org/drawingml/2006/main" noGrp="1"/>
          </p:cNvSpPr>
          <p:nvPr/>
        </p:nvSpPr>
        <p:spPr>
          <a:xfrm xmlns:a="http://schemas.openxmlformats.org/drawingml/2006/main">
            <a:off x="685800" y="10477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0" i="0">
                <a:solidFill>
                  <a:srgbClr val="555555"/>
                </a:solidFill>
                <a:latin typeface="Arial"/>
                <a:ea typeface="Arial"/>
                <a:cs typeface="Arial"/>
              </a:defRPr>
            </a:pPr>
            <a:r>
              <a:rPr sz="900" b="0" i="0">
                <a:solidFill>
                  <a:srgbClr val="555555"/>
                </a:solidFill>
                <a:latin typeface="Arial"/>
                <a:ea typeface="Arial"/>
                <a:cs typeface="Arial"/>
              </a:rPr>
              <a:t>Exploratory seed-42 cells; each value is matched to alpha 0 at the same beta and LR. No uncertainty interval is implied.</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c10f4b8118048b9"/>
          <a:stretch xmlns:a="http://schemas.openxmlformats.org/drawingml/2006/main"/>
        </p:blipFill>
        <p:spPr>
          <a:xfrm xmlns:a="http://schemas.openxmlformats.org/drawingml/2006/main">
            <a:off x="647700" y="2046613"/>
            <a:ext cx="10896600" cy="3088624"/>
          </a:xfrm>
          <a:prstGeom xmlns:a="http://schemas.openxmlformats.org/drawingml/2006/main" prst="rect">
            <a:avLst/>
          </a:prstGeom>
        </p:spPr>
      </p:pic>
    </p:spTree>
    <p:extLst>
      <p:ext uri="{BB962C8B-B14F-4D97-AF65-F5344CB8AC3E}">
        <p14:creationId xmlns:p14="http://schemas.microsoft.com/office/powerpoint/2010/main" val="1891490351"/>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D3B62BBB-9709-40EC-A599-CEF97B635F6D}"/>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i="0">
                <a:solidFill>
                  <a:srgbClr val="282828"/>
                </a:solidFill>
                <a:latin typeface="Arial"/>
                <a:ea typeface="Arial"/>
                <a:cs typeface="Arial"/>
              </a:defRPr>
            </a:pPr>
            <a:r>
              <a:rPr sz="2175" b="0" i="0">
                <a:solidFill>
                  <a:srgbClr val="282828"/>
                </a:solidFill>
                <a:latin typeface="Arial"/>
                <a:ea typeface="Arial"/>
                <a:cs typeface="Arial"/>
              </a:rPr>
              <a:t>Three-seed confirmation: no consistent accuracy gain</a:t>
            </a:r>
          </a:p>
        </p:txBody>
      </p:sp>
      <p:sp>
        <p:nvSpPr>
          <p:cNvPr id="2" name="">
            <a:extLst xmlns:a="http://schemas.openxmlformats.org/drawingml/2006/main">
              <a:ext uri="{FF2B5EF4-FFF2-40B4-BE49-F238E27FC236}">
                <a16:creationId xmlns:a16="http://schemas.microsoft.com/office/drawing/2014/main" id="{F86D20CC-2DD2-4226-BB02-7A1CF8331974}"/>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AA34E027-6AE1-40B1-9755-559029568A7A}"/>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1320CE5-68E3-4D57-B322-5B0F6C395DED}"/>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EFF7CEB5-2548-4E96-985D-D891E7C8CB70}"/>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35</a:t>
            </a:r>
          </a:p>
        </p:txBody>
      </p:sp>
      <p:sp>
        <p:nvSpPr>
          <p:cNvPr id="6" name="">
            <a:extLst xmlns:a="http://schemas.openxmlformats.org/drawingml/2006/main">
              <a:ext uri="{FF2B5EF4-FFF2-40B4-BE49-F238E27FC236}">
                <a16:creationId xmlns:a16="http://schemas.microsoft.com/office/drawing/2014/main" id="{6E8C6790-9ED6-4BD9-A2EB-122D0B401937}"/>
              </a:ext>
            </a:extLst>
          </p:cNvPr>
          <p:cNvSpPr>
            <a:spLocks xmlns:a="http://schemas.openxmlformats.org/drawingml/2006/main" noGrp="1"/>
          </p:cNvSpPr>
          <p:nvPr/>
        </p:nvSpPr>
        <p:spPr>
          <a:xfrm xmlns:a="http://schemas.openxmlformats.org/drawingml/2006/main">
            <a:off x="685800" y="102870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i="0">
                <a:solidFill>
                  <a:srgbClr val="282828"/>
                </a:solidFill>
                <a:latin typeface="Arial"/>
                <a:ea typeface="Arial"/>
                <a:cs typeface="Arial"/>
              </a:defRPr>
            </a:pPr>
            <a:r>
              <a:rPr sz="1125" b="1" i="0">
                <a:solidFill>
                  <a:srgbClr val="282828"/>
                </a:solidFill>
                <a:latin typeface="Arial"/>
                <a:ea typeface="Arial"/>
                <a:cs typeface="Arial"/>
              </a:rPr>
              <a:t>Small dots = individual runs; large markers and error bars = per-condition mean ± sample SD across three seeds.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34b150d662e41f6"/>
          <a:stretch xmlns:a="http://schemas.openxmlformats.org/drawingml/2006/main"/>
        </p:blipFill>
        <p:spPr>
          <a:xfrm xmlns:a="http://schemas.openxmlformats.org/drawingml/2006/main">
            <a:off x="1811817" y="1295400"/>
            <a:ext cx="8568366" cy="4591050"/>
          </a:xfrm>
          <a:prstGeom xmlns:a="http://schemas.openxmlformats.org/drawingml/2006/main" prst="rect">
            <a:avLst/>
          </a:prstGeom>
        </p:spPr>
      </p:pic>
    </p:spTree>
    <p:extLst>
      <p:ext uri="{BB962C8B-B14F-4D97-AF65-F5344CB8AC3E}">
        <p14:creationId xmlns:p14="http://schemas.microsoft.com/office/powerpoint/2010/main" val="295406713"/>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2A52CC82-AF0E-4D73-8EC6-67DEF54BD988}"/>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How we verified that the direction changed</a:t>
            </a:r>
          </a:p>
        </p:txBody>
      </p:sp>
      <p:sp>
        <p:nvSpPr>
          <p:cNvPr id="2" name="">
            <a:extLst xmlns:a="http://schemas.openxmlformats.org/drawingml/2006/main">
              <a:ext uri="{FF2B5EF4-FFF2-40B4-BE49-F238E27FC236}">
                <a16:creationId xmlns:a16="http://schemas.microsoft.com/office/drawing/2014/main" id="{7E771AFB-90FC-4F3A-8956-207978BE5C5C}"/>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slide-subtitle">
            <a:extLst xmlns:a="http://schemas.openxmlformats.org/drawingml/2006/main">
              <a:ext uri="{FF2B5EF4-FFF2-40B4-BE49-F238E27FC236}">
                <a16:creationId xmlns:a16="http://schemas.microsoft.com/office/drawing/2014/main" id="{BAE73096-7105-4D82-A908-D22C4282AD7B}"/>
              </a:ext>
            </a:extLst>
          </p:cNvPr>
          <p:cNvSpPr>
            <a:spLocks xmlns:a="http://schemas.openxmlformats.org/drawingml/2006/main" noGrp="1"/>
          </p:cNvSpPr>
          <p:nvPr/>
        </p:nvSpPr>
        <p:spPr>
          <a:xfrm xmlns:a="http://schemas.openxmlformats.org/drawingml/2006/main">
            <a:off x="685800" y="10668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666666"/>
                </a:solidFill>
                <a:latin typeface="Arial"/>
                <a:ea typeface="Arial"/>
                <a:cs typeface="Arial"/>
              </a:defRPr>
            </a:pPr>
            <a:r>
              <a:rPr sz="1125" b="0" i="0">
                <a:solidFill>
                  <a:srgbClr val="666666"/>
                </a:solidFill>
                <a:latin typeface="Arial"/>
                <a:ea typeface="Arial"/>
                <a:cs typeface="Arial"/>
              </a:rPr>
              <a:t>Angles are computed over all matrix tensors at the same optimizer state.</a:t>
            </a:r>
          </a:p>
        </p:txBody>
      </p:sp>
      <p:sp>
        <p:nvSpPr>
          <p:cNvPr id="4" name="">
            <a:extLst xmlns:a="http://schemas.openxmlformats.org/drawingml/2006/main">
              <a:ext uri="{FF2B5EF4-FFF2-40B4-BE49-F238E27FC236}">
                <a16:creationId xmlns:a16="http://schemas.microsoft.com/office/drawing/2014/main" id="{60437B0A-0994-4F0F-BD1C-DF2B099B8EA3}"/>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79D0D9D-3E56-4F5A-8112-0CE4172951EE}"/>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6" name="">
            <a:extLst xmlns:a="http://schemas.openxmlformats.org/drawingml/2006/main">
              <a:ext uri="{FF2B5EF4-FFF2-40B4-BE49-F238E27FC236}">
                <a16:creationId xmlns:a16="http://schemas.microsoft.com/office/drawing/2014/main" id="{D0E74723-2C9D-4D4B-B495-2C27083F708D}"/>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36</a:t>
            </a:r>
          </a:p>
        </p:txBody>
      </p:sp>
      <p:sp>
        <p:nvSpPr>
          <p:cNvPr id="7" name="">
            <a:extLst xmlns:a="http://schemas.openxmlformats.org/drawingml/2006/main">
              <a:ext uri="{FF2B5EF4-FFF2-40B4-BE49-F238E27FC236}">
                <a16:creationId xmlns:a16="http://schemas.microsoft.com/office/drawing/2014/main" id="{7D43CB75-F48C-4604-8202-1C0C25689CEF}"/>
              </a:ext>
            </a:extLst>
          </p:cNvPr>
          <p:cNvSpPr>
            <a:spLocks xmlns:a="http://schemas.openxmlformats.org/drawingml/2006/main" noGrp="1"/>
          </p:cNvSpPr>
          <p:nvPr/>
        </p:nvSpPr>
        <p:spPr>
          <a:xfrm xmlns:a="http://schemas.openxmlformats.org/drawingml/2006/main">
            <a:off x="876300" y="1466850"/>
            <a:ext cx="10439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950" b="0" i="0">
                <a:solidFill>
                  <a:srgbClr val="282828"/>
                </a:solidFill>
                <a:latin typeface="Arial"/>
                <a:ea typeface="Arial"/>
                <a:cs typeface="Arial"/>
              </a:defRPr>
            </a:pPr>
            <a:r>
              <a:rPr sz="1950" b="0" i="0">
                <a:solidFill>
                  <a:srgbClr val="282828"/>
                </a:solidFill>
                <a:latin typeface="Arial"/>
                <a:ea typeface="Arial"/>
                <a:cs typeface="Arial"/>
              </a:rPr>
              <a:t>cos θ =  Σᵢ⟨aᵢ,bᵢ⟩F  /  √[(Σᵢ‖aᵢ‖F²)(Σᵢ‖bᵢ‖F²)]</a:t>
            </a:r>
          </a:p>
        </p:txBody>
      </p:sp>
      <p:sp>
        <p:nvSpPr>
          <p:cNvPr id="8" name="">
            <a:extLst xmlns:a="http://schemas.openxmlformats.org/drawingml/2006/main">
              <a:ext uri="{FF2B5EF4-FFF2-40B4-BE49-F238E27FC236}">
                <a16:creationId xmlns:a16="http://schemas.microsoft.com/office/drawing/2014/main" id="{73A8D100-C51A-4E36-9120-E508A5944204}"/>
              </a:ext>
            </a:extLst>
          </p:cNvPr>
          <p:cNvSpPr>
            <a:spLocks xmlns:a="http://schemas.openxmlformats.org/drawingml/2006/main" noGrp="1"/>
          </p:cNvSpPr>
          <p:nvPr/>
        </p:nvSpPr>
        <p:spPr>
          <a:xfrm xmlns:a="http://schemas.openxmlformats.org/drawingml/2006/main">
            <a:off x="876300" y="2152650"/>
            <a:ext cx="10439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0" i="0">
                <a:solidFill>
                  <a:srgbClr val="282828"/>
                </a:solidFill>
                <a:latin typeface="Arial"/>
                <a:ea typeface="Arial"/>
                <a:cs typeface="Arial"/>
              </a:defRPr>
            </a:pPr>
            <a:r>
              <a:rPr sz="1875" b="0" i="0">
                <a:solidFill>
                  <a:srgbClr val="282828"/>
                </a:solidFill>
                <a:latin typeface="Arial"/>
                <a:ea typeface="Arial"/>
                <a:cs typeface="Arial"/>
              </a:rPr>
              <a:t>θ = arccos[clip(cos θ, −1, 1)] × 180/π</a:t>
            </a:r>
          </a:p>
        </p:txBody>
      </p:sp>
      <p:sp>
        <p:nvSpPr>
          <p:cNvPr id="9" name="">
            <a:extLst xmlns:a="http://schemas.openxmlformats.org/drawingml/2006/main">
              <a:ext uri="{FF2B5EF4-FFF2-40B4-BE49-F238E27FC236}">
                <a16:creationId xmlns:a16="http://schemas.microsoft.com/office/drawing/2014/main" id="{F0671658-3BC4-4C80-AC6B-B9AFA1B68F99}"/>
              </a:ext>
            </a:extLst>
          </p:cNvPr>
          <p:cNvSpPr>
            <a:spLocks xmlns:a="http://schemas.openxmlformats.org/drawingml/2006/main" noGrp="1"/>
          </p:cNvSpPr>
          <p:nvPr/>
        </p:nvSpPr>
        <p:spPr>
          <a:xfrm xmlns:a="http://schemas.openxmlformats.org/drawingml/2006/main">
            <a:off x="876300" y="2724150"/>
            <a:ext cx="10439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0" i="0">
                <a:solidFill>
                  <a:srgbClr val="282828"/>
                </a:solidFill>
                <a:latin typeface="Arial"/>
                <a:ea typeface="Arial"/>
                <a:cs typeface="Arial"/>
              </a:defRPr>
            </a:pPr>
            <a:r>
              <a:rPr sz="1800" b="0" i="0">
                <a:solidFill>
                  <a:srgbClr val="282828"/>
                </a:solidFill>
                <a:latin typeface="Arial"/>
                <a:ea typeface="Arial"/>
                <a:cs typeface="Arial"/>
              </a:rPr>
              <a:t>relative correction = √[Σᵢ‖rᵢ − gᵢ‖F² / Σᵢ‖gᵢ‖F²]</a:t>
            </a:r>
          </a:p>
        </p:txBody>
      </p:sp>
      <p:sp>
        <p:nvSpPr>
          <p:cNvPr id="10" name="">
            <a:extLst xmlns:a="http://schemas.openxmlformats.org/drawingml/2006/main">
              <a:ext uri="{FF2B5EF4-FFF2-40B4-BE49-F238E27FC236}">
                <a16:creationId xmlns:a16="http://schemas.microsoft.com/office/drawing/2014/main" id="{8203FF0A-8607-4678-84B8-E2831954AAC7}"/>
              </a:ext>
            </a:extLst>
          </p:cNvPr>
          <p:cNvSpPr>
            <a:spLocks xmlns:a="http://schemas.openxmlformats.org/drawingml/2006/main" noGrp="1"/>
          </p:cNvSpPr>
          <p:nvPr/>
        </p:nvSpPr>
        <p:spPr>
          <a:xfrm xmlns:a="http://schemas.openxmlformats.org/drawingml/2006/main">
            <a:off x="1047750" y="3390900"/>
            <a:ext cx="100965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1" name="">
            <a:extLst xmlns:a="http://schemas.openxmlformats.org/drawingml/2006/main">
              <a:ext uri="{FF2B5EF4-FFF2-40B4-BE49-F238E27FC236}">
                <a16:creationId xmlns:a16="http://schemas.microsoft.com/office/drawing/2014/main" id="{F87D83A9-FF1B-412F-AEEB-8853E488A696}"/>
              </a:ext>
            </a:extLst>
          </p:cNvPr>
          <p:cNvSpPr>
            <a:spLocks xmlns:a="http://schemas.openxmlformats.org/drawingml/2006/main" noGrp="1"/>
          </p:cNvSpPr>
          <p:nvPr/>
        </p:nvSpPr>
        <p:spPr>
          <a:xfrm xmlns:a="http://schemas.openxmlformats.org/drawingml/2006/main">
            <a:off x="952500" y="37147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282828"/>
                </a:solidFill>
                <a:latin typeface="Arial"/>
                <a:ea typeface="Arial"/>
                <a:cs typeface="Arial"/>
              </a:defRPr>
            </a:pPr>
            <a:r>
              <a:rPr sz="1575" b="1" i="0">
                <a:solidFill>
                  <a:srgbClr val="282828"/>
                </a:solidFill>
                <a:latin typeface="Arial"/>
                <a:ea typeface="Arial"/>
                <a:cs typeface="Arial"/>
              </a:rPr>
              <a:t>Pre-polar angle</a:t>
            </a:r>
          </a:p>
        </p:txBody>
      </p:sp>
      <p:sp>
        <p:nvSpPr>
          <p:cNvPr id="12" name="">
            <a:extLst xmlns:a="http://schemas.openxmlformats.org/drawingml/2006/main">
              <a:ext uri="{FF2B5EF4-FFF2-40B4-BE49-F238E27FC236}">
                <a16:creationId xmlns:a16="http://schemas.microsoft.com/office/drawing/2014/main" id="{53E09092-4F02-4636-B145-9D4731DC63FD}"/>
              </a:ext>
            </a:extLst>
          </p:cNvPr>
          <p:cNvSpPr>
            <a:spLocks xmlns:a="http://schemas.openxmlformats.org/drawingml/2006/main" noGrp="1"/>
          </p:cNvSpPr>
          <p:nvPr/>
        </p:nvSpPr>
        <p:spPr>
          <a:xfrm xmlns:a="http://schemas.openxmlformats.org/drawingml/2006/main">
            <a:off x="952500" y="4171950"/>
            <a:ext cx="4476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4000"/>
              </a:lnSpc>
              <a:buNone/>
              <a:defRPr sz="1350" b="0" i="0">
                <a:solidFill>
                  <a:srgbClr val="333333"/>
                </a:solidFill>
                <a:latin typeface="Arial"/>
                <a:ea typeface="Arial"/>
                <a:cs typeface="Arial"/>
              </a:defRPr>
            </a:pPr>
            <a:r>
              <a:rPr sz="1350" b="0" i="0">
                <a:solidFill>
                  <a:srgbClr val="333333"/>
                </a:solidFill>
                <a:latin typeface="Arial"/>
                <a:ea typeface="Arial"/>
                <a:cs typeface="Arial"/>
              </a:rPr>
              <a:t>Compare the raw and corrected Nesterov signals before orthogonalization. This tests whether the recursive estimator changes the direction entering Muon.</a:t>
            </a:r>
          </a:p>
        </p:txBody>
      </p:sp>
      <p:sp>
        <p:nvSpPr>
          <p:cNvPr id="13" name="">
            <a:extLst xmlns:a="http://schemas.openxmlformats.org/drawingml/2006/main">
              <a:ext uri="{FF2B5EF4-FFF2-40B4-BE49-F238E27FC236}">
                <a16:creationId xmlns:a16="http://schemas.microsoft.com/office/drawing/2014/main" id="{17978272-41E4-4126-9FB6-69335BF718F3}"/>
              </a:ext>
            </a:extLst>
          </p:cNvPr>
          <p:cNvSpPr>
            <a:spLocks xmlns:a="http://schemas.openxmlformats.org/drawingml/2006/main" noGrp="1"/>
          </p:cNvSpPr>
          <p:nvPr/>
        </p:nvSpPr>
        <p:spPr>
          <a:xfrm xmlns:a="http://schemas.openxmlformats.org/drawingml/2006/main">
            <a:off x="6286500" y="37147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282828"/>
                </a:solidFill>
                <a:latin typeface="Arial"/>
                <a:ea typeface="Arial"/>
                <a:cs typeface="Arial"/>
              </a:defRPr>
            </a:pPr>
            <a:r>
              <a:rPr sz="1575" b="1" i="0">
                <a:solidFill>
                  <a:srgbClr val="282828"/>
                </a:solidFill>
                <a:latin typeface="Arial"/>
                <a:ea typeface="Arial"/>
                <a:cs typeface="Arial"/>
              </a:rPr>
              <a:t>Post-polar angle</a:t>
            </a:r>
          </a:p>
        </p:txBody>
      </p:sp>
      <p:sp>
        <p:nvSpPr>
          <p:cNvPr id="14" name="">
            <a:extLst xmlns:a="http://schemas.openxmlformats.org/drawingml/2006/main">
              <a:ext uri="{FF2B5EF4-FFF2-40B4-BE49-F238E27FC236}">
                <a16:creationId xmlns:a16="http://schemas.microsoft.com/office/drawing/2014/main" id="{D01EFC2B-57CE-4BD8-A0F1-7C7402BAA211}"/>
              </a:ext>
            </a:extLst>
          </p:cNvPr>
          <p:cNvSpPr>
            <a:spLocks xmlns:a="http://schemas.openxmlformats.org/drawingml/2006/main" noGrp="1"/>
          </p:cNvSpPr>
          <p:nvPr/>
        </p:nvSpPr>
        <p:spPr>
          <a:xfrm xmlns:a="http://schemas.openxmlformats.org/drawingml/2006/main">
            <a:off x="6286500" y="4171950"/>
            <a:ext cx="4762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4000"/>
              </a:lnSpc>
              <a:buNone/>
              <a:defRPr sz="1350" b="0" i="0">
                <a:solidFill>
                  <a:srgbClr val="333333"/>
                </a:solidFill>
                <a:latin typeface="Arial"/>
                <a:ea typeface="Arial"/>
                <a:cs typeface="Arial"/>
              </a:defRPr>
            </a:pPr>
            <a:r>
              <a:rPr sz="1350" b="0" i="0">
                <a:solidFill>
                  <a:srgbClr val="333333"/>
                </a:solidFill>
                <a:latin typeface="Arial"/>
                <a:ea typeface="Arial"/>
                <a:cs typeface="Arial"/>
              </a:rPr>
              <a:t>Apply five Newton–Schulz steps to both counterfactual signals, then measure the angle again. A nonzero value shows that Muon's polar map did not erase the correction.</a:t>
            </a:r>
          </a:p>
        </p:txBody>
      </p:sp>
      <p:sp>
        <p:nvSpPr>
          <p:cNvPr id="15" name="">
            <a:extLst xmlns:a="http://schemas.openxmlformats.org/drawingml/2006/main">
              <a:ext uri="{FF2B5EF4-FFF2-40B4-BE49-F238E27FC236}">
                <a16:creationId xmlns:a16="http://schemas.microsoft.com/office/drawing/2014/main" id="{CA22E8A1-2896-4795-A5F5-E74A934D3340}"/>
              </a:ext>
            </a:extLst>
          </p:cNvPr>
          <p:cNvSpPr>
            <a:spLocks xmlns:a="http://schemas.openxmlformats.org/drawingml/2006/main" noGrp="1"/>
          </p:cNvSpPr>
          <p:nvPr/>
        </p:nvSpPr>
        <p:spPr>
          <a:xfrm xmlns:a="http://schemas.openxmlformats.org/drawingml/2006/main">
            <a:off x="952500" y="571500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i="0">
                <a:solidFill>
                  <a:srgbClr val="666666"/>
                </a:solidFill>
                <a:latin typeface="Arial"/>
                <a:ea typeface="Arial"/>
                <a:cs typeface="Arial"/>
              </a:defRPr>
            </a:pPr>
            <a:r>
              <a:rPr sz="1050" b="0" i="0">
                <a:solidFill>
                  <a:srgbClr val="666666"/>
                </a:solidFill>
                <a:latin typeface="Arial"/>
                <a:ea typeface="Arial"/>
                <a:cs typeface="Arial"/>
              </a:rPr>
              <a:t>The diagnostic runs once per epoch and reports one aggregate angle for the matrix-parameter branch.</a:t>
            </a:r>
          </a:p>
        </p:txBody>
      </p:sp>
    </p:spTree>
    <p:extLst>
      <p:ext uri="{BB962C8B-B14F-4D97-AF65-F5344CB8AC3E}">
        <p14:creationId xmlns:p14="http://schemas.microsoft.com/office/powerpoint/2010/main" val="89158160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1A6F02BC-5593-4B1F-960A-CB360F8C3C91}"/>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i="0">
                <a:solidFill>
                  <a:srgbClr val="282828"/>
                </a:solidFill>
                <a:latin typeface="Arial"/>
                <a:ea typeface="Arial"/>
                <a:cs typeface="Arial"/>
              </a:defRPr>
            </a:pPr>
            <a:r>
              <a:rPr sz="2175" b="0" i="0">
                <a:solidFill>
                  <a:srgbClr val="282828"/>
                </a:solidFill>
                <a:latin typeface="Arial"/>
                <a:ea typeface="Arial"/>
                <a:cs typeface="Arial"/>
              </a:rPr>
              <a:t>Our history correction changes Muon's direction</a:t>
            </a:r>
          </a:p>
        </p:txBody>
      </p:sp>
      <p:sp>
        <p:nvSpPr>
          <p:cNvPr id="2" name="">
            <a:extLst xmlns:a="http://schemas.openxmlformats.org/drawingml/2006/main">
              <a:ext uri="{FF2B5EF4-FFF2-40B4-BE49-F238E27FC236}">
                <a16:creationId xmlns:a16="http://schemas.microsoft.com/office/drawing/2014/main" id="{D8108F44-E9B9-4997-A1DF-190C72DBC0FC}"/>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A43AC228-12E7-4393-9BA3-0290A52165ED}"/>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D7DED27-E06B-4BB4-B59F-0855A2940CEF}"/>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97D00AF7-BD7D-4C44-8B6C-28301D1B192F}"/>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37</a:t>
            </a:r>
          </a:p>
        </p:txBody>
      </p:sp>
      <p:sp>
        <p:nvSpPr>
          <p:cNvPr id="6" name="">
            <a:extLst xmlns:a="http://schemas.openxmlformats.org/drawingml/2006/main">
              <a:ext uri="{FF2B5EF4-FFF2-40B4-BE49-F238E27FC236}">
                <a16:creationId xmlns:a16="http://schemas.microsoft.com/office/drawing/2014/main" id="{B70740B5-2AC3-46B0-8BBA-AE42205FAA95}"/>
              </a:ext>
            </a:extLst>
          </p:cNvPr>
          <p:cNvSpPr>
            <a:spLocks xmlns:a="http://schemas.openxmlformats.org/drawingml/2006/main" noGrp="1"/>
          </p:cNvSpPr>
          <p:nvPr/>
        </p:nvSpPr>
        <p:spPr>
          <a:xfrm xmlns:a="http://schemas.openxmlformats.org/drawingml/2006/main">
            <a:off x="685800" y="102870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i="0">
                <a:solidFill>
                  <a:srgbClr val="282828"/>
                </a:solidFill>
                <a:latin typeface="Arial"/>
                <a:ea typeface="Arial"/>
                <a:cs typeface="Arial"/>
              </a:defRPr>
            </a:pPr>
            <a:r>
              <a:rPr sz="1050" b="1" i="0">
                <a:solidFill>
                  <a:srgbClr val="282828"/>
                </a:solidFill>
                <a:latin typeface="Arial"/>
                <a:ea typeface="Arial"/>
                <a:cs typeface="Arial"/>
              </a:rPr>
              <a:t>Seed 42 only; first-minibatch diagnostics sampled once per epoch and averaged over epochs 2–50; not a variance estimate.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a287ac718414593"/>
          <a:stretch xmlns:a="http://schemas.openxmlformats.org/drawingml/2006/main"/>
        </p:blipFill>
        <p:spPr>
          <a:xfrm xmlns:a="http://schemas.openxmlformats.org/drawingml/2006/main">
            <a:off x="931069" y="1295400"/>
            <a:ext cx="10329863" cy="4591050"/>
          </a:xfrm>
          <a:prstGeom xmlns:a="http://schemas.openxmlformats.org/drawingml/2006/main" prst="rect">
            <a:avLst/>
          </a:prstGeom>
        </p:spPr>
      </p:pic>
    </p:spTree>
    <p:extLst>
      <p:ext uri="{BB962C8B-B14F-4D97-AF65-F5344CB8AC3E}">
        <p14:creationId xmlns:p14="http://schemas.microsoft.com/office/powerpoint/2010/main" val="1640782218"/>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09ABD74C-E548-4464-ADF0-CA54AE317518}"/>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i="0">
                <a:solidFill>
                  <a:srgbClr val="282828"/>
                </a:solidFill>
                <a:latin typeface="Arial"/>
                <a:ea typeface="Arial"/>
                <a:cs typeface="Arial"/>
              </a:defRPr>
            </a:pPr>
            <a:r>
              <a:rPr sz="2175" b="0" i="0">
                <a:solidFill>
                  <a:srgbClr val="282828"/>
                </a:solidFill>
                <a:latin typeface="Arial"/>
                <a:ea typeface="Arial"/>
                <a:cs typeface="Arial"/>
              </a:rPr>
              <a:t>μ²-inspired history correction: no consistent accuracy gain</a:t>
            </a:r>
          </a:p>
        </p:txBody>
      </p:sp>
      <p:sp>
        <p:nvSpPr>
          <p:cNvPr id="2" name="">
            <a:extLst xmlns:a="http://schemas.openxmlformats.org/drawingml/2006/main">
              <a:ext uri="{FF2B5EF4-FFF2-40B4-BE49-F238E27FC236}">
                <a16:creationId xmlns:a16="http://schemas.microsoft.com/office/drawing/2014/main" id="{F3EBDE1B-F06B-4B8F-88A1-87FD752FAC3A}"/>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DDB61737-4530-4EF4-B6B6-3D9AF76696E1}"/>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A444C1C-E466-4C94-9B21-7A307439BE27}"/>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12CB4D53-4824-402F-8248-88DB926FFD9B}"/>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38</a:t>
            </a:r>
          </a:p>
        </p:txBody>
      </p:sp>
      <p:sp>
        <p:nvSpPr>
          <p:cNvPr id="6" name="">
            <a:extLst xmlns:a="http://schemas.openxmlformats.org/drawingml/2006/main">
              <a:ext uri="{FF2B5EF4-FFF2-40B4-BE49-F238E27FC236}">
                <a16:creationId xmlns:a16="http://schemas.microsoft.com/office/drawing/2014/main" id="{EA4B03D6-13C4-4B14-BA4F-62EDC13B40A3}"/>
              </a:ext>
            </a:extLst>
          </p:cNvPr>
          <p:cNvSpPr>
            <a:spLocks xmlns:a="http://schemas.openxmlformats.org/drawingml/2006/main" noGrp="1"/>
          </p:cNvSpPr>
          <p:nvPr/>
        </p:nvSpPr>
        <p:spPr>
          <a:xfrm xmlns:a="http://schemas.openxmlformats.org/drawingml/2006/main">
            <a:off x="685800" y="152400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OBSERVED</a:t>
            </a:r>
          </a:p>
        </p:txBody>
      </p:sp>
      <p:sp>
        <p:nvSpPr>
          <p:cNvPr id="7" name="">
            <a:extLst xmlns:a="http://schemas.openxmlformats.org/drawingml/2006/main">
              <a:ext uri="{FF2B5EF4-FFF2-40B4-BE49-F238E27FC236}">
                <a16:creationId xmlns:a16="http://schemas.microsoft.com/office/drawing/2014/main" id="{89C1C99C-1BF6-461D-9266-61D7F747F5AD}"/>
              </a:ext>
            </a:extLst>
          </p:cNvPr>
          <p:cNvSpPr>
            <a:spLocks xmlns:a="http://schemas.openxmlformats.org/drawingml/2006/main" noGrp="1"/>
          </p:cNvSpPr>
          <p:nvPr/>
        </p:nvSpPr>
        <p:spPr>
          <a:xfrm xmlns:a="http://schemas.openxmlformats.org/drawingml/2006/main">
            <a:off x="685800" y="17907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Geometric influence</a:t>
            </a:r>
          </a:p>
        </p:txBody>
      </p:sp>
      <p:sp>
        <p:nvSpPr>
          <p:cNvPr id="8" name="">
            <a:extLst xmlns:a="http://schemas.openxmlformats.org/drawingml/2006/main">
              <a:ext uri="{FF2B5EF4-FFF2-40B4-BE49-F238E27FC236}">
                <a16:creationId xmlns:a16="http://schemas.microsoft.com/office/drawing/2014/main" id="{4183E914-F266-4A71-BFC0-5AB94099D92A}"/>
              </a:ext>
            </a:extLst>
          </p:cNvPr>
          <p:cNvSpPr>
            <a:spLocks xmlns:a="http://schemas.openxmlformats.org/drawingml/2006/main" noGrp="1"/>
          </p:cNvSpPr>
          <p:nvPr/>
        </p:nvSpPr>
        <p:spPr>
          <a:xfrm xmlns:a="http://schemas.openxmlformats.org/drawingml/2006/main">
            <a:off x="685800" y="223837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9" name="">
            <a:extLst xmlns:a="http://schemas.openxmlformats.org/drawingml/2006/main">
              <a:ext uri="{FF2B5EF4-FFF2-40B4-BE49-F238E27FC236}">
                <a16:creationId xmlns:a16="http://schemas.microsoft.com/office/drawing/2014/main" id="{E4419A93-8D26-4363-A425-64B6AE87C108}"/>
              </a:ext>
            </a:extLst>
          </p:cNvPr>
          <p:cNvSpPr>
            <a:spLocks xmlns:a="http://schemas.openxmlformats.org/drawingml/2006/main" noGrp="1"/>
          </p:cNvSpPr>
          <p:nvPr/>
        </p:nvSpPr>
        <p:spPr>
          <a:xfrm xmlns:a="http://schemas.openxmlformats.org/drawingml/2006/main">
            <a:off x="685800" y="2381250"/>
            <a:ext cx="3352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333333"/>
                </a:solidFill>
                <a:latin typeface="Arial"/>
                <a:ea typeface="Arial"/>
                <a:cs typeface="Arial"/>
              </a:defRPr>
            </a:pPr>
            <a:r>
              <a:rPr sz="1425" b="0" i="0">
                <a:solidFill>
                  <a:srgbClr val="333333"/>
                </a:solidFill>
                <a:latin typeface="Arial"/>
                <a:ea typeface="Arial"/>
                <a:cs typeface="Arial"/>
              </a:rPr>
              <a:t>The stored-history correction changes rₜ, and that angular change remains after the polar transform.</a:t>
            </a:r>
          </a:p>
        </p:txBody>
      </p:sp>
      <p:sp>
        <p:nvSpPr>
          <p:cNvPr id="10" name="">
            <a:extLst xmlns:a="http://schemas.openxmlformats.org/drawingml/2006/main">
              <a:ext uri="{FF2B5EF4-FFF2-40B4-BE49-F238E27FC236}">
                <a16:creationId xmlns:a16="http://schemas.microsoft.com/office/drawing/2014/main" id="{7963D199-7841-4FE4-A3F1-4F62823E0E57}"/>
              </a:ext>
            </a:extLst>
          </p:cNvPr>
          <p:cNvSpPr>
            <a:spLocks xmlns:a="http://schemas.openxmlformats.org/drawingml/2006/main" noGrp="1"/>
          </p:cNvSpPr>
          <p:nvPr/>
        </p:nvSpPr>
        <p:spPr>
          <a:xfrm xmlns:a="http://schemas.openxmlformats.org/drawingml/2006/main">
            <a:off x="4419600" y="152400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INTERPRETATION</a:t>
            </a:r>
          </a:p>
        </p:txBody>
      </p:sp>
      <p:sp>
        <p:nvSpPr>
          <p:cNvPr id="11" name="">
            <a:extLst xmlns:a="http://schemas.openxmlformats.org/drawingml/2006/main">
              <a:ext uri="{FF2B5EF4-FFF2-40B4-BE49-F238E27FC236}">
                <a16:creationId xmlns:a16="http://schemas.microsoft.com/office/drawing/2014/main" id="{FF973AD8-425D-45B8-BA9D-0135FD40278D}"/>
              </a:ext>
            </a:extLst>
          </p:cNvPr>
          <p:cNvSpPr>
            <a:spLocks xmlns:a="http://schemas.openxmlformats.org/drawingml/2006/main" noGrp="1"/>
          </p:cNvSpPr>
          <p:nvPr/>
        </p:nvSpPr>
        <p:spPr>
          <a:xfrm xmlns:a="http://schemas.openxmlformats.org/drawingml/2006/main">
            <a:off x="4419600" y="17907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Optimization ambiguity</a:t>
            </a:r>
          </a:p>
        </p:txBody>
      </p:sp>
      <p:sp>
        <p:nvSpPr>
          <p:cNvPr id="12" name="">
            <a:extLst xmlns:a="http://schemas.openxmlformats.org/drawingml/2006/main">
              <a:ext uri="{FF2B5EF4-FFF2-40B4-BE49-F238E27FC236}">
                <a16:creationId xmlns:a16="http://schemas.microsoft.com/office/drawing/2014/main" id="{5E6B6A3A-AC5F-4337-B5D9-7742FFB15340}"/>
              </a:ext>
            </a:extLst>
          </p:cNvPr>
          <p:cNvSpPr>
            <a:spLocks xmlns:a="http://schemas.openxmlformats.org/drawingml/2006/main" noGrp="1"/>
          </p:cNvSpPr>
          <p:nvPr/>
        </p:nvSpPr>
        <p:spPr>
          <a:xfrm xmlns:a="http://schemas.openxmlformats.org/drawingml/2006/main">
            <a:off x="4419600" y="223837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3" name="">
            <a:extLst xmlns:a="http://schemas.openxmlformats.org/drawingml/2006/main">
              <a:ext uri="{FF2B5EF4-FFF2-40B4-BE49-F238E27FC236}">
                <a16:creationId xmlns:a16="http://schemas.microsoft.com/office/drawing/2014/main" id="{75C1D63D-4F49-48BF-ABAE-D5CE4858E31B}"/>
              </a:ext>
            </a:extLst>
          </p:cNvPr>
          <p:cNvSpPr>
            <a:spLocks xmlns:a="http://schemas.openxmlformats.org/drawingml/2006/main" noGrp="1"/>
          </p:cNvSpPr>
          <p:nvPr/>
        </p:nvSpPr>
        <p:spPr>
          <a:xfrm xmlns:a="http://schemas.openxmlformats.org/drawingml/2006/main">
            <a:off x="4419600" y="2381250"/>
            <a:ext cx="3352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333333"/>
                </a:solidFill>
                <a:latin typeface="Arial"/>
                <a:ea typeface="Arial"/>
                <a:cs typeface="Arial"/>
              </a:defRPr>
            </a:pPr>
            <a:r>
              <a:rPr sz="1425" b="0" i="0">
                <a:solidFill>
                  <a:srgbClr val="333333"/>
                </a:solidFill>
                <a:latin typeface="Arial"/>
                <a:ea typeface="Arial"/>
                <a:cs typeface="Arial"/>
              </a:rPr>
              <a:t>Different is not necessarily better. Recursive history can lag the local gradient or rotate away from useful descent directions.</a:t>
            </a:r>
          </a:p>
        </p:txBody>
      </p:sp>
      <p:sp>
        <p:nvSpPr>
          <p:cNvPr id="14" name="">
            <a:extLst xmlns:a="http://schemas.openxmlformats.org/drawingml/2006/main">
              <a:ext uri="{FF2B5EF4-FFF2-40B4-BE49-F238E27FC236}">
                <a16:creationId xmlns:a16="http://schemas.microsoft.com/office/drawing/2014/main" id="{3D001092-D7D1-4414-810B-BA3587EDB448}"/>
              </a:ext>
            </a:extLst>
          </p:cNvPr>
          <p:cNvSpPr>
            <a:spLocks xmlns:a="http://schemas.openxmlformats.org/drawingml/2006/main" noGrp="1"/>
          </p:cNvSpPr>
          <p:nvPr/>
        </p:nvSpPr>
        <p:spPr>
          <a:xfrm xmlns:a="http://schemas.openxmlformats.org/drawingml/2006/main">
            <a:off x="8153400" y="152400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RESULT</a:t>
            </a:r>
          </a:p>
        </p:txBody>
      </p:sp>
      <p:sp>
        <p:nvSpPr>
          <p:cNvPr id="15" name="">
            <a:extLst xmlns:a="http://schemas.openxmlformats.org/drawingml/2006/main">
              <a:ext uri="{FF2B5EF4-FFF2-40B4-BE49-F238E27FC236}">
                <a16:creationId xmlns:a16="http://schemas.microsoft.com/office/drawing/2014/main" id="{09BBF45A-9447-4E39-A8FE-3528E94CB8CC}"/>
              </a:ext>
            </a:extLst>
          </p:cNvPr>
          <p:cNvSpPr>
            <a:spLocks xmlns:a="http://schemas.openxmlformats.org/drawingml/2006/main" noGrp="1"/>
          </p:cNvSpPr>
          <p:nvPr/>
        </p:nvSpPr>
        <p:spPr>
          <a:xfrm xmlns:a="http://schemas.openxmlformats.org/drawingml/2006/main">
            <a:off x="8153400" y="17907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Empirical verdict</a:t>
            </a:r>
          </a:p>
        </p:txBody>
      </p:sp>
      <p:sp>
        <p:nvSpPr>
          <p:cNvPr id="16" name="">
            <a:extLst xmlns:a="http://schemas.openxmlformats.org/drawingml/2006/main">
              <a:ext uri="{FF2B5EF4-FFF2-40B4-BE49-F238E27FC236}">
                <a16:creationId xmlns:a16="http://schemas.microsoft.com/office/drawing/2014/main" id="{E8652C58-A7A5-435C-8D9C-C066644C2C8C}"/>
              </a:ext>
            </a:extLst>
          </p:cNvPr>
          <p:cNvSpPr>
            <a:spLocks xmlns:a="http://schemas.openxmlformats.org/drawingml/2006/main" noGrp="1"/>
          </p:cNvSpPr>
          <p:nvPr/>
        </p:nvSpPr>
        <p:spPr>
          <a:xfrm xmlns:a="http://schemas.openxmlformats.org/drawingml/2006/main">
            <a:off x="8153400" y="223837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7" name="">
            <a:extLst xmlns:a="http://schemas.openxmlformats.org/drawingml/2006/main">
              <a:ext uri="{FF2B5EF4-FFF2-40B4-BE49-F238E27FC236}">
                <a16:creationId xmlns:a16="http://schemas.microsoft.com/office/drawing/2014/main" id="{B68A59FE-5DA7-483A-AC70-EA739AE8D842}"/>
              </a:ext>
            </a:extLst>
          </p:cNvPr>
          <p:cNvSpPr>
            <a:spLocks xmlns:a="http://schemas.openxmlformats.org/drawingml/2006/main" noGrp="1"/>
          </p:cNvSpPr>
          <p:nvPr/>
        </p:nvSpPr>
        <p:spPr>
          <a:xfrm xmlns:a="http://schemas.openxmlformats.org/drawingml/2006/main">
            <a:off x="8153400" y="2381250"/>
            <a:ext cx="3352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333333"/>
                </a:solidFill>
                <a:latin typeface="Arial"/>
                <a:ea typeface="Arial"/>
                <a:cs typeface="Arial"/>
              </a:defRPr>
            </a:pPr>
            <a:r>
              <a:rPr sz="1425" b="0" i="0">
                <a:solidFill>
                  <a:srgbClr val="333333"/>
                </a:solidFill>
                <a:latin typeface="Arial"/>
                <a:ea typeface="Arial"/>
                <a:cs typeface="Arial"/>
              </a:rPr>
              <a:t>Across broad sweeps and matched confirmations, α provides no consistent gain and can worsen unstable high-memory cells.</a:t>
            </a:r>
          </a:p>
        </p:txBody>
      </p:sp>
      <p:sp>
        <p:nvSpPr>
          <p:cNvPr id="18" name="">
            <a:extLst xmlns:a="http://schemas.openxmlformats.org/drawingml/2006/main">
              <a:ext uri="{FF2B5EF4-FFF2-40B4-BE49-F238E27FC236}">
                <a16:creationId xmlns:a16="http://schemas.microsoft.com/office/drawing/2014/main" id="{A67D283A-FDBD-4C5D-B9D7-C4805BD9E453}"/>
              </a:ext>
            </a:extLst>
          </p:cNvPr>
          <p:cNvSpPr>
            <a:spLocks xmlns:a="http://schemas.openxmlformats.org/drawingml/2006/main" noGrp="1"/>
          </p:cNvSpPr>
          <p:nvPr/>
        </p:nvSpPr>
        <p:spPr>
          <a:xfrm xmlns:a="http://schemas.openxmlformats.org/drawingml/2006/main">
            <a:off x="876300" y="5429250"/>
            <a:ext cx="10439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i="0">
                <a:solidFill>
                  <a:srgbClr val="282828"/>
                </a:solidFill>
                <a:latin typeface="Arial"/>
                <a:ea typeface="Arial"/>
                <a:cs typeface="Arial"/>
              </a:defRPr>
            </a:pPr>
            <a:r>
              <a:rPr sz="1125" b="1" i="0">
                <a:solidFill>
                  <a:srgbClr val="282828"/>
                </a:solidFill>
                <a:latin typeface="Arial"/>
                <a:ea typeface="Arial"/>
                <a:cs typeface="Arial"/>
              </a:rPr>
              <a:t>The history correction changes the post-polar update direction, but provides no consistent accuracy gain across the tested settings.</a:t>
            </a:r>
          </a:p>
        </p:txBody>
      </p:sp>
    </p:spTree>
    <p:extLst>
      <p:ext uri="{BB962C8B-B14F-4D97-AF65-F5344CB8AC3E}">
        <p14:creationId xmlns:p14="http://schemas.microsoft.com/office/powerpoint/2010/main" val="114302628"/>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D5221351-4DCE-4953-85A3-5BC04E9B5F99}"/>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TinyViT MARS and late-momentum interaction</a:t>
            </a:r>
          </a:p>
        </p:txBody>
      </p:sp>
      <p:sp>
        <p:nvSpPr>
          <p:cNvPr id="2" name="">
            <a:extLst xmlns:a="http://schemas.openxmlformats.org/drawingml/2006/main">
              <a:ext uri="{FF2B5EF4-FFF2-40B4-BE49-F238E27FC236}">
                <a16:creationId xmlns:a16="http://schemas.microsoft.com/office/drawing/2014/main" id="{17C5E364-ED22-4B80-8012-FDE95A5E3464}"/>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8A85C24A-95A5-48B0-9089-6CB2E626C36F}"/>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A0DAB2D-D1DB-41A1-A497-F8D81A78CBF3}"/>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204150C6-FAFE-49BB-A825-3553B32EB98F}"/>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39</a:t>
            </a:r>
          </a:p>
        </p:txBody>
      </p:sp>
      <p:sp>
        <p:nvSpPr>
          <p:cNvPr id="6" name="">
            <a:extLst xmlns:a="http://schemas.openxmlformats.org/drawingml/2006/main">
              <a:ext uri="{FF2B5EF4-FFF2-40B4-BE49-F238E27FC236}">
                <a16:creationId xmlns:a16="http://schemas.microsoft.com/office/drawing/2014/main" id="{CA417348-91DE-4E9A-88B7-082E7D0C9CF6}"/>
              </a:ext>
            </a:extLst>
          </p:cNvPr>
          <p:cNvSpPr>
            <a:spLocks xmlns:a="http://schemas.openxmlformats.org/drawingml/2006/main" noGrp="1"/>
          </p:cNvSpPr>
          <p:nvPr/>
        </p:nvSpPr>
        <p:spPr>
          <a:xfrm xmlns:a="http://schemas.openxmlformats.org/drawingml/2006/main">
            <a:off x="685800" y="106680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333333"/>
                </a:solidFill>
                <a:latin typeface="Arial"/>
                <a:ea typeface="Arial"/>
                <a:cs typeface="Arial"/>
              </a:defRPr>
            </a:pPr>
            <a:r>
              <a:rPr sz="1050" b="0" i="0">
                <a:solidFill>
                  <a:srgbClr val="333333"/>
                </a:solidFill>
                <a:latin typeface="Arial"/>
                <a:ea typeface="Arial"/>
                <a:cs typeface="Arial"/>
              </a:rPr>
              <a:t>TinyViT-5M / ImageNet-100; initial LR 0.0025; 50 epochs; seeds 42, 43, and 44</a:t>
            </a:r>
          </a:p>
        </p:txBody>
      </p:sp>
      <p:sp>
        <p:nvSpPr>
          <p:cNvPr id="7" name="">
            <a:extLst xmlns:a="http://schemas.openxmlformats.org/drawingml/2006/main">
              <a:ext uri="{FF2B5EF4-FFF2-40B4-BE49-F238E27FC236}">
                <a16:creationId xmlns:a16="http://schemas.microsoft.com/office/drawing/2014/main" id="{FB2B0AC9-4FBA-4337-8EF0-B7227E9352D1}"/>
              </a:ext>
            </a:extLst>
          </p:cNvPr>
          <p:cNvSpPr>
            <a:spLocks xmlns:a="http://schemas.openxmlformats.org/drawingml/2006/main" noGrp="1"/>
          </p:cNvSpPr>
          <p:nvPr/>
        </p:nvSpPr>
        <p:spPr>
          <a:xfrm xmlns:a="http://schemas.openxmlformats.org/drawingml/2006/main">
            <a:off x="685800" y="13144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333333"/>
                </a:solidFill>
                <a:latin typeface="Arial"/>
                <a:ea typeface="Arial"/>
                <a:cs typeface="Arial"/>
              </a:defRPr>
            </a:pPr>
            <a:r>
              <a:rPr sz="1050" b="0" i="0">
                <a:solidFill>
                  <a:srgbClr val="333333"/>
                </a:solidFill>
                <a:latin typeface="Arial"/>
                <a:ea typeface="Arial"/>
                <a:cs typeface="Arial"/>
              </a:rPr>
              <a:t>Late beta decay: 0.98 to 0.50 during epochs 36 to 48. MARS gamma 0.35; Mu² alpha 0.</a:t>
            </a:r>
          </a:p>
        </p:txBody>
      </p:sp>
      <p:sp>
        <p:nvSpPr>
          <p:cNvPr id="8" name="">
            <a:extLst xmlns:a="http://schemas.openxmlformats.org/drawingml/2006/main">
              <a:ext uri="{FF2B5EF4-FFF2-40B4-BE49-F238E27FC236}">
                <a16:creationId xmlns:a16="http://schemas.microsoft.com/office/drawing/2014/main" id="{8FD83101-9024-41BB-A083-3B8ACE1FFDE7}"/>
              </a:ext>
            </a:extLst>
          </p:cNvPr>
          <p:cNvSpPr>
            <a:spLocks xmlns:a="http://schemas.openxmlformats.org/drawingml/2006/main" noGrp="1"/>
          </p:cNvSpPr>
          <p:nvPr/>
        </p:nvSpPr>
        <p:spPr>
          <a:xfrm xmlns:a="http://schemas.openxmlformats.org/drawingml/2006/main">
            <a:off x="685800" y="1543050"/>
            <a:ext cx="10820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0" i="0">
                <a:solidFill>
                  <a:srgbClr val="666666"/>
                </a:solidFill>
                <a:latin typeface="Arial"/>
                <a:ea typeface="Arial"/>
                <a:cs typeface="Arial"/>
              </a:defRPr>
            </a:pPr>
            <a:r>
              <a:rPr sz="825" b="0" i="0">
                <a:solidFill>
                  <a:srgbClr val="666666"/>
                </a:solidFill>
                <a:latin typeface="Arial"/>
                <a:ea typeface="Arial"/>
                <a:cs typeface="Arial"/>
              </a:rPr>
              <a:t>Dots = paired seed differences; crossbars = paired mean ± paired-difference sample SD.</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9e7fe53fd884755"/>
          <a:stretch xmlns:a="http://schemas.openxmlformats.org/drawingml/2006/main"/>
        </p:blipFill>
        <p:spPr>
          <a:xfrm xmlns:a="http://schemas.openxmlformats.org/drawingml/2006/main">
            <a:off x="1425790" y="1733550"/>
            <a:ext cx="9340420" cy="41529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E5ABAA1D-4560-46EC-8897-BB52CF2A3A56}"/>
              </a:ext>
            </a:extLst>
          </p:cNvPr>
          <p:cNvSpPr>
            <a:spLocks xmlns:a="http://schemas.openxmlformats.org/drawingml/2006/main" noGrp="1"/>
          </p:cNvSpPr>
          <p:nvPr/>
        </p:nvSpPr>
        <p:spPr>
          <a:xfrm xmlns:a="http://schemas.openxmlformats.org/drawingml/2006/main">
            <a:off x="876300" y="5943600"/>
            <a:ext cx="10439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i="0">
                <a:solidFill>
                  <a:srgbClr val="282828"/>
                </a:solidFill>
                <a:latin typeface="Arial"/>
                <a:ea typeface="Arial"/>
                <a:cs typeface="Arial"/>
              </a:defRPr>
            </a:pPr>
            <a:r>
              <a:rPr sz="975" b="1" i="0">
                <a:solidFill>
                  <a:srgbClr val="282828"/>
                </a:solidFill>
                <a:latin typeface="Arial"/>
                <a:ea typeface="Arial"/>
                <a:cs typeface="Arial"/>
              </a:rPr>
              <a:t>The +0.18 ± 0.29 pp MARS increment after late decay is descriptive and does not establish additive synergy.</a:t>
            </a:r>
          </a:p>
        </p:txBody>
      </p:sp>
    </p:spTree>
    <p:extLst>
      <p:ext uri="{BB962C8B-B14F-4D97-AF65-F5344CB8AC3E}">
        <p14:creationId xmlns:p14="http://schemas.microsoft.com/office/powerpoint/2010/main" val="245388755"/>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
            <a:extLst xmlns:a="http://schemas.openxmlformats.org/drawingml/2006/main">
              <a:ext uri="{FF2B5EF4-FFF2-40B4-BE49-F238E27FC236}">
                <a16:creationId xmlns:a16="http://schemas.microsoft.com/office/drawing/2014/main" id="{FBFE1B84-9606-4A2F-A33A-FCA50059BFD5}"/>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Results summary</a:t>
            </a:r>
          </a:p>
        </p:txBody>
      </p:sp>
      <p:sp>
        <p:nvSpPr>
          <p:cNvPr id="2" name="">
            <a:extLst xmlns:a="http://schemas.openxmlformats.org/drawingml/2006/main">
              <a:ext uri="{FF2B5EF4-FFF2-40B4-BE49-F238E27FC236}">
                <a16:creationId xmlns:a16="http://schemas.microsoft.com/office/drawing/2014/main" id="{C36EABCE-2ABF-4B9C-AE1F-C12EA6C4DBF4}"/>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C8195796-F149-4FE8-8BA8-C0CF00CC29A1}"/>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99A290D-AAE5-4366-8CB0-1B5C54241494}"/>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EDF28871-B342-4300-9E0E-A3E50AD7BDDE}"/>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40</a:t>
            </a:r>
          </a:p>
        </p:txBody>
      </p:sp>
      <p:sp>
        <p:nvSpPr>
          <p:cNvPr id="6" name="">
            <a:extLst xmlns:a="http://schemas.openxmlformats.org/drawingml/2006/main">
              <a:ext uri="{FF2B5EF4-FFF2-40B4-BE49-F238E27FC236}">
                <a16:creationId xmlns:a16="http://schemas.microsoft.com/office/drawing/2014/main" id="{E3CE3806-0401-4AC2-818B-CF9A61489EB3}"/>
              </a:ext>
            </a:extLst>
          </p:cNvPr>
          <p:cNvSpPr>
            <a:spLocks xmlns:a="http://schemas.openxmlformats.org/drawingml/2006/main" noGrp="1"/>
          </p:cNvSpPr>
          <p:nvPr/>
        </p:nvSpPr>
        <p:spPr>
          <a:xfrm xmlns:a="http://schemas.openxmlformats.org/drawingml/2006/main">
            <a:off x="838200" y="160020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666666"/>
                </a:solidFill>
                <a:latin typeface="Arial"/>
                <a:ea typeface="Arial"/>
                <a:cs typeface="Arial"/>
              </a:defRPr>
            </a:pPr>
            <a:r>
              <a:rPr sz="975" b="1" i="0">
                <a:solidFill>
                  <a:srgbClr val="666666"/>
                </a:solidFill>
                <a:latin typeface="Arial"/>
                <a:ea typeface="Arial"/>
                <a:cs typeface="Arial"/>
              </a:rPr>
              <a:t>Mechanism</a:t>
            </a:r>
          </a:p>
        </p:txBody>
      </p:sp>
      <p:sp>
        <p:nvSpPr>
          <p:cNvPr id="7" name="">
            <a:extLst xmlns:a="http://schemas.openxmlformats.org/drawingml/2006/main">
              <a:ext uri="{FF2B5EF4-FFF2-40B4-BE49-F238E27FC236}">
                <a16:creationId xmlns:a16="http://schemas.microsoft.com/office/drawing/2014/main" id="{1099B1C9-1180-42E4-84E5-A0B4AE4E0311}"/>
              </a:ext>
            </a:extLst>
          </p:cNvPr>
          <p:cNvSpPr>
            <a:spLocks xmlns:a="http://schemas.openxmlformats.org/drawingml/2006/main" noGrp="1"/>
          </p:cNvSpPr>
          <p:nvPr/>
        </p:nvSpPr>
        <p:spPr>
          <a:xfrm xmlns:a="http://schemas.openxmlformats.org/drawingml/2006/main">
            <a:off x="3143250" y="1600200"/>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666666"/>
                </a:solidFill>
                <a:latin typeface="Arial"/>
                <a:ea typeface="Arial"/>
                <a:cs typeface="Arial"/>
              </a:defRPr>
            </a:pPr>
            <a:r>
              <a:rPr sz="975" b="1" i="0">
                <a:solidFill>
                  <a:srgbClr val="666666"/>
                </a:solidFill>
                <a:latin typeface="Arial"/>
                <a:ea typeface="Arial"/>
                <a:cs typeface="Arial"/>
              </a:rPr>
              <a:t>What it changes</a:t>
            </a:r>
          </a:p>
        </p:txBody>
      </p:sp>
      <p:sp>
        <p:nvSpPr>
          <p:cNvPr id="8" name="">
            <a:extLst xmlns:a="http://schemas.openxmlformats.org/drawingml/2006/main">
              <a:ext uri="{FF2B5EF4-FFF2-40B4-BE49-F238E27FC236}">
                <a16:creationId xmlns:a16="http://schemas.microsoft.com/office/drawing/2014/main" id="{D15B093F-7B15-4DC9-A0C9-C973E7E77D19}"/>
              </a:ext>
            </a:extLst>
          </p:cNvPr>
          <p:cNvSpPr>
            <a:spLocks xmlns:a="http://schemas.openxmlformats.org/drawingml/2006/main" noGrp="1"/>
          </p:cNvSpPr>
          <p:nvPr/>
        </p:nvSpPr>
        <p:spPr>
          <a:xfrm xmlns:a="http://schemas.openxmlformats.org/drawingml/2006/main">
            <a:off x="5619750" y="160020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666666"/>
                </a:solidFill>
                <a:latin typeface="Arial"/>
                <a:ea typeface="Arial"/>
                <a:cs typeface="Arial"/>
              </a:defRPr>
            </a:pPr>
            <a:r>
              <a:rPr sz="975" b="1" i="0">
                <a:solidFill>
                  <a:srgbClr val="666666"/>
                </a:solidFill>
                <a:latin typeface="Arial"/>
                <a:ea typeface="Arial"/>
                <a:cs typeface="Arial"/>
              </a:rPr>
              <a:t>Where tested</a:t>
            </a:r>
          </a:p>
        </p:txBody>
      </p:sp>
      <p:sp>
        <p:nvSpPr>
          <p:cNvPr id="9" name="">
            <a:extLst xmlns:a="http://schemas.openxmlformats.org/drawingml/2006/main">
              <a:ext uri="{FF2B5EF4-FFF2-40B4-BE49-F238E27FC236}">
                <a16:creationId xmlns:a16="http://schemas.microsoft.com/office/drawing/2014/main" id="{9241313D-29FB-4429-8C6C-792522A4E501}"/>
              </a:ext>
            </a:extLst>
          </p:cNvPr>
          <p:cNvSpPr>
            <a:spLocks xmlns:a="http://schemas.openxmlformats.org/drawingml/2006/main" noGrp="1"/>
          </p:cNvSpPr>
          <p:nvPr/>
        </p:nvSpPr>
        <p:spPr>
          <a:xfrm xmlns:a="http://schemas.openxmlformats.org/drawingml/2006/main">
            <a:off x="8401050" y="1600200"/>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666666"/>
                </a:solidFill>
                <a:latin typeface="Arial"/>
                <a:ea typeface="Arial"/>
                <a:cs typeface="Arial"/>
              </a:defRPr>
            </a:pPr>
            <a:r>
              <a:rPr sz="975" b="1" i="0">
                <a:solidFill>
                  <a:srgbClr val="666666"/>
                </a:solidFill>
                <a:latin typeface="Arial"/>
                <a:ea typeface="Arial"/>
                <a:cs typeface="Arial"/>
              </a:rPr>
              <a:t>Observed role</a:t>
            </a:r>
          </a:p>
        </p:txBody>
      </p:sp>
      <p:sp>
        <p:nvSpPr>
          <p:cNvPr id="10" name="">
            <a:extLst xmlns:a="http://schemas.openxmlformats.org/drawingml/2006/main">
              <a:ext uri="{FF2B5EF4-FFF2-40B4-BE49-F238E27FC236}">
                <a16:creationId xmlns:a16="http://schemas.microsoft.com/office/drawing/2014/main" id="{2AC91B61-259C-4C4B-A1B4-11C25FE43BB7}"/>
              </a:ext>
            </a:extLst>
          </p:cNvPr>
          <p:cNvSpPr>
            <a:spLocks xmlns:a="http://schemas.openxmlformats.org/drawingml/2006/main" noGrp="1"/>
          </p:cNvSpPr>
          <p:nvPr/>
        </p:nvSpPr>
        <p:spPr>
          <a:xfrm xmlns:a="http://schemas.openxmlformats.org/drawingml/2006/main">
            <a:off x="685800" y="1981200"/>
            <a:ext cx="10820400" cy="97155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444444"/>
            </a:solidFill>
            <a:prstDash val="solid"/>
          </a:ln>
        </p:spPr>
      </p:sp>
      <p:sp>
        <p:nvSpPr>
          <p:cNvPr id="11" name="">
            <a:extLst xmlns:a="http://schemas.openxmlformats.org/drawingml/2006/main">
              <a:ext uri="{FF2B5EF4-FFF2-40B4-BE49-F238E27FC236}">
                <a16:creationId xmlns:a16="http://schemas.microsoft.com/office/drawing/2014/main" id="{804B5B73-CD43-4434-9BA2-280A97AE3A52}"/>
              </a:ext>
            </a:extLst>
          </p:cNvPr>
          <p:cNvSpPr>
            <a:spLocks xmlns:a="http://schemas.openxmlformats.org/drawingml/2006/main" noGrp="1"/>
          </p:cNvSpPr>
          <p:nvPr/>
        </p:nvSpPr>
        <p:spPr>
          <a:xfrm xmlns:a="http://schemas.openxmlformats.org/drawingml/2006/main">
            <a:off x="857250" y="2114550"/>
            <a:ext cx="2000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i="0">
                <a:solidFill>
                  <a:srgbClr val="282828"/>
                </a:solidFill>
                <a:latin typeface="Arial"/>
                <a:ea typeface="Arial"/>
                <a:cs typeface="Arial"/>
              </a:defRPr>
            </a:pPr>
            <a:r>
              <a:rPr sz="1500" b="1" i="0">
                <a:solidFill>
                  <a:srgbClr val="282828"/>
                </a:solidFill>
                <a:latin typeface="Arial"/>
                <a:ea typeface="Arial"/>
                <a:cs typeface="Arial"/>
              </a:rPr>
              <a:t>MARS-inspired</a:t>
            </a:r>
          </a:p>
        </p:txBody>
      </p:sp>
      <p:sp>
        <p:nvSpPr>
          <p:cNvPr id="12" name="">
            <a:extLst xmlns:a="http://schemas.openxmlformats.org/drawingml/2006/main">
              <a:ext uri="{FF2B5EF4-FFF2-40B4-BE49-F238E27FC236}">
                <a16:creationId xmlns:a16="http://schemas.microsoft.com/office/drawing/2014/main" id="{FC8FA9D8-AD0F-423B-AC48-9D716C54A08F}"/>
              </a:ext>
            </a:extLst>
          </p:cNvPr>
          <p:cNvSpPr>
            <a:spLocks xmlns:a="http://schemas.openxmlformats.org/drawingml/2006/main" noGrp="1"/>
          </p:cNvSpPr>
          <p:nvPr/>
        </p:nvSpPr>
        <p:spPr>
          <a:xfrm xmlns:a="http://schemas.openxmlformats.org/drawingml/2006/main">
            <a:off x="3143250" y="2190750"/>
            <a:ext cx="209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i="0">
                <a:solidFill>
                  <a:srgbClr val="333333"/>
                </a:solidFill>
                <a:latin typeface="Arial"/>
                <a:ea typeface="Arial"/>
                <a:cs typeface="Arial"/>
              </a:defRPr>
            </a:pPr>
            <a:r>
              <a:rPr sz="1200" b="0" i="0">
                <a:solidFill>
                  <a:srgbClr val="333333"/>
                </a:solidFill>
                <a:latin typeface="Arial"/>
                <a:ea typeface="Arial"/>
                <a:cs typeface="Arial"/>
              </a:rPr>
              <a:t>Gradient difference</a:t>
            </a:r>
          </a:p>
        </p:txBody>
      </p:sp>
      <p:sp>
        <p:nvSpPr>
          <p:cNvPr id="13" name="">
            <a:extLst xmlns:a="http://schemas.openxmlformats.org/drawingml/2006/main">
              <a:ext uri="{FF2B5EF4-FFF2-40B4-BE49-F238E27FC236}">
                <a16:creationId xmlns:a16="http://schemas.microsoft.com/office/drawing/2014/main" id="{B7948460-970F-49AA-9F5E-955526F57F2F}"/>
              </a:ext>
            </a:extLst>
          </p:cNvPr>
          <p:cNvSpPr>
            <a:spLocks xmlns:a="http://schemas.openxmlformats.org/drawingml/2006/main" noGrp="1"/>
          </p:cNvSpPr>
          <p:nvPr/>
        </p:nvSpPr>
        <p:spPr>
          <a:xfrm xmlns:a="http://schemas.openxmlformats.org/drawingml/2006/main">
            <a:off x="5619750" y="2152650"/>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i="0">
                <a:solidFill>
                  <a:srgbClr val="333333"/>
                </a:solidFill>
                <a:latin typeface="Arial"/>
                <a:ea typeface="Arial"/>
                <a:cs typeface="Arial"/>
              </a:defRPr>
            </a:pPr>
            <a:r>
              <a:rPr sz="1200" b="0" i="0">
                <a:solidFill>
                  <a:srgbClr val="333333"/>
                </a:solidFill>
                <a:latin typeface="Arial"/>
                <a:ea typeface="Arial"/>
                <a:cs typeface="Arial"/>
              </a:rPr>
              <a:t>Selected higher-LR cells</a:t>
            </a:r>
          </a:p>
        </p:txBody>
      </p:sp>
      <p:sp>
        <p:nvSpPr>
          <p:cNvPr id="14" name="">
            <a:extLst xmlns:a="http://schemas.openxmlformats.org/drawingml/2006/main">
              <a:ext uri="{FF2B5EF4-FFF2-40B4-BE49-F238E27FC236}">
                <a16:creationId xmlns:a16="http://schemas.microsoft.com/office/drawing/2014/main" id="{38D18B61-2C67-4CA2-B7F4-744112AFCA2C}"/>
              </a:ext>
            </a:extLst>
          </p:cNvPr>
          <p:cNvSpPr>
            <a:spLocks xmlns:a="http://schemas.openxmlformats.org/drawingml/2006/main" noGrp="1"/>
          </p:cNvSpPr>
          <p:nvPr/>
        </p:nvSpPr>
        <p:spPr>
          <a:xfrm xmlns:a="http://schemas.openxmlformats.org/drawingml/2006/main">
            <a:off x="8305800" y="2095500"/>
            <a:ext cx="295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1" i="0">
                <a:solidFill>
                  <a:srgbClr val="444444"/>
                </a:solidFill>
                <a:latin typeface="Arial"/>
                <a:ea typeface="Arial"/>
                <a:cs typeface="Arial"/>
              </a:defRPr>
            </a:pPr>
            <a:r>
              <a:rPr sz="1275" b="1" i="0">
                <a:solidFill>
                  <a:srgbClr val="444444"/>
                </a:solidFill>
                <a:latin typeface="Arial"/>
                <a:ea typeface="Arial"/>
                <a:cs typeface="Arial"/>
              </a:rPr>
              <a:t>Small conditional gain</a:t>
            </a:r>
          </a:p>
        </p:txBody>
      </p:sp>
      <p:sp>
        <p:nvSpPr>
          <p:cNvPr id="15" name="">
            <a:extLst xmlns:a="http://schemas.openxmlformats.org/drawingml/2006/main">
              <a:ext uri="{FF2B5EF4-FFF2-40B4-BE49-F238E27FC236}">
                <a16:creationId xmlns:a16="http://schemas.microsoft.com/office/drawing/2014/main" id="{AD9A9577-5660-4A9E-A10F-552399ED0BEA}"/>
              </a:ext>
            </a:extLst>
          </p:cNvPr>
          <p:cNvSpPr>
            <a:spLocks xmlns:a="http://schemas.openxmlformats.org/drawingml/2006/main" noGrp="1"/>
          </p:cNvSpPr>
          <p:nvPr/>
        </p:nvSpPr>
        <p:spPr>
          <a:xfrm xmlns:a="http://schemas.openxmlformats.org/drawingml/2006/main">
            <a:off x="685800" y="3105150"/>
            <a:ext cx="10820400" cy="97155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555555"/>
            </a:solidFill>
            <a:prstDash val="solid"/>
          </a:ln>
        </p:spPr>
      </p:sp>
      <p:sp>
        <p:nvSpPr>
          <p:cNvPr id="16" name="">
            <a:extLst xmlns:a="http://schemas.openxmlformats.org/drawingml/2006/main">
              <a:ext uri="{FF2B5EF4-FFF2-40B4-BE49-F238E27FC236}">
                <a16:creationId xmlns:a16="http://schemas.microsoft.com/office/drawing/2014/main" id="{3765DCBB-0FF6-4E9B-9ED0-8F48041528AE}"/>
              </a:ext>
            </a:extLst>
          </p:cNvPr>
          <p:cNvSpPr>
            <a:spLocks xmlns:a="http://schemas.openxmlformats.org/drawingml/2006/main" noGrp="1"/>
          </p:cNvSpPr>
          <p:nvPr/>
        </p:nvSpPr>
        <p:spPr>
          <a:xfrm xmlns:a="http://schemas.openxmlformats.org/drawingml/2006/main">
            <a:off x="857250" y="3238500"/>
            <a:ext cx="2000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1" i="0">
                <a:solidFill>
                  <a:srgbClr val="282828"/>
                </a:solidFill>
                <a:latin typeface="Arial"/>
                <a:ea typeface="Arial"/>
                <a:cs typeface="Arial"/>
              </a:defRPr>
            </a:pPr>
            <a:r>
              <a:rPr sz="1125" b="1" i="0">
                <a:solidFill>
                  <a:srgbClr val="282828"/>
                </a:solidFill>
                <a:latin typeface="Arial"/>
                <a:ea typeface="Arial"/>
                <a:cs typeface="Arial"/>
              </a:rPr>
              <a:t>Momentum choice and scheduling</a:t>
            </a:r>
          </a:p>
        </p:txBody>
      </p:sp>
      <p:sp>
        <p:nvSpPr>
          <p:cNvPr id="17" name="">
            <a:extLst xmlns:a="http://schemas.openxmlformats.org/drawingml/2006/main">
              <a:ext uri="{FF2B5EF4-FFF2-40B4-BE49-F238E27FC236}">
                <a16:creationId xmlns:a16="http://schemas.microsoft.com/office/drawing/2014/main" id="{CF6ABF41-C719-470E-BC66-940B39EA7BE9}"/>
              </a:ext>
            </a:extLst>
          </p:cNvPr>
          <p:cNvSpPr>
            <a:spLocks xmlns:a="http://schemas.openxmlformats.org/drawingml/2006/main" noGrp="1"/>
          </p:cNvSpPr>
          <p:nvPr/>
        </p:nvSpPr>
        <p:spPr>
          <a:xfrm xmlns:a="http://schemas.openxmlformats.org/drawingml/2006/main">
            <a:off x="3143250" y="3314700"/>
            <a:ext cx="209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i="0">
                <a:solidFill>
                  <a:srgbClr val="333333"/>
                </a:solidFill>
                <a:latin typeface="Arial"/>
                <a:ea typeface="Arial"/>
                <a:cs typeface="Arial"/>
              </a:defRPr>
            </a:pPr>
            <a:r>
              <a:rPr sz="1200" b="0" i="0">
                <a:solidFill>
                  <a:srgbClr val="333333"/>
                </a:solidFill>
                <a:latin typeface="Arial"/>
                <a:ea typeface="Arial"/>
                <a:cs typeface="Arial"/>
              </a:rPr>
              <a:t>Directional memory</a:t>
            </a:r>
          </a:p>
        </p:txBody>
      </p:sp>
      <p:sp>
        <p:nvSpPr>
          <p:cNvPr id="18" name="">
            <a:extLst xmlns:a="http://schemas.openxmlformats.org/drawingml/2006/main">
              <a:ext uri="{FF2B5EF4-FFF2-40B4-BE49-F238E27FC236}">
                <a16:creationId xmlns:a16="http://schemas.microsoft.com/office/drawing/2014/main" id="{568427F0-FC4B-4D98-BFD5-9C90243166FE}"/>
              </a:ext>
            </a:extLst>
          </p:cNvPr>
          <p:cNvSpPr>
            <a:spLocks xmlns:a="http://schemas.openxmlformats.org/drawingml/2006/main" noGrp="1"/>
          </p:cNvSpPr>
          <p:nvPr/>
        </p:nvSpPr>
        <p:spPr>
          <a:xfrm xmlns:a="http://schemas.openxmlformats.org/drawingml/2006/main">
            <a:off x="5619750" y="3276600"/>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i="0">
                <a:solidFill>
                  <a:srgbClr val="333333"/>
                </a:solidFill>
                <a:latin typeface="Arial"/>
                <a:ea typeface="Arial"/>
                <a:cs typeface="Arial"/>
              </a:defRPr>
            </a:pPr>
            <a:r>
              <a:rPr sz="1050" b="0" i="0">
                <a:solidFill>
                  <a:srgbClr val="333333"/>
                </a:solidFill>
                <a:latin typeface="Arial"/>
                <a:ea typeface="Arial"/>
                <a:cs typeface="Arial"/>
              </a:rPr>
              <a:t>Stress cells; late constant-LR window</a:t>
            </a:r>
          </a:p>
        </p:txBody>
      </p:sp>
      <p:sp>
        <p:nvSpPr>
          <p:cNvPr id="19" name="">
            <a:extLst xmlns:a="http://schemas.openxmlformats.org/drawingml/2006/main">
              <a:ext uri="{FF2B5EF4-FFF2-40B4-BE49-F238E27FC236}">
                <a16:creationId xmlns:a16="http://schemas.microsoft.com/office/drawing/2014/main" id="{8525756E-63D3-44CE-BD2F-9422BD2BBA86}"/>
              </a:ext>
            </a:extLst>
          </p:cNvPr>
          <p:cNvSpPr>
            <a:spLocks xmlns:a="http://schemas.openxmlformats.org/drawingml/2006/main" noGrp="1"/>
          </p:cNvSpPr>
          <p:nvPr/>
        </p:nvSpPr>
        <p:spPr>
          <a:xfrm xmlns:a="http://schemas.openxmlformats.org/drawingml/2006/main">
            <a:off x="8305800" y="3219450"/>
            <a:ext cx="295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1" i="0">
                <a:solidFill>
                  <a:srgbClr val="555555"/>
                </a:solidFill>
                <a:latin typeface="Arial"/>
                <a:ea typeface="Arial"/>
                <a:cs typeface="Arial"/>
              </a:defRPr>
            </a:pPr>
            <a:r>
              <a:rPr sz="975" b="1" i="0">
                <a:solidFill>
                  <a:srgbClr val="555555"/>
                </a:solidFill>
                <a:latin typeface="Arial"/>
                <a:ea typeface="Arial"/>
                <a:cs typeface="Arial"/>
              </a:rPr>
              <a:t>Lower fixed β avoids collapse in tested stress cells; late β decay adds 1.58 pp under constant LR.</a:t>
            </a:r>
          </a:p>
        </p:txBody>
      </p:sp>
      <p:sp>
        <p:nvSpPr>
          <p:cNvPr id="20" name="">
            <a:extLst xmlns:a="http://schemas.openxmlformats.org/drawingml/2006/main">
              <a:ext uri="{FF2B5EF4-FFF2-40B4-BE49-F238E27FC236}">
                <a16:creationId xmlns:a16="http://schemas.microsoft.com/office/drawing/2014/main" id="{4F4A5495-5EB1-408B-83E5-8F4DAE9DD8F5}"/>
              </a:ext>
            </a:extLst>
          </p:cNvPr>
          <p:cNvSpPr>
            <a:spLocks xmlns:a="http://schemas.openxmlformats.org/drawingml/2006/main" noGrp="1"/>
          </p:cNvSpPr>
          <p:nvPr/>
        </p:nvSpPr>
        <p:spPr>
          <a:xfrm xmlns:a="http://schemas.openxmlformats.org/drawingml/2006/main">
            <a:off x="685800" y="4229100"/>
            <a:ext cx="10820400" cy="97155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555555"/>
            </a:solidFill>
            <a:prstDash val="solid"/>
          </a:ln>
        </p:spPr>
      </p:sp>
      <p:sp>
        <p:nvSpPr>
          <p:cNvPr id="21" name="">
            <a:extLst xmlns:a="http://schemas.openxmlformats.org/drawingml/2006/main">
              <a:ext uri="{FF2B5EF4-FFF2-40B4-BE49-F238E27FC236}">
                <a16:creationId xmlns:a16="http://schemas.microsoft.com/office/drawing/2014/main" id="{EDB79841-5957-4B65-9A68-94FD5FFCB761}"/>
              </a:ext>
            </a:extLst>
          </p:cNvPr>
          <p:cNvSpPr>
            <a:spLocks xmlns:a="http://schemas.openxmlformats.org/drawingml/2006/main" noGrp="1"/>
          </p:cNvSpPr>
          <p:nvPr/>
        </p:nvSpPr>
        <p:spPr>
          <a:xfrm xmlns:a="http://schemas.openxmlformats.org/drawingml/2006/main">
            <a:off x="857250" y="4362450"/>
            <a:ext cx="2000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i="0">
                <a:solidFill>
                  <a:srgbClr val="282828"/>
                </a:solidFill>
                <a:latin typeface="Arial"/>
                <a:ea typeface="Arial"/>
                <a:cs typeface="Arial"/>
              </a:defRPr>
            </a:pPr>
            <a:r>
              <a:rPr sz="1500" b="1" i="0">
                <a:solidFill>
                  <a:srgbClr val="282828"/>
                </a:solidFill>
                <a:latin typeface="Arial"/>
                <a:ea typeface="Arial"/>
                <a:cs typeface="Arial"/>
              </a:rPr>
              <a:t>Mu²-inspired</a:t>
            </a:r>
          </a:p>
        </p:txBody>
      </p:sp>
      <p:sp>
        <p:nvSpPr>
          <p:cNvPr id="22" name="">
            <a:extLst xmlns:a="http://schemas.openxmlformats.org/drawingml/2006/main">
              <a:ext uri="{FF2B5EF4-FFF2-40B4-BE49-F238E27FC236}">
                <a16:creationId xmlns:a16="http://schemas.microsoft.com/office/drawing/2014/main" id="{467475AD-D99C-450B-99FE-3C94C95F9DF2}"/>
              </a:ext>
            </a:extLst>
          </p:cNvPr>
          <p:cNvSpPr>
            <a:spLocks xmlns:a="http://schemas.openxmlformats.org/drawingml/2006/main" noGrp="1"/>
          </p:cNvSpPr>
          <p:nvPr/>
        </p:nvSpPr>
        <p:spPr>
          <a:xfrm xmlns:a="http://schemas.openxmlformats.org/drawingml/2006/main">
            <a:off x="3143250" y="4438650"/>
            <a:ext cx="209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i="0">
                <a:solidFill>
                  <a:srgbClr val="333333"/>
                </a:solidFill>
                <a:latin typeface="Arial"/>
                <a:ea typeface="Arial"/>
                <a:cs typeface="Arial"/>
              </a:defRPr>
            </a:pPr>
            <a:r>
              <a:rPr sz="1200" b="0" i="0">
                <a:solidFill>
                  <a:srgbClr val="333333"/>
                </a:solidFill>
                <a:latin typeface="Arial"/>
                <a:ea typeface="Arial"/>
                <a:cs typeface="Arial"/>
              </a:rPr>
              <a:t>Recursive direction</a:t>
            </a:r>
          </a:p>
        </p:txBody>
      </p:sp>
      <p:sp>
        <p:nvSpPr>
          <p:cNvPr id="23" name="">
            <a:extLst xmlns:a="http://schemas.openxmlformats.org/drawingml/2006/main">
              <a:ext uri="{FF2B5EF4-FFF2-40B4-BE49-F238E27FC236}">
                <a16:creationId xmlns:a16="http://schemas.microsoft.com/office/drawing/2014/main" id="{9938DE26-B09D-46F6-BDAF-0C00AA2511BD}"/>
              </a:ext>
            </a:extLst>
          </p:cNvPr>
          <p:cNvSpPr>
            <a:spLocks xmlns:a="http://schemas.openxmlformats.org/drawingml/2006/main" noGrp="1"/>
          </p:cNvSpPr>
          <p:nvPr/>
        </p:nvSpPr>
        <p:spPr>
          <a:xfrm xmlns:a="http://schemas.openxmlformats.org/drawingml/2006/main">
            <a:off x="5619750" y="4400550"/>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i="0">
                <a:solidFill>
                  <a:srgbClr val="333333"/>
                </a:solidFill>
                <a:latin typeface="Arial"/>
                <a:ea typeface="Arial"/>
                <a:cs typeface="Arial"/>
              </a:defRPr>
            </a:pPr>
            <a:r>
              <a:rPr sz="1200" b="0" i="0">
                <a:solidFill>
                  <a:srgbClr val="333333"/>
                </a:solidFill>
                <a:latin typeface="Arial"/>
                <a:ea typeface="Arial"/>
                <a:cs typeface="Arial"/>
              </a:rPr>
              <a:t>Broad α–β sweeps</a:t>
            </a:r>
          </a:p>
        </p:txBody>
      </p:sp>
      <p:sp>
        <p:nvSpPr>
          <p:cNvPr id="24" name="">
            <a:extLst xmlns:a="http://schemas.openxmlformats.org/drawingml/2006/main">
              <a:ext uri="{FF2B5EF4-FFF2-40B4-BE49-F238E27FC236}">
                <a16:creationId xmlns:a16="http://schemas.microsoft.com/office/drawing/2014/main" id="{1CEA4635-3941-4BD5-A449-81E153FFABB1}"/>
              </a:ext>
            </a:extLst>
          </p:cNvPr>
          <p:cNvSpPr>
            <a:spLocks xmlns:a="http://schemas.openxmlformats.org/drawingml/2006/main" noGrp="1"/>
          </p:cNvSpPr>
          <p:nvPr/>
        </p:nvSpPr>
        <p:spPr>
          <a:xfrm xmlns:a="http://schemas.openxmlformats.org/drawingml/2006/main">
            <a:off x="8305800" y="4343400"/>
            <a:ext cx="295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1" i="0">
                <a:solidFill>
                  <a:srgbClr val="555555"/>
                </a:solidFill>
                <a:latin typeface="Arial"/>
                <a:ea typeface="Arial"/>
                <a:cs typeface="Arial"/>
              </a:defRPr>
            </a:pPr>
            <a:r>
              <a:rPr sz="1275" b="1" i="0">
                <a:solidFill>
                  <a:srgbClr val="555555"/>
                </a:solidFill>
                <a:latin typeface="Arial"/>
                <a:ea typeface="Arial"/>
                <a:cs typeface="Arial"/>
              </a:rPr>
              <a:t>Mostly neutral or negative</a:t>
            </a:r>
          </a:p>
        </p:txBody>
      </p:sp>
    </p:spTree>
    <p:extLst>
      <p:ext uri="{BB962C8B-B14F-4D97-AF65-F5344CB8AC3E}">
        <p14:creationId xmlns:p14="http://schemas.microsoft.com/office/powerpoint/2010/main" val="800927311"/>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58D2059F-97A1-4914-9A5F-EDF0C068BF60}"/>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Main conclusions</a:t>
            </a:r>
          </a:p>
        </p:txBody>
      </p:sp>
      <p:sp>
        <p:nvSpPr>
          <p:cNvPr id="2" name="">
            <a:extLst xmlns:a="http://schemas.openxmlformats.org/drawingml/2006/main">
              <a:ext uri="{FF2B5EF4-FFF2-40B4-BE49-F238E27FC236}">
                <a16:creationId xmlns:a16="http://schemas.microsoft.com/office/drawing/2014/main" id="{3F5D6D2E-6CEE-4D33-A5A2-101565604868}"/>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0AC60B43-B4DF-4EC6-AEA9-5BD057237CC0}"/>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40BD704-8972-4E14-80D6-9C2459F1750A}"/>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5DAAB214-DB16-4159-9A30-8863D3C3047B}"/>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41</a:t>
            </a:r>
          </a:p>
        </p:txBody>
      </p:sp>
      <p:sp>
        <p:nvSpPr>
          <p:cNvPr id="6" name="">
            <a:extLst xmlns:a="http://schemas.openxmlformats.org/drawingml/2006/main">
              <a:ext uri="{FF2B5EF4-FFF2-40B4-BE49-F238E27FC236}">
                <a16:creationId xmlns:a16="http://schemas.microsoft.com/office/drawing/2014/main" id="{39AFD1D3-22E4-43E5-8123-DA833C6D6787}"/>
              </a:ext>
            </a:extLst>
          </p:cNvPr>
          <p:cNvSpPr>
            <a:spLocks xmlns:a="http://schemas.openxmlformats.org/drawingml/2006/main" noGrp="1"/>
          </p:cNvSpPr>
          <p:nvPr/>
        </p:nvSpPr>
        <p:spPr>
          <a:xfrm xmlns:a="http://schemas.openxmlformats.org/drawingml/2006/main">
            <a:off x="685800" y="1466850"/>
            <a:ext cx="5105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SUPPORTED</a:t>
            </a:r>
          </a:p>
        </p:txBody>
      </p:sp>
      <p:sp>
        <p:nvSpPr>
          <p:cNvPr id="7" name="">
            <a:extLst xmlns:a="http://schemas.openxmlformats.org/drawingml/2006/main">
              <a:ext uri="{FF2B5EF4-FFF2-40B4-BE49-F238E27FC236}">
                <a16:creationId xmlns:a16="http://schemas.microsoft.com/office/drawing/2014/main" id="{1FC3EAB0-2A2B-4106-8495-436B03741BE1}"/>
              </a:ext>
            </a:extLst>
          </p:cNvPr>
          <p:cNvSpPr>
            <a:spLocks xmlns:a="http://schemas.openxmlformats.org/drawingml/2006/main" noGrp="1"/>
          </p:cNvSpPr>
          <p:nvPr/>
        </p:nvSpPr>
        <p:spPr>
          <a:xfrm xmlns:a="http://schemas.openxmlformats.org/drawingml/2006/main">
            <a:off x="685800" y="1733550"/>
            <a:ext cx="510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282828"/>
                </a:solidFill>
                <a:latin typeface="Arial"/>
                <a:ea typeface="Arial"/>
                <a:cs typeface="Arial"/>
              </a:defRPr>
            </a:pPr>
            <a:r>
              <a:rPr sz="2100" b="1" i="0">
                <a:solidFill>
                  <a:srgbClr val="282828"/>
                </a:solidFill>
                <a:latin typeface="Arial"/>
                <a:ea typeface="Arial"/>
                <a:cs typeface="Arial"/>
              </a:rPr>
              <a:t>We do claim</a:t>
            </a:r>
          </a:p>
        </p:txBody>
      </p:sp>
      <p:sp>
        <p:nvSpPr>
          <p:cNvPr id="8" name="">
            <a:extLst xmlns:a="http://schemas.openxmlformats.org/drawingml/2006/main">
              <a:ext uri="{FF2B5EF4-FFF2-40B4-BE49-F238E27FC236}">
                <a16:creationId xmlns:a16="http://schemas.microsoft.com/office/drawing/2014/main" id="{70614548-0BB3-4C94-8D51-1D82D3790DB9}"/>
              </a:ext>
            </a:extLst>
          </p:cNvPr>
          <p:cNvSpPr>
            <a:spLocks xmlns:a="http://schemas.openxmlformats.org/drawingml/2006/main" noGrp="1"/>
          </p:cNvSpPr>
          <p:nvPr/>
        </p:nvSpPr>
        <p:spPr>
          <a:xfrm xmlns:a="http://schemas.openxmlformats.org/drawingml/2006/main">
            <a:off x="685800" y="2181225"/>
            <a:ext cx="5105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9" name="">
            <a:extLst xmlns:a="http://schemas.openxmlformats.org/drawingml/2006/main">
              <a:ext uri="{FF2B5EF4-FFF2-40B4-BE49-F238E27FC236}">
                <a16:creationId xmlns:a16="http://schemas.microsoft.com/office/drawing/2014/main" id="{5346E8B1-EF66-4F88-90EB-D42974C6016F}"/>
              </a:ext>
            </a:extLst>
          </p:cNvPr>
          <p:cNvSpPr>
            <a:spLocks xmlns:a="http://schemas.openxmlformats.org/drawingml/2006/main" noGrp="1"/>
          </p:cNvSpPr>
          <p:nvPr/>
        </p:nvSpPr>
        <p:spPr>
          <a:xfrm xmlns:a="http://schemas.openxmlformats.org/drawingml/2006/main">
            <a:off x="685800" y="2324100"/>
            <a:ext cx="5105400"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 MARS gives small improvements in selected higher-LR conditions</a:t>
            </a:r>
          </a:p>
          <a:p xmlns:a="http://schemas.openxmlformats.org/drawingml/2006/main">
            <a:r>
              <a:t/>
            </a:r>
          </a:p>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 lower β prevents TinyViT collapse at stressed LR 0.01</a:t>
            </a:r>
          </a:p>
          <a:p xmlns:a="http://schemas.openxmlformats.org/drawingml/2006/main">
            <a:r>
              <a:t/>
            </a:r>
          </a:p>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 under constant LR 0.0025, late β decay adds 1.58 pp; it does not help under cosine LR</a:t>
            </a:r>
          </a:p>
          <a:p xmlns:a="http://schemas.openxmlformats.org/drawingml/2006/main">
            <a:r>
              <a:t/>
            </a:r>
          </a:p>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 Mu2 changes direction without consistent accuracy gains</a:t>
            </a:r>
          </a:p>
          <a:p xmlns:a="http://schemas.openxmlformats.org/drawingml/2006/main">
            <a:r>
              <a:t/>
            </a:r>
          </a:p>
          <a:p xmlns:a="http://schemas.openxmlformats.org/drawingml/2006/main">
            <a:pPr algn="l">
              <a:lnSpc>
                <a:spcPct val="108000"/>
              </a:lnSpc>
              <a:buNone/>
              <a:defRPr sz="1275" b="0" i="0">
                <a:solidFill>
                  <a:srgbClr val="333333"/>
                </a:solidFill>
                <a:latin typeface="Arial"/>
                <a:ea typeface="Arial"/>
                <a:cs typeface="Arial"/>
              </a:defRPr>
            </a:pPr>
            <a:r>
              <a:rPr sz="1275" b="0" i="0">
                <a:solidFill>
                  <a:srgbClr val="333333"/>
                </a:solidFill>
                <a:latin typeface="Arial"/>
                <a:ea typeface="Arial"/>
                <a:cs typeface="Arial"/>
              </a:rPr>
              <a:t>• combined mechanisms are not reliably additive</a:t>
            </a:r>
          </a:p>
        </p:txBody>
      </p:sp>
      <p:sp>
        <p:nvSpPr>
          <p:cNvPr id="10" name="">
            <a:extLst xmlns:a="http://schemas.openxmlformats.org/drawingml/2006/main">
              <a:ext uri="{FF2B5EF4-FFF2-40B4-BE49-F238E27FC236}">
                <a16:creationId xmlns:a16="http://schemas.microsoft.com/office/drawing/2014/main" id="{B9EC6EA6-EFEA-48BD-B8D2-5BFF2A5D7557}"/>
              </a:ext>
            </a:extLst>
          </p:cNvPr>
          <p:cNvSpPr>
            <a:spLocks xmlns:a="http://schemas.openxmlformats.org/drawingml/2006/main" noGrp="1"/>
          </p:cNvSpPr>
          <p:nvPr/>
        </p:nvSpPr>
        <p:spPr>
          <a:xfrm xmlns:a="http://schemas.openxmlformats.org/drawingml/2006/main">
            <a:off x="6400800" y="1466850"/>
            <a:ext cx="5105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OUT OF SCOPE</a:t>
            </a:r>
          </a:p>
        </p:txBody>
      </p:sp>
      <p:sp>
        <p:nvSpPr>
          <p:cNvPr id="11" name="">
            <a:extLst xmlns:a="http://schemas.openxmlformats.org/drawingml/2006/main">
              <a:ext uri="{FF2B5EF4-FFF2-40B4-BE49-F238E27FC236}">
                <a16:creationId xmlns:a16="http://schemas.microsoft.com/office/drawing/2014/main" id="{C884F373-4A03-423A-A055-D30E225D65DA}"/>
              </a:ext>
            </a:extLst>
          </p:cNvPr>
          <p:cNvSpPr>
            <a:spLocks xmlns:a="http://schemas.openxmlformats.org/drawingml/2006/main" noGrp="1"/>
          </p:cNvSpPr>
          <p:nvPr/>
        </p:nvSpPr>
        <p:spPr>
          <a:xfrm xmlns:a="http://schemas.openxmlformats.org/drawingml/2006/main">
            <a:off x="6400800" y="1733550"/>
            <a:ext cx="510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282828"/>
                </a:solidFill>
                <a:latin typeface="Arial"/>
                <a:ea typeface="Arial"/>
                <a:cs typeface="Arial"/>
              </a:defRPr>
            </a:pPr>
            <a:r>
              <a:rPr sz="2100" b="1" i="0">
                <a:solidFill>
                  <a:srgbClr val="282828"/>
                </a:solidFill>
                <a:latin typeface="Arial"/>
                <a:ea typeface="Arial"/>
                <a:cs typeface="Arial"/>
              </a:rPr>
              <a:t>We do not claim</a:t>
            </a:r>
          </a:p>
        </p:txBody>
      </p:sp>
      <p:sp>
        <p:nvSpPr>
          <p:cNvPr id="12" name="">
            <a:extLst xmlns:a="http://schemas.openxmlformats.org/drawingml/2006/main">
              <a:ext uri="{FF2B5EF4-FFF2-40B4-BE49-F238E27FC236}">
                <a16:creationId xmlns:a16="http://schemas.microsoft.com/office/drawing/2014/main" id="{C2DE3D89-9B5A-427A-BCC6-4B9BA6957DAB}"/>
              </a:ext>
            </a:extLst>
          </p:cNvPr>
          <p:cNvSpPr>
            <a:spLocks xmlns:a="http://schemas.openxmlformats.org/drawingml/2006/main" noGrp="1"/>
          </p:cNvSpPr>
          <p:nvPr/>
        </p:nvSpPr>
        <p:spPr>
          <a:xfrm xmlns:a="http://schemas.openxmlformats.org/drawingml/2006/main">
            <a:off x="6400800" y="2181225"/>
            <a:ext cx="5105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3" name="">
            <a:extLst xmlns:a="http://schemas.openxmlformats.org/drawingml/2006/main">
              <a:ext uri="{FF2B5EF4-FFF2-40B4-BE49-F238E27FC236}">
                <a16:creationId xmlns:a16="http://schemas.microsoft.com/office/drawing/2014/main" id="{29387187-B9EA-4BC2-A1AB-B5B5127D157B}"/>
              </a:ext>
            </a:extLst>
          </p:cNvPr>
          <p:cNvSpPr>
            <a:spLocks xmlns:a="http://schemas.openxmlformats.org/drawingml/2006/main" noGrp="1"/>
          </p:cNvSpPr>
          <p:nvPr/>
        </p:nvSpPr>
        <p:spPr>
          <a:xfrm xmlns:a="http://schemas.openxmlformats.org/drawingml/2006/main">
            <a:off x="6400800" y="2324100"/>
            <a:ext cx="5105400"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333333"/>
                </a:solidFill>
                <a:latin typeface="Arial"/>
                <a:ea typeface="Arial"/>
                <a:cs typeface="Arial"/>
              </a:defRPr>
            </a:pPr>
            <a:r>
              <a:rPr sz="1425" b="0" i="0">
                <a:solidFill>
                  <a:srgbClr val="333333"/>
                </a:solidFill>
                <a:latin typeface="Arial"/>
                <a:ea typeface="Arial"/>
                <a:cs typeface="Arial"/>
              </a:rPr>
              <a:t>• a universally superior Muon variant</a:t>
            </a:r>
          </a:p>
          <a:p xmlns:a="http://schemas.openxmlformats.org/drawingml/2006/main">
            <a:r>
              <a:t/>
            </a:r>
          </a:p>
          <a:p xmlns:a="http://schemas.openxmlformats.org/drawingml/2006/main">
            <a:pPr algn="l">
              <a:lnSpc>
                <a:spcPct val="108000"/>
              </a:lnSpc>
              <a:buNone/>
              <a:defRPr sz="1425" b="0" i="0">
                <a:solidFill>
                  <a:srgbClr val="333333"/>
                </a:solidFill>
                <a:latin typeface="Arial"/>
                <a:ea typeface="Arial"/>
                <a:cs typeface="Arial"/>
              </a:defRPr>
            </a:pPr>
            <a:r>
              <a:rPr sz="1425" b="0" i="0">
                <a:solidFill>
                  <a:srgbClr val="333333"/>
                </a:solidFill>
                <a:latin typeface="Arial"/>
                <a:ea typeface="Arial"/>
                <a:cs typeface="Arial"/>
              </a:rPr>
              <a:t>• a full reproduction of MARS, MARS-M, or Mu2SGD</a:t>
            </a:r>
          </a:p>
          <a:p xmlns:a="http://schemas.openxmlformats.org/drawingml/2006/main">
            <a:r>
              <a:t/>
            </a:r>
          </a:p>
          <a:p xmlns:a="http://schemas.openxmlformats.org/drawingml/2006/main">
            <a:pPr algn="l">
              <a:lnSpc>
                <a:spcPct val="108000"/>
              </a:lnSpc>
              <a:buNone/>
              <a:defRPr sz="1425" b="0" i="0">
                <a:solidFill>
                  <a:srgbClr val="333333"/>
                </a:solidFill>
                <a:latin typeface="Arial"/>
                <a:ea typeface="Arial"/>
                <a:cs typeface="Arial"/>
              </a:defRPr>
            </a:pPr>
            <a:r>
              <a:rPr sz="1425" b="0" i="0">
                <a:solidFill>
                  <a:srgbClr val="333333"/>
                </a:solidFill>
                <a:latin typeface="Arial"/>
                <a:ea typeface="Arial"/>
                <a:cs typeface="Arial"/>
              </a:rPr>
              <a:t>• that ImageNet difficulty alone causes instability</a:t>
            </a:r>
          </a:p>
          <a:p xmlns:a="http://schemas.openxmlformats.org/drawingml/2006/main">
            <a:r>
              <a:t/>
            </a:r>
          </a:p>
          <a:p xmlns:a="http://schemas.openxmlformats.org/drawingml/2006/main">
            <a:pPr algn="l">
              <a:lnSpc>
                <a:spcPct val="108000"/>
              </a:lnSpc>
              <a:buNone/>
              <a:defRPr sz="1425" b="0" i="0">
                <a:solidFill>
                  <a:srgbClr val="333333"/>
                </a:solidFill>
                <a:latin typeface="Arial"/>
                <a:ea typeface="Arial"/>
                <a:cs typeface="Arial"/>
              </a:defRPr>
            </a:pPr>
            <a:r>
              <a:rPr sz="1425" b="0" i="0">
                <a:solidFill>
                  <a:srgbClr val="333333"/>
                </a:solidFill>
                <a:latin typeface="Arial"/>
                <a:ea typeface="Arial"/>
                <a:cs typeface="Arial"/>
              </a:rPr>
              <a:t>• a convergence theorem for nonconvex neural-network training</a:t>
            </a:r>
          </a:p>
        </p:txBody>
      </p:sp>
    </p:spTree>
    <p:extLst>
      <p:ext uri="{BB962C8B-B14F-4D97-AF65-F5344CB8AC3E}">
        <p14:creationId xmlns:p14="http://schemas.microsoft.com/office/powerpoint/2010/main" val="1183721678"/>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F232E267-47AF-4C0A-97A1-ABB70C5A1F2B}"/>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Limitations and future work</a:t>
            </a:r>
          </a:p>
        </p:txBody>
      </p:sp>
      <p:sp>
        <p:nvSpPr>
          <p:cNvPr id="2" name="">
            <a:extLst xmlns:a="http://schemas.openxmlformats.org/drawingml/2006/main">
              <a:ext uri="{FF2B5EF4-FFF2-40B4-BE49-F238E27FC236}">
                <a16:creationId xmlns:a16="http://schemas.microsoft.com/office/drawing/2014/main" id="{66C57BD7-7B3A-4549-A425-21A66288FA71}"/>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E21B74EF-797C-4BFC-BF3B-58DE3F8F079C}"/>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670AEAF-C3D3-4C87-BA38-C169D549F407}"/>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94A3C09C-8BD8-4EF7-9797-544ABF66FFAD}"/>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42</a:t>
            </a:r>
          </a:p>
        </p:txBody>
      </p:sp>
      <p:sp>
        <p:nvSpPr>
          <p:cNvPr id="6" name="">
            <a:extLst xmlns:a="http://schemas.openxmlformats.org/drawingml/2006/main">
              <a:ext uri="{FF2B5EF4-FFF2-40B4-BE49-F238E27FC236}">
                <a16:creationId xmlns:a16="http://schemas.microsoft.com/office/drawing/2014/main" id="{9D762C13-C79B-4B3F-9A3B-7556F2616E02}"/>
              </a:ext>
            </a:extLst>
          </p:cNvPr>
          <p:cNvSpPr>
            <a:spLocks xmlns:a="http://schemas.openxmlformats.org/drawingml/2006/main" noGrp="1"/>
          </p:cNvSpPr>
          <p:nvPr/>
        </p:nvSpPr>
        <p:spPr>
          <a:xfrm xmlns:a="http://schemas.openxmlformats.org/drawingml/2006/main">
            <a:off x="685800" y="150495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SCALE</a:t>
            </a:r>
          </a:p>
        </p:txBody>
      </p:sp>
      <p:sp>
        <p:nvSpPr>
          <p:cNvPr id="7" name="">
            <a:extLst xmlns:a="http://schemas.openxmlformats.org/drawingml/2006/main">
              <a:ext uri="{FF2B5EF4-FFF2-40B4-BE49-F238E27FC236}">
                <a16:creationId xmlns:a16="http://schemas.microsoft.com/office/drawing/2014/main" id="{8D252CA2-6093-4055-8173-EC79BAAFBB4D}"/>
              </a:ext>
            </a:extLst>
          </p:cNvPr>
          <p:cNvSpPr>
            <a:spLocks xmlns:a="http://schemas.openxmlformats.org/drawingml/2006/main" noGrp="1"/>
          </p:cNvSpPr>
          <p:nvPr/>
        </p:nvSpPr>
        <p:spPr>
          <a:xfrm xmlns:a="http://schemas.openxmlformats.org/drawingml/2006/main">
            <a:off x="685800" y="177165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Transfer</a:t>
            </a:r>
          </a:p>
        </p:txBody>
      </p:sp>
      <p:sp>
        <p:nvSpPr>
          <p:cNvPr id="8" name="">
            <a:extLst xmlns:a="http://schemas.openxmlformats.org/drawingml/2006/main">
              <a:ext uri="{FF2B5EF4-FFF2-40B4-BE49-F238E27FC236}">
                <a16:creationId xmlns:a16="http://schemas.microsoft.com/office/drawing/2014/main" id="{543175AF-4080-43E8-82CA-E24300CA395A}"/>
              </a:ext>
            </a:extLst>
          </p:cNvPr>
          <p:cNvSpPr>
            <a:spLocks xmlns:a="http://schemas.openxmlformats.org/drawingml/2006/main" noGrp="1"/>
          </p:cNvSpPr>
          <p:nvPr/>
        </p:nvSpPr>
        <p:spPr>
          <a:xfrm xmlns:a="http://schemas.openxmlformats.org/drawingml/2006/main">
            <a:off x="685800" y="221932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9" name="">
            <a:extLst xmlns:a="http://schemas.openxmlformats.org/drawingml/2006/main">
              <a:ext uri="{FF2B5EF4-FFF2-40B4-BE49-F238E27FC236}">
                <a16:creationId xmlns:a16="http://schemas.microsoft.com/office/drawing/2014/main" id="{105270F4-DBB3-40F3-A5E0-526C4829930D}"/>
              </a:ext>
            </a:extLst>
          </p:cNvPr>
          <p:cNvSpPr>
            <a:spLocks xmlns:a="http://schemas.openxmlformats.org/drawingml/2006/main" noGrp="1"/>
          </p:cNvSpPr>
          <p:nvPr/>
        </p:nvSpPr>
        <p:spPr>
          <a:xfrm xmlns:a="http://schemas.openxmlformats.org/drawingml/2006/main">
            <a:off x="685800" y="2362200"/>
            <a:ext cx="3352800" cy="2628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333333"/>
                </a:solidFill>
                <a:latin typeface="Arial"/>
                <a:ea typeface="Arial"/>
                <a:cs typeface="Arial"/>
              </a:defRPr>
            </a:pPr>
            <a:r>
              <a:rPr sz="1350" b="0" i="0">
                <a:solidFill>
                  <a:srgbClr val="333333"/>
                </a:solidFill>
                <a:latin typeface="Arial"/>
                <a:ea typeface="Arial"/>
                <a:cs typeface="Arial"/>
              </a:rPr>
              <a:t>Add another convolutional model, another transformer, and at least one additional dataset while keeping the same comparison contract.</a:t>
            </a:r>
          </a:p>
        </p:txBody>
      </p:sp>
      <p:sp>
        <p:nvSpPr>
          <p:cNvPr id="10" name="">
            <a:extLst xmlns:a="http://schemas.openxmlformats.org/drawingml/2006/main">
              <a:ext uri="{FF2B5EF4-FFF2-40B4-BE49-F238E27FC236}">
                <a16:creationId xmlns:a16="http://schemas.microsoft.com/office/drawing/2014/main" id="{E29648FA-BF39-48AB-9415-78896D0A28AE}"/>
              </a:ext>
            </a:extLst>
          </p:cNvPr>
          <p:cNvSpPr>
            <a:spLocks xmlns:a="http://schemas.openxmlformats.org/drawingml/2006/main" noGrp="1"/>
          </p:cNvSpPr>
          <p:nvPr/>
        </p:nvSpPr>
        <p:spPr>
          <a:xfrm xmlns:a="http://schemas.openxmlformats.org/drawingml/2006/main">
            <a:off x="4419600" y="150495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MECHANISM</a:t>
            </a:r>
          </a:p>
        </p:txBody>
      </p:sp>
      <p:sp>
        <p:nvSpPr>
          <p:cNvPr id="11" name="">
            <a:extLst xmlns:a="http://schemas.openxmlformats.org/drawingml/2006/main">
              <a:ext uri="{FF2B5EF4-FFF2-40B4-BE49-F238E27FC236}">
                <a16:creationId xmlns:a16="http://schemas.microsoft.com/office/drawing/2014/main" id="{24083F43-C06C-4C0B-8038-F8A2FCD3466E}"/>
              </a:ext>
            </a:extLst>
          </p:cNvPr>
          <p:cNvSpPr>
            <a:spLocks xmlns:a="http://schemas.openxmlformats.org/drawingml/2006/main" noGrp="1"/>
          </p:cNvSpPr>
          <p:nvPr/>
        </p:nvSpPr>
        <p:spPr>
          <a:xfrm xmlns:a="http://schemas.openxmlformats.org/drawingml/2006/main">
            <a:off x="4419600" y="177165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Diagnostics</a:t>
            </a:r>
          </a:p>
        </p:txBody>
      </p:sp>
      <p:sp>
        <p:nvSpPr>
          <p:cNvPr id="12" name="">
            <a:extLst xmlns:a="http://schemas.openxmlformats.org/drawingml/2006/main">
              <a:ext uri="{FF2B5EF4-FFF2-40B4-BE49-F238E27FC236}">
                <a16:creationId xmlns:a16="http://schemas.microsoft.com/office/drawing/2014/main" id="{D3D01B72-912D-41D7-BA94-7B7315066E53}"/>
              </a:ext>
            </a:extLst>
          </p:cNvPr>
          <p:cNvSpPr>
            <a:spLocks xmlns:a="http://schemas.openxmlformats.org/drawingml/2006/main" noGrp="1"/>
          </p:cNvSpPr>
          <p:nvPr/>
        </p:nvSpPr>
        <p:spPr>
          <a:xfrm xmlns:a="http://schemas.openxmlformats.org/drawingml/2006/main">
            <a:off x="4419600" y="221932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3" name="">
            <a:extLst xmlns:a="http://schemas.openxmlformats.org/drawingml/2006/main">
              <a:ext uri="{FF2B5EF4-FFF2-40B4-BE49-F238E27FC236}">
                <a16:creationId xmlns:a16="http://schemas.microsoft.com/office/drawing/2014/main" id="{CFED702F-E5A3-46E4-8FE0-4438D3E72595}"/>
              </a:ext>
            </a:extLst>
          </p:cNvPr>
          <p:cNvSpPr>
            <a:spLocks xmlns:a="http://schemas.openxmlformats.org/drawingml/2006/main" noGrp="1"/>
          </p:cNvSpPr>
          <p:nvPr/>
        </p:nvSpPr>
        <p:spPr>
          <a:xfrm xmlns:a="http://schemas.openxmlformats.org/drawingml/2006/main">
            <a:off x="4419600" y="2362200"/>
            <a:ext cx="3352800" cy="2628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333333"/>
                </a:solidFill>
                <a:latin typeface="Arial"/>
                <a:ea typeface="Arial"/>
                <a:cs typeface="Arial"/>
              </a:defRPr>
            </a:pPr>
            <a:r>
              <a:rPr sz="1350" b="0" i="0">
                <a:solidFill>
                  <a:srgbClr val="333333"/>
                </a:solidFill>
                <a:latin typeface="Arial"/>
                <a:ea typeface="Arial"/>
                <a:cs typeface="Arial"/>
              </a:rPr>
              <a:t>Measure variance, gradient/update angles, memory age, and sharpness to test the proposed orientation and path-length explanation.</a:t>
            </a:r>
          </a:p>
        </p:txBody>
      </p:sp>
      <p:sp>
        <p:nvSpPr>
          <p:cNvPr id="14" name="">
            <a:extLst xmlns:a="http://schemas.openxmlformats.org/drawingml/2006/main">
              <a:ext uri="{FF2B5EF4-FFF2-40B4-BE49-F238E27FC236}">
                <a16:creationId xmlns:a16="http://schemas.microsoft.com/office/drawing/2014/main" id="{05208095-0687-4401-8ED9-E8AD28C3DB92}"/>
              </a:ext>
            </a:extLst>
          </p:cNvPr>
          <p:cNvSpPr>
            <a:spLocks xmlns:a="http://schemas.openxmlformats.org/drawingml/2006/main" noGrp="1"/>
          </p:cNvSpPr>
          <p:nvPr/>
        </p:nvSpPr>
        <p:spPr>
          <a:xfrm xmlns:a="http://schemas.openxmlformats.org/drawingml/2006/main">
            <a:off x="8153400" y="1504950"/>
            <a:ext cx="335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i="0">
                <a:solidFill>
                  <a:srgbClr val="666666"/>
                </a:solidFill>
                <a:latin typeface="Arial"/>
                <a:ea typeface="Arial"/>
                <a:cs typeface="Arial"/>
              </a:defRPr>
            </a:pPr>
            <a:r>
              <a:rPr sz="750" b="1" i="0">
                <a:solidFill>
                  <a:srgbClr val="666666"/>
                </a:solidFill>
                <a:latin typeface="Arial"/>
                <a:ea typeface="Arial"/>
                <a:cs typeface="Arial"/>
              </a:rPr>
              <a:t>EVIDENCE</a:t>
            </a:r>
          </a:p>
        </p:txBody>
      </p:sp>
      <p:sp>
        <p:nvSpPr>
          <p:cNvPr id="15" name="">
            <a:extLst xmlns:a="http://schemas.openxmlformats.org/drawingml/2006/main">
              <a:ext uri="{FF2B5EF4-FFF2-40B4-BE49-F238E27FC236}">
                <a16:creationId xmlns:a16="http://schemas.microsoft.com/office/drawing/2014/main" id="{AF17B706-BDFE-4EB6-A7A7-8A93A4002A94}"/>
              </a:ext>
            </a:extLst>
          </p:cNvPr>
          <p:cNvSpPr>
            <a:spLocks xmlns:a="http://schemas.openxmlformats.org/drawingml/2006/main" noGrp="1"/>
          </p:cNvSpPr>
          <p:nvPr/>
        </p:nvSpPr>
        <p:spPr>
          <a:xfrm xmlns:a="http://schemas.openxmlformats.org/drawingml/2006/main">
            <a:off x="8153400" y="177165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282828"/>
                </a:solidFill>
                <a:latin typeface="Arial"/>
                <a:ea typeface="Arial"/>
                <a:cs typeface="Arial"/>
              </a:defRPr>
            </a:pPr>
            <a:r>
              <a:rPr sz="1725" b="1" i="0">
                <a:solidFill>
                  <a:srgbClr val="282828"/>
                </a:solidFill>
                <a:latin typeface="Arial"/>
                <a:ea typeface="Arial"/>
                <a:cs typeface="Arial"/>
              </a:rPr>
              <a:t>Confirmation</a:t>
            </a:r>
          </a:p>
        </p:txBody>
      </p:sp>
      <p:sp>
        <p:nvSpPr>
          <p:cNvPr id="16" name="">
            <a:extLst xmlns:a="http://schemas.openxmlformats.org/drawingml/2006/main">
              <a:ext uri="{FF2B5EF4-FFF2-40B4-BE49-F238E27FC236}">
                <a16:creationId xmlns:a16="http://schemas.microsoft.com/office/drawing/2014/main" id="{3F419542-32D2-40EB-A91B-178B906E506C}"/>
              </a:ext>
            </a:extLst>
          </p:cNvPr>
          <p:cNvSpPr>
            <a:spLocks xmlns:a="http://schemas.openxmlformats.org/drawingml/2006/main" noGrp="1"/>
          </p:cNvSpPr>
          <p:nvPr/>
        </p:nvSpPr>
        <p:spPr>
          <a:xfrm xmlns:a="http://schemas.openxmlformats.org/drawingml/2006/main">
            <a:off x="8153400" y="2219325"/>
            <a:ext cx="33528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7" name="">
            <a:extLst xmlns:a="http://schemas.openxmlformats.org/drawingml/2006/main">
              <a:ext uri="{FF2B5EF4-FFF2-40B4-BE49-F238E27FC236}">
                <a16:creationId xmlns:a16="http://schemas.microsoft.com/office/drawing/2014/main" id="{7BB67B40-A1E5-487B-A806-51A945623C7E}"/>
              </a:ext>
            </a:extLst>
          </p:cNvPr>
          <p:cNvSpPr>
            <a:spLocks xmlns:a="http://schemas.openxmlformats.org/drawingml/2006/main" noGrp="1"/>
          </p:cNvSpPr>
          <p:nvPr/>
        </p:nvSpPr>
        <p:spPr>
          <a:xfrm xmlns:a="http://schemas.openxmlformats.org/drawingml/2006/main">
            <a:off x="8153400" y="2362200"/>
            <a:ext cx="3352800" cy="2628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333333"/>
                </a:solidFill>
                <a:latin typeface="Arial"/>
                <a:ea typeface="Arial"/>
                <a:cs typeface="Arial"/>
              </a:defRPr>
            </a:pPr>
            <a:r>
              <a:rPr sz="1350" b="0" i="0">
                <a:solidFill>
                  <a:srgbClr val="333333"/>
                </a:solidFill>
                <a:latin typeface="Arial"/>
                <a:ea typeface="Arial"/>
                <a:cs typeface="Arial"/>
              </a:rPr>
              <a:t>Choose coefficients on an exploration split, freeze them, and repeat all claim cells across more seeds or longer budgets.</a:t>
            </a:r>
          </a:p>
        </p:txBody>
      </p:sp>
    </p:spTree>
    <p:extLst>
      <p:ext uri="{BB962C8B-B14F-4D97-AF65-F5344CB8AC3E}">
        <p14:creationId xmlns:p14="http://schemas.microsoft.com/office/powerpoint/2010/main" val="463124453"/>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F8BB527D-DD1A-4D3C-9E32-B7A3C771AEFA}"/>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Selected sources</a:t>
            </a:r>
          </a:p>
        </p:txBody>
      </p:sp>
      <p:sp>
        <p:nvSpPr>
          <p:cNvPr id="2" name="">
            <a:extLst xmlns:a="http://schemas.openxmlformats.org/drawingml/2006/main">
              <a:ext uri="{FF2B5EF4-FFF2-40B4-BE49-F238E27FC236}">
                <a16:creationId xmlns:a16="http://schemas.microsoft.com/office/drawing/2014/main" id="{7C16F590-6FDA-4A02-BA8D-1E48D1F74085}"/>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B01BBDEA-21D2-4898-A6E6-F1B38CFF6E44}"/>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ED14C7B-CEF8-4EEA-B5F1-575C8A192E2C}"/>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3240FCE7-B128-4C21-B2E3-D6E8D66F2E4B}"/>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43</a:t>
            </a:r>
          </a:p>
        </p:txBody>
      </p:sp>
      <p:sp>
        <p:nvSpPr>
          <p:cNvPr id="6" name="">
            <a:extLst xmlns:a="http://schemas.openxmlformats.org/drawingml/2006/main">
              <a:ext uri="{FF2B5EF4-FFF2-40B4-BE49-F238E27FC236}">
                <a16:creationId xmlns:a16="http://schemas.microsoft.com/office/drawing/2014/main" id="{A90102FF-679A-4A89-87C5-AE043D8A2818}"/>
              </a:ext>
            </a:extLst>
          </p:cNvPr>
          <p:cNvSpPr>
            <a:spLocks xmlns:a="http://schemas.openxmlformats.org/drawingml/2006/main" noGrp="1"/>
          </p:cNvSpPr>
          <p:nvPr/>
        </p:nvSpPr>
        <p:spPr>
          <a:xfrm xmlns:a="http://schemas.openxmlformats.org/drawingml/2006/main">
            <a:off x="781050" y="1257300"/>
            <a:ext cx="50101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333333"/>
                </a:solidFill>
                <a:latin typeface="Arial"/>
                <a:ea typeface="Arial"/>
                <a:cs typeface="Arial"/>
              </a:defRPr>
            </a:pPr>
            <a:r>
              <a:rPr sz="1300">
                <a:solidFill>
                  <a:srgbClr val="333333"/>
                </a:solidFill>
              </a:rPr>
              <a:t>Jordan, K. et al. (2024). Muon: An optimizer for hidden layers in neural networks.</a:t>
            </a:r>
          </a:p>
          <a:p xmlns:a="http://schemas.openxmlformats.org/drawingml/2006/main">
            <a:pPr algn="l">
              <a:defRPr sz="975" b="0" i="0">
                <a:solidFill>
                  <a:srgbClr val="333333"/>
                </a:solidFill>
                <a:latin typeface="Arial"/>
                <a:ea typeface="Arial"/>
                <a:cs typeface="Arial"/>
              </a:defRPr>
            </a:pPr>
            <a:r>
              <a:rPr sz="900" u="sng">
                <a:solidFill>
                  <a:srgbClr val="1F5AA6"/>
                </a:solidFill>
                <a:hlinkClick xmlns:r="http://schemas.openxmlformats.org/officeDocument/2006/relationships" r:id="Rb5a362efa3724615"/>
              </a:rPr>
              <a:t>https://kellerjordan.github.io/posts/muon/</a:t>
            </a:r>
          </a:p>
        </p:txBody>
      </p:sp>
      <p:sp>
        <p:nvSpPr>
          <p:cNvPr id="7" name="">
            <a:extLst xmlns:a="http://schemas.openxmlformats.org/drawingml/2006/main">
              <a:ext uri="{FF2B5EF4-FFF2-40B4-BE49-F238E27FC236}">
                <a16:creationId xmlns:a16="http://schemas.microsoft.com/office/drawing/2014/main" id="{28E897C7-B0AE-476E-8347-53EDD8F7BCCE}"/>
              </a:ext>
            </a:extLst>
          </p:cNvPr>
          <p:cNvSpPr>
            <a:spLocks xmlns:a="http://schemas.openxmlformats.org/drawingml/2006/main" noGrp="1"/>
          </p:cNvSpPr>
          <p:nvPr/>
        </p:nvSpPr>
        <p:spPr>
          <a:xfrm xmlns:a="http://schemas.openxmlformats.org/drawingml/2006/main">
            <a:off x="781050" y="2152650"/>
            <a:ext cx="50101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333333"/>
                </a:solidFill>
                <a:latin typeface="Arial"/>
                <a:ea typeface="Arial"/>
                <a:cs typeface="Arial"/>
              </a:defRPr>
            </a:pPr>
            <a:r>
              <a:rPr sz="1300">
                <a:solidFill>
                  <a:srgbClr val="333333"/>
                </a:solidFill>
              </a:rPr>
              <a:t>Yuan, H. et al. (2024). MARS: Unleashing the Power of Variance Reduction for Training Large Models.</a:t>
            </a:r>
          </a:p>
          <a:p xmlns:a="http://schemas.openxmlformats.org/drawingml/2006/main">
            <a:pPr algn="l">
              <a:defRPr sz="975" b="0" i="0">
                <a:solidFill>
                  <a:srgbClr val="333333"/>
                </a:solidFill>
                <a:latin typeface="Arial"/>
                <a:ea typeface="Arial"/>
                <a:cs typeface="Arial"/>
              </a:defRPr>
            </a:pPr>
            <a:r>
              <a:rPr sz="900" u="sng">
                <a:solidFill>
                  <a:srgbClr val="1F5AA6"/>
                </a:solidFill>
                <a:hlinkClick xmlns:r="http://schemas.openxmlformats.org/officeDocument/2006/relationships" r:id="R8cbf964cfccd4f0d"/>
              </a:rPr>
              <a:t>https://arxiv.org/abs/2411.10438</a:t>
            </a:r>
          </a:p>
        </p:txBody>
      </p:sp>
      <p:sp>
        <p:nvSpPr>
          <p:cNvPr id="8" name="">
            <a:extLst xmlns:a="http://schemas.openxmlformats.org/drawingml/2006/main">
              <a:ext uri="{FF2B5EF4-FFF2-40B4-BE49-F238E27FC236}">
                <a16:creationId xmlns:a16="http://schemas.microsoft.com/office/drawing/2014/main" id="{2466CA75-6221-460F-AF7F-AFAE73C3D18C}"/>
              </a:ext>
            </a:extLst>
          </p:cNvPr>
          <p:cNvSpPr>
            <a:spLocks xmlns:a="http://schemas.openxmlformats.org/drawingml/2006/main" noGrp="1"/>
          </p:cNvSpPr>
          <p:nvPr/>
        </p:nvSpPr>
        <p:spPr>
          <a:xfrm xmlns:a="http://schemas.openxmlformats.org/drawingml/2006/main">
            <a:off x="781050" y="3048000"/>
            <a:ext cx="50101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333333"/>
                </a:solidFill>
                <a:latin typeface="Arial"/>
                <a:ea typeface="Arial"/>
                <a:cs typeface="Arial"/>
              </a:defRPr>
            </a:pPr>
            <a:r>
              <a:rPr sz="1300">
                <a:solidFill>
                  <a:srgbClr val="333333"/>
                </a:solidFill>
              </a:rPr>
              <a:t>Liu, Y., Yuan, A., &amp; Gu, Q. (2025). MARS-M: When Variance Reduction Meets Matrices, v2.</a:t>
            </a:r>
          </a:p>
          <a:p xmlns:a="http://schemas.openxmlformats.org/drawingml/2006/main">
            <a:pPr algn="l">
              <a:defRPr sz="975" b="0" i="0">
                <a:solidFill>
                  <a:srgbClr val="333333"/>
                </a:solidFill>
                <a:latin typeface="Arial"/>
                <a:ea typeface="Arial"/>
                <a:cs typeface="Arial"/>
              </a:defRPr>
            </a:pPr>
            <a:r>
              <a:rPr sz="900" u="sng">
                <a:solidFill>
                  <a:srgbClr val="1F5AA6"/>
                </a:solidFill>
                <a:hlinkClick xmlns:r="http://schemas.openxmlformats.org/officeDocument/2006/relationships" r:id="Rbd5768f8984e45d0"/>
              </a:rPr>
              <a:t>https://arxiv.org/html/2510.21800v2</a:t>
            </a:r>
          </a:p>
        </p:txBody>
      </p:sp>
      <p:sp>
        <p:nvSpPr>
          <p:cNvPr id="9" name="">
            <a:extLst xmlns:a="http://schemas.openxmlformats.org/drawingml/2006/main">
              <a:ext uri="{FF2B5EF4-FFF2-40B4-BE49-F238E27FC236}">
                <a16:creationId xmlns:a16="http://schemas.microsoft.com/office/drawing/2014/main" id="{0AE8C8CA-FAD4-4270-A2E9-CBED99E6656D}"/>
              </a:ext>
            </a:extLst>
          </p:cNvPr>
          <p:cNvSpPr>
            <a:spLocks xmlns:a="http://schemas.openxmlformats.org/drawingml/2006/main" noGrp="1"/>
          </p:cNvSpPr>
          <p:nvPr/>
        </p:nvSpPr>
        <p:spPr>
          <a:xfrm xmlns:a="http://schemas.openxmlformats.org/drawingml/2006/main">
            <a:off x="781050" y="3943350"/>
            <a:ext cx="50101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333333"/>
                </a:solidFill>
                <a:latin typeface="Arial"/>
                <a:ea typeface="Arial"/>
                <a:cs typeface="Arial"/>
              </a:defRPr>
            </a:pPr>
            <a:r>
              <a:rPr sz="1300">
                <a:solidFill>
                  <a:srgbClr val="333333"/>
                </a:solidFill>
              </a:rPr>
              <a:t>Dahan, T. &amp; Levy, K. Y. (2025). Do Stochastic, Feel Noiseless: Stable Stochastic Optimization via a Double Momentum Mechanism.</a:t>
            </a:r>
          </a:p>
          <a:p xmlns:a="http://schemas.openxmlformats.org/drawingml/2006/main">
            <a:pPr algn="l">
              <a:defRPr sz="975" b="0" i="0">
                <a:solidFill>
                  <a:srgbClr val="333333"/>
                </a:solidFill>
                <a:latin typeface="Arial"/>
                <a:ea typeface="Arial"/>
                <a:cs typeface="Arial"/>
              </a:defRPr>
            </a:pPr>
            <a:r>
              <a:rPr sz="900" u="sng">
                <a:solidFill>
                  <a:srgbClr val="1F5AA6"/>
                </a:solidFill>
                <a:hlinkClick xmlns:r="http://schemas.openxmlformats.org/officeDocument/2006/relationships" r:id="Raee2b88a3bb34ded"/>
              </a:rPr>
              <a:t>https://arxiv.org/abs/2304.04172</a:t>
            </a:r>
          </a:p>
        </p:txBody>
      </p:sp>
      <p:sp>
        <p:nvSpPr>
          <p:cNvPr id="10" name="">
            <a:extLst xmlns:a="http://schemas.openxmlformats.org/drawingml/2006/main">
              <a:ext uri="{FF2B5EF4-FFF2-40B4-BE49-F238E27FC236}">
                <a16:creationId xmlns:a16="http://schemas.microsoft.com/office/drawing/2014/main" id="{79CABBEB-8EA8-49A2-A3E0-91D47CB7A0BC}"/>
              </a:ext>
            </a:extLst>
          </p:cNvPr>
          <p:cNvSpPr>
            <a:spLocks xmlns:a="http://schemas.openxmlformats.org/drawingml/2006/main" noGrp="1"/>
          </p:cNvSpPr>
          <p:nvPr/>
        </p:nvSpPr>
        <p:spPr>
          <a:xfrm xmlns:a="http://schemas.openxmlformats.org/drawingml/2006/main">
            <a:off x="781050" y="4838700"/>
            <a:ext cx="50101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333333"/>
                </a:solidFill>
                <a:latin typeface="Arial"/>
                <a:ea typeface="Arial"/>
                <a:cs typeface="Arial"/>
              </a:defRPr>
            </a:pPr>
            <a:r>
              <a:rPr sz="1300">
                <a:solidFill>
                  <a:srgbClr val="333333"/>
                </a:solidFill>
              </a:rPr>
              <a:t>Cutkosky, A. &amp; Orabona, F. (2019). Momentum-Based Variance Reduction in Non-Convex SGD. NeurIPS.</a:t>
            </a:r>
          </a:p>
          <a:p xmlns:a="http://schemas.openxmlformats.org/drawingml/2006/main">
            <a:pPr algn="l">
              <a:defRPr sz="975" b="0" i="0">
                <a:solidFill>
                  <a:srgbClr val="333333"/>
                </a:solidFill>
                <a:latin typeface="Arial"/>
                <a:ea typeface="Arial"/>
                <a:cs typeface="Arial"/>
              </a:defRPr>
            </a:pPr>
            <a:r>
              <a:rPr sz="900" u="sng">
                <a:solidFill>
                  <a:srgbClr val="1F5AA6"/>
                </a:solidFill>
                <a:hlinkClick xmlns:r="http://schemas.openxmlformats.org/officeDocument/2006/relationships" r:id="Rd108f6d8fcf4411b"/>
              </a:rPr>
              <a:t>https://arxiv.org/abs/1905.10018</a:t>
            </a:r>
          </a:p>
        </p:txBody>
      </p:sp>
      <p:sp>
        <p:nvSpPr>
          <p:cNvPr id="11" name="">
            <a:extLst xmlns:a="http://schemas.openxmlformats.org/drawingml/2006/main">
              <a:ext uri="{FF2B5EF4-FFF2-40B4-BE49-F238E27FC236}">
                <a16:creationId xmlns:a16="http://schemas.microsoft.com/office/drawing/2014/main" id="{EB65D392-7319-4F30-95CE-93412B0D9457}"/>
              </a:ext>
            </a:extLst>
          </p:cNvPr>
          <p:cNvSpPr>
            <a:spLocks xmlns:a="http://schemas.openxmlformats.org/drawingml/2006/main" noGrp="1"/>
          </p:cNvSpPr>
          <p:nvPr/>
        </p:nvSpPr>
        <p:spPr>
          <a:xfrm xmlns:a="http://schemas.openxmlformats.org/drawingml/2006/main">
            <a:off x="6400800" y="1257300"/>
            <a:ext cx="5010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333333"/>
                </a:solidFill>
                <a:latin typeface="Arial"/>
                <a:ea typeface="Arial"/>
                <a:cs typeface="Arial"/>
              </a:defRPr>
            </a:pPr>
            <a:r>
              <a:rPr sz="1300">
                <a:solidFill>
                  <a:srgbClr val="333333"/>
                </a:solidFill>
              </a:rPr>
              <a:t>Chen, J. et al. (2021). Decaying Momentum Helps Neural Network Training.</a:t>
            </a:r>
          </a:p>
          <a:p xmlns:a="http://schemas.openxmlformats.org/drawingml/2006/main">
            <a:pPr algn="l">
              <a:defRPr sz="975" b="0" i="0">
                <a:solidFill>
                  <a:srgbClr val="333333"/>
                </a:solidFill>
                <a:latin typeface="Arial"/>
                <a:ea typeface="Arial"/>
                <a:cs typeface="Arial"/>
              </a:defRPr>
            </a:pPr>
            <a:r>
              <a:rPr sz="900" u="sng">
                <a:solidFill>
                  <a:srgbClr val="1F5AA6"/>
                </a:solidFill>
                <a:hlinkClick xmlns:r="http://schemas.openxmlformats.org/officeDocument/2006/relationships" r:id="R861ad4d90c9049bd"/>
              </a:rPr>
              <a:t>https://arxiv.org/abs/1910.04952</a:t>
            </a:r>
          </a:p>
        </p:txBody>
      </p:sp>
      <p:sp>
        <p:nvSpPr>
          <p:cNvPr id="12" name="">
            <a:extLst xmlns:a="http://schemas.openxmlformats.org/drawingml/2006/main">
              <a:ext uri="{FF2B5EF4-FFF2-40B4-BE49-F238E27FC236}">
                <a16:creationId xmlns:a16="http://schemas.microsoft.com/office/drawing/2014/main" id="{9B799BE7-C004-42CD-AB7D-A8E740492A99}"/>
              </a:ext>
            </a:extLst>
          </p:cNvPr>
          <p:cNvSpPr>
            <a:spLocks xmlns:a="http://schemas.openxmlformats.org/drawingml/2006/main" noGrp="1"/>
          </p:cNvSpPr>
          <p:nvPr/>
        </p:nvSpPr>
        <p:spPr>
          <a:xfrm xmlns:a="http://schemas.openxmlformats.org/drawingml/2006/main">
            <a:off x="6400800" y="2286000"/>
            <a:ext cx="5010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333333"/>
                </a:solidFill>
                <a:latin typeface="Arial"/>
                <a:ea typeface="Arial"/>
                <a:cs typeface="Arial"/>
              </a:defRPr>
            </a:pPr>
            <a:r>
              <a:rPr sz="1300">
                <a:solidFill>
                  <a:srgbClr val="333333"/>
                </a:solidFill>
              </a:rPr>
              <a:t>Wu, K. et al. (2022). TinyViT: Fast Pretraining Distillation for Small Vision Transformers. ECCV.</a:t>
            </a:r>
          </a:p>
          <a:p xmlns:a="http://schemas.openxmlformats.org/drawingml/2006/main">
            <a:pPr algn="l">
              <a:defRPr sz="975" b="0" i="0">
                <a:solidFill>
                  <a:srgbClr val="333333"/>
                </a:solidFill>
                <a:latin typeface="Arial"/>
                <a:ea typeface="Arial"/>
                <a:cs typeface="Arial"/>
              </a:defRPr>
            </a:pPr>
            <a:r>
              <a:rPr sz="900" u="sng">
                <a:solidFill>
                  <a:srgbClr val="1F5AA6"/>
                </a:solidFill>
                <a:hlinkClick xmlns:r="http://schemas.openxmlformats.org/officeDocument/2006/relationships" r:id="R623034bf5d614277"/>
              </a:rPr>
              <a:t>https://arxiv.org/abs/2207.10666</a:t>
            </a:r>
          </a:p>
        </p:txBody>
      </p:sp>
      <p:sp>
        <p:nvSpPr>
          <p:cNvPr id="13" name="">
            <a:extLst xmlns:a="http://schemas.openxmlformats.org/drawingml/2006/main">
              <a:ext uri="{FF2B5EF4-FFF2-40B4-BE49-F238E27FC236}">
                <a16:creationId xmlns:a16="http://schemas.microsoft.com/office/drawing/2014/main" id="{FA6A50CA-55B1-42F0-99EC-CE5B47E7E048}"/>
              </a:ext>
            </a:extLst>
          </p:cNvPr>
          <p:cNvSpPr>
            <a:spLocks xmlns:a="http://schemas.openxmlformats.org/drawingml/2006/main" noGrp="1"/>
          </p:cNvSpPr>
          <p:nvPr/>
        </p:nvSpPr>
        <p:spPr>
          <a:xfrm xmlns:a="http://schemas.openxmlformats.org/drawingml/2006/main">
            <a:off x="6400800" y="3314700"/>
            <a:ext cx="5010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333333"/>
                </a:solidFill>
                <a:latin typeface="Arial"/>
                <a:ea typeface="Arial"/>
                <a:cs typeface="Arial"/>
              </a:defRPr>
            </a:pPr>
            <a:r>
              <a:rPr sz="1300">
                <a:solidFill>
                  <a:srgbClr val="333333"/>
                </a:solidFill>
              </a:rPr>
              <a:t>Krizhevsky, A. (2009). Learning Multiple Layers of Features from Tiny Images.</a:t>
            </a:r>
          </a:p>
          <a:p xmlns:a="http://schemas.openxmlformats.org/drawingml/2006/main">
            <a:pPr algn="l">
              <a:defRPr sz="975" b="0" i="0">
                <a:solidFill>
                  <a:srgbClr val="333333"/>
                </a:solidFill>
                <a:latin typeface="Arial"/>
                <a:ea typeface="Arial"/>
                <a:cs typeface="Arial"/>
              </a:defRPr>
            </a:pPr>
            <a:r>
              <a:rPr sz="900" u="sng">
                <a:solidFill>
                  <a:srgbClr val="1F5AA6"/>
                </a:solidFill>
                <a:hlinkClick xmlns:r="http://schemas.openxmlformats.org/officeDocument/2006/relationships" r:id="R7623c32b821d4797"/>
              </a:rPr>
              <a:t>https://www.cs.toronto.edu/~kriz/learning-features-2009-TR.pdf</a:t>
            </a:r>
          </a:p>
        </p:txBody>
      </p:sp>
      <p:sp>
        <p:nvSpPr>
          <p:cNvPr id="14" name="">
            <a:extLst xmlns:a="http://schemas.openxmlformats.org/drawingml/2006/main">
              <a:ext uri="{FF2B5EF4-FFF2-40B4-BE49-F238E27FC236}">
                <a16:creationId xmlns:a16="http://schemas.microsoft.com/office/drawing/2014/main" id="{20E88CCC-B70E-43EB-AE1B-1B026FBD974D}"/>
              </a:ext>
            </a:extLst>
          </p:cNvPr>
          <p:cNvSpPr>
            <a:spLocks xmlns:a="http://schemas.openxmlformats.org/drawingml/2006/main" noGrp="1"/>
          </p:cNvSpPr>
          <p:nvPr/>
        </p:nvSpPr>
        <p:spPr>
          <a:xfrm xmlns:a="http://schemas.openxmlformats.org/drawingml/2006/main">
            <a:off x="6400800" y="4343400"/>
            <a:ext cx="5010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333333"/>
                </a:solidFill>
                <a:latin typeface="Arial"/>
                <a:ea typeface="Arial"/>
                <a:cs typeface="Arial"/>
              </a:defRPr>
            </a:pPr>
            <a:r>
              <a:rPr sz="1300">
                <a:solidFill>
                  <a:srgbClr val="333333"/>
                </a:solidFill>
              </a:rPr>
              <a:t>Shekhar, A. (2021). ImageNet100. Kaggle dataset.</a:t>
            </a:r>
          </a:p>
          <a:p xmlns:a="http://schemas.openxmlformats.org/drawingml/2006/main">
            <a:pPr algn="l">
              <a:defRPr sz="975" b="0" i="0">
                <a:solidFill>
                  <a:srgbClr val="333333"/>
                </a:solidFill>
                <a:latin typeface="Arial"/>
                <a:ea typeface="Arial"/>
                <a:cs typeface="Arial"/>
              </a:defRPr>
            </a:pPr>
            <a:r>
              <a:rPr sz="900" u="sng">
                <a:solidFill>
                  <a:srgbClr val="1F5AA6"/>
                </a:solidFill>
                <a:hlinkClick xmlns:r="http://schemas.openxmlformats.org/officeDocument/2006/relationships" r:id="Rd427a2fed3d54b2f"/>
              </a:rPr>
              <a:t>https://www.kaggle.com/datasets/ambityga/imagenet100</a:t>
            </a:r>
          </a:p>
        </p:txBody>
      </p:sp>
    </p:spTree>
    <p:extLst>
      <p:ext uri="{BB962C8B-B14F-4D97-AF65-F5344CB8AC3E}">
        <p14:creationId xmlns:p14="http://schemas.microsoft.com/office/powerpoint/2010/main" val="889170131"/>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291C2DB-8A05-4E4E-8DA2-B9DD6842C06C}"/>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48CDA1C-0CCE-43AD-A94E-72F633B15D44}"/>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3" name="">
            <a:extLst xmlns:a="http://schemas.openxmlformats.org/drawingml/2006/main">
              <a:ext uri="{FF2B5EF4-FFF2-40B4-BE49-F238E27FC236}">
                <a16:creationId xmlns:a16="http://schemas.microsoft.com/office/drawing/2014/main" id="{41319EEE-BEF1-42F1-A7E0-134483AB436D}"/>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44</a:t>
            </a:r>
          </a:p>
        </p:txBody>
      </p:sp>
      <p:sp>
        <p:nvSpPr>
          <p:cNvPr id="4" name="">
            <a:extLst xmlns:a="http://schemas.openxmlformats.org/drawingml/2006/main">
              <a:ext uri="{FF2B5EF4-FFF2-40B4-BE49-F238E27FC236}">
                <a16:creationId xmlns:a16="http://schemas.microsoft.com/office/drawing/2014/main" id="{36ADE898-49EF-4309-B953-4A1084D26920}"/>
              </a:ext>
            </a:extLst>
          </p:cNvPr>
          <p:cNvSpPr>
            <a:spLocks xmlns:a="http://schemas.openxmlformats.org/drawingml/2006/main" noGrp="1"/>
          </p:cNvSpPr>
          <p:nvPr/>
        </p:nvSpPr>
        <p:spPr>
          <a:xfrm xmlns:a="http://schemas.openxmlformats.org/drawingml/2006/main">
            <a:off x="685800" y="1733550"/>
            <a:ext cx="1028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0" i="0">
                <a:solidFill>
                  <a:srgbClr val="282828"/>
                </a:solidFill>
                <a:latin typeface="Arial"/>
                <a:ea typeface="Arial"/>
                <a:cs typeface="Arial"/>
              </a:defRPr>
            </a:pPr>
            <a:r>
              <a:rPr sz="3600" b="0" i="0">
                <a:solidFill>
                  <a:srgbClr val="282828"/>
                </a:solidFill>
                <a:latin typeface="Arial"/>
                <a:ea typeface="Arial"/>
                <a:cs typeface="Arial"/>
              </a:rPr>
              <a:t>Questions?</a:t>
            </a:r>
          </a:p>
        </p:txBody>
      </p:sp>
      <p:sp>
        <p:nvSpPr>
          <p:cNvPr id="5" name="">
            <a:extLst xmlns:a="http://schemas.openxmlformats.org/drawingml/2006/main">
              <a:ext uri="{FF2B5EF4-FFF2-40B4-BE49-F238E27FC236}">
                <a16:creationId xmlns:a16="http://schemas.microsoft.com/office/drawing/2014/main" id="{4B227E67-C9B4-4840-8BF2-5221B0E78038}"/>
              </a:ext>
            </a:extLst>
          </p:cNvPr>
          <p:cNvSpPr>
            <a:spLocks xmlns:a="http://schemas.openxmlformats.org/drawingml/2006/main" noGrp="1"/>
          </p:cNvSpPr>
          <p:nvPr/>
        </p:nvSpPr>
        <p:spPr>
          <a:xfrm xmlns:a="http://schemas.openxmlformats.org/drawingml/2006/main">
            <a:off x="685800" y="2628900"/>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6" name="">
            <a:extLst xmlns:a="http://schemas.openxmlformats.org/drawingml/2006/main">
              <a:ext uri="{FF2B5EF4-FFF2-40B4-BE49-F238E27FC236}">
                <a16:creationId xmlns:a16="http://schemas.microsoft.com/office/drawing/2014/main" id="{878CDD82-3748-4D6D-BA7C-9F3D193EE2A0}"/>
              </a:ext>
            </a:extLst>
          </p:cNvPr>
          <p:cNvSpPr>
            <a:spLocks xmlns:a="http://schemas.openxmlformats.org/drawingml/2006/main" noGrp="1"/>
          </p:cNvSpPr>
          <p:nvPr/>
        </p:nvSpPr>
        <p:spPr>
          <a:xfrm xmlns:a="http://schemas.openxmlformats.org/drawingml/2006/main">
            <a:off x="685800" y="291465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333333"/>
                </a:solidFill>
                <a:latin typeface="Arial"/>
                <a:ea typeface="Arial"/>
                <a:cs typeface="Arial"/>
              </a:defRPr>
            </a:pPr>
            <a:r>
              <a:rPr sz="1500" b="0" i="0">
                <a:solidFill>
                  <a:srgbClr val="333333"/>
                </a:solidFill>
                <a:latin typeface="Arial"/>
                <a:ea typeface="Arial"/>
                <a:cs typeface="Arial"/>
              </a:rPr>
              <a:t>MARS, momentum decay, and the Mu²-inspired estimator</a:t>
            </a:r>
          </a:p>
        </p:txBody>
      </p:sp>
      <p:sp>
        <p:nvSpPr>
          <p:cNvPr id="7" name="">
            <a:extLst xmlns:a="http://schemas.openxmlformats.org/drawingml/2006/main">
              <a:ext uri="{FF2B5EF4-FFF2-40B4-BE49-F238E27FC236}">
                <a16:creationId xmlns:a16="http://schemas.microsoft.com/office/drawing/2014/main" id="{86C4993C-04AC-473E-8483-B39541F60665}"/>
              </a:ext>
            </a:extLst>
          </p:cNvPr>
          <p:cNvSpPr>
            <a:spLocks xmlns:a="http://schemas.openxmlformats.org/drawingml/2006/main" noGrp="1"/>
          </p:cNvSpPr>
          <p:nvPr/>
        </p:nvSpPr>
        <p:spPr>
          <a:xfrm xmlns:a="http://schemas.openxmlformats.org/drawingml/2006/main">
            <a:off x="685800" y="451485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333333"/>
                </a:solidFill>
                <a:latin typeface="Arial"/>
                <a:ea typeface="Arial"/>
                <a:cs typeface="Arial"/>
              </a:defRPr>
            </a:pPr>
            <a:r>
              <a:rPr sz="1200" b="0" i="0">
                <a:solidFill>
                  <a:srgbClr val="333333"/>
                </a:solidFill>
                <a:latin typeface="Arial"/>
                <a:ea typeface="Arial"/>
                <a:cs typeface="Arial"/>
              </a:rPr>
              <a:t>Nevo Jonathan Sznajder, Itay Asolin</a:t>
            </a:r>
          </a:p>
        </p:txBody>
      </p:sp>
    </p:spTree>
    <p:extLst>
      <p:ext uri="{BB962C8B-B14F-4D97-AF65-F5344CB8AC3E}">
        <p14:creationId xmlns:p14="http://schemas.microsoft.com/office/powerpoint/2010/main" val="225559364"/>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E7678F4-C1CB-4E9E-B02F-749C86E6E28F}"/>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051A0C6-1D1C-44EA-81C9-385BBE81D94A}"/>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3" name="">
            <a:extLst xmlns:a="http://schemas.openxmlformats.org/drawingml/2006/main">
              <a:ext uri="{FF2B5EF4-FFF2-40B4-BE49-F238E27FC236}">
                <a16:creationId xmlns:a16="http://schemas.microsoft.com/office/drawing/2014/main" id="{0AC34653-AF1E-4286-854C-45CCC594D3F0}"/>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45</a:t>
            </a:r>
          </a:p>
        </p:txBody>
      </p:sp>
      <p:sp>
        <p:nvSpPr>
          <p:cNvPr id="4" name="">
            <a:extLst xmlns:a="http://schemas.openxmlformats.org/drawingml/2006/main">
              <a:ext uri="{FF2B5EF4-FFF2-40B4-BE49-F238E27FC236}">
                <a16:creationId xmlns:a16="http://schemas.microsoft.com/office/drawing/2014/main" id="{4B2848B4-F085-41DD-83C8-59069556CFAE}"/>
              </a:ext>
            </a:extLst>
          </p:cNvPr>
          <p:cNvSpPr>
            <a:spLocks xmlns:a="http://schemas.openxmlformats.org/drawingml/2006/main" noGrp="1"/>
          </p:cNvSpPr>
          <p:nvPr/>
        </p:nvSpPr>
        <p:spPr>
          <a:xfrm xmlns:a="http://schemas.openxmlformats.org/drawingml/2006/main">
            <a:off x="685800" y="1695450"/>
            <a:ext cx="857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0" i="0">
                <a:solidFill>
                  <a:srgbClr val="282828"/>
                </a:solidFill>
                <a:latin typeface="Arial"/>
                <a:ea typeface="Arial"/>
                <a:cs typeface="Arial"/>
              </a:defRPr>
            </a:pPr>
            <a:r>
              <a:rPr sz="3450" b="0" i="0">
                <a:solidFill>
                  <a:srgbClr val="282828"/>
                </a:solidFill>
                <a:latin typeface="Arial"/>
                <a:ea typeface="Arial"/>
                <a:cs typeface="Arial"/>
              </a:rPr>
              <a:t>Backup</a:t>
            </a:r>
          </a:p>
        </p:txBody>
      </p:sp>
      <p:sp>
        <p:nvSpPr>
          <p:cNvPr id="5" name="">
            <a:extLst xmlns:a="http://schemas.openxmlformats.org/drawingml/2006/main">
              <a:ext uri="{FF2B5EF4-FFF2-40B4-BE49-F238E27FC236}">
                <a16:creationId xmlns:a16="http://schemas.microsoft.com/office/drawing/2014/main" id="{CCA58485-CD84-4848-85A6-CCBF6892A5EF}"/>
              </a:ext>
            </a:extLst>
          </p:cNvPr>
          <p:cNvSpPr>
            <a:spLocks xmlns:a="http://schemas.openxmlformats.org/drawingml/2006/main" noGrp="1"/>
          </p:cNvSpPr>
          <p:nvPr/>
        </p:nvSpPr>
        <p:spPr>
          <a:xfrm xmlns:a="http://schemas.openxmlformats.org/drawingml/2006/main">
            <a:off x="685800" y="2457450"/>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6" name="">
            <a:extLst xmlns:a="http://schemas.openxmlformats.org/drawingml/2006/main">
              <a:ext uri="{FF2B5EF4-FFF2-40B4-BE49-F238E27FC236}">
                <a16:creationId xmlns:a16="http://schemas.microsoft.com/office/drawing/2014/main" id="{B6D3F877-92C6-4C06-8890-28CA812FC30B}"/>
              </a:ext>
            </a:extLst>
          </p:cNvPr>
          <p:cNvSpPr>
            <a:spLocks xmlns:a="http://schemas.openxmlformats.org/drawingml/2006/main" noGrp="1"/>
          </p:cNvSpPr>
          <p:nvPr/>
        </p:nvSpPr>
        <p:spPr>
          <a:xfrm xmlns:a="http://schemas.openxmlformats.org/drawingml/2006/main">
            <a:off x="685800" y="2743200"/>
            <a:ext cx="914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333333"/>
                </a:solidFill>
                <a:latin typeface="Arial"/>
                <a:ea typeface="Arial"/>
                <a:cs typeface="Arial"/>
              </a:defRPr>
            </a:pPr>
            <a:r>
              <a:rPr sz="1500" b="0" i="0">
                <a:solidFill>
                  <a:srgbClr val="333333"/>
                </a:solidFill>
                <a:latin typeface="Arial"/>
                <a:ea typeface="Arial"/>
                <a:cs typeface="Arial"/>
              </a:rPr>
              <a:t>Additional experiments and diagnostics</a:t>
            </a:r>
          </a:p>
        </p:txBody>
      </p:sp>
    </p:spTree>
    <p:extLst>
      <p:ext uri="{BB962C8B-B14F-4D97-AF65-F5344CB8AC3E}">
        <p14:creationId xmlns:p14="http://schemas.microsoft.com/office/powerpoint/2010/main" val="185215332"/>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C5BCDBE5-9F54-4470-9A98-1ACBAEEF1AF3}"/>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Experiment coverage</a:t>
            </a:r>
          </a:p>
        </p:txBody>
      </p:sp>
      <p:sp>
        <p:nvSpPr>
          <p:cNvPr id="2" name="">
            <a:extLst xmlns:a="http://schemas.openxmlformats.org/drawingml/2006/main">
              <a:ext uri="{FF2B5EF4-FFF2-40B4-BE49-F238E27FC236}">
                <a16:creationId xmlns:a16="http://schemas.microsoft.com/office/drawing/2014/main" id="{89DBFB38-6B7A-40E5-AD42-CAEE5DCB2F64}"/>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8B04E763-EA86-46AA-9F1E-E6EA8DB63757}"/>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3483590-E6C1-421F-8875-2196C89F7C94}"/>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DA676D93-B521-46B0-809C-20406723D04D}"/>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46</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5a9b8d63a224e99"/>
          <a:stretch xmlns:a="http://schemas.openxmlformats.org/drawingml/2006/main"/>
        </p:blipFill>
        <p:spPr>
          <a:xfrm xmlns:a="http://schemas.openxmlformats.org/drawingml/2006/main">
            <a:off x="1786122" y="1123950"/>
            <a:ext cx="8619757" cy="4762500"/>
          </a:xfrm>
          <a:prstGeom xmlns:a="http://schemas.openxmlformats.org/drawingml/2006/main" prst="rect">
            <a:avLst/>
          </a:prstGeom>
        </p:spPr>
      </p:pic>
    </p:spTree>
    <p:extLst>
      <p:ext uri="{BB962C8B-B14F-4D97-AF65-F5344CB8AC3E}">
        <p14:creationId xmlns:p14="http://schemas.microsoft.com/office/powerpoint/2010/main" val="537321036"/>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2057D3AD-02B1-4805-A7D9-7D1972EFCB1F}"/>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Historical TinyViT stressed-LR confirmation</a:t>
            </a:r>
          </a:p>
        </p:txBody>
      </p:sp>
      <p:sp>
        <p:nvSpPr>
          <p:cNvPr id="2" name="">
            <a:extLst xmlns:a="http://schemas.openxmlformats.org/drawingml/2006/main">
              <a:ext uri="{FF2B5EF4-FFF2-40B4-BE49-F238E27FC236}">
                <a16:creationId xmlns:a16="http://schemas.microsoft.com/office/drawing/2014/main" id="{1651F57C-8E5E-4B8C-9A69-1B1C0F366C13}"/>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6F2427A0-858F-470C-BB6B-1D983EE0578E}"/>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00BC29C-C58A-4772-9FE7-7A4E843DE638}"/>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FD544819-4092-4891-B1FD-34FCBA3E3753}"/>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47</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a8dc245589a40cd"/>
          <a:stretch xmlns:a="http://schemas.openxmlformats.org/drawingml/2006/main"/>
        </p:blipFill>
        <p:spPr>
          <a:xfrm xmlns:a="http://schemas.openxmlformats.org/drawingml/2006/main">
            <a:off x="1651827" y="1123950"/>
            <a:ext cx="8888346" cy="4762500"/>
          </a:xfrm>
          <a:prstGeom xmlns:a="http://schemas.openxmlformats.org/drawingml/2006/main" prst="rect">
            <a:avLst/>
          </a:prstGeom>
        </p:spPr>
      </p:pic>
    </p:spTree>
    <p:extLst>
      <p:ext uri="{BB962C8B-B14F-4D97-AF65-F5344CB8AC3E}">
        <p14:creationId xmlns:p14="http://schemas.microsoft.com/office/powerpoint/2010/main" val="1585076714"/>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9B44D654-0FE6-4562-A193-29CFDB995314}"/>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i="0">
                <a:solidFill>
                  <a:srgbClr val="282828"/>
                </a:solidFill>
                <a:latin typeface="Arial"/>
                <a:ea typeface="Arial"/>
                <a:cs typeface="Arial"/>
              </a:defRPr>
            </a:pPr>
            <a:r>
              <a:rPr sz="2175" b="0" i="0">
                <a:solidFill>
                  <a:srgbClr val="282828"/>
                </a:solidFill>
                <a:latin typeface="Arial"/>
                <a:ea typeface="Arial"/>
                <a:cs typeface="Arial"/>
              </a:rPr>
              <a:t>TinyViT momentum policy sweep under constant LR</a:t>
            </a:r>
          </a:p>
        </p:txBody>
      </p:sp>
      <p:sp>
        <p:nvSpPr>
          <p:cNvPr id="2" name="">
            <a:extLst xmlns:a="http://schemas.openxmlformats.org/drawingml/2006/main">
              <a:ext uri="{FF2B5EF4-FFF2-40B4-BE49-F238E27FC236}">
                <a16:creationId xmlns:a16="http://schemas.microsoft.com/office/drawing/2014/main" id="{99F2D4DA-D830-4050-A665-3F314DDF394B}"/>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7FC51B08-B8EE-4C7E-B578-785EBB7B401D}"/>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85341FD-EADB-44AF-936F-5C95E0E87823}"/>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4EF000C2-FBBE-496E-B516-46319EFF17BA}"/>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48</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e484bf39d3b47b8"/>
          <a:stretch xmlns:a="http://schemas.openxmlformats.org/drawingml/2006/main"/>
        </p:blipFill>
        <p:spPr>
          <a:xfrm xmlns:a="http://schemas.openxmlformats.org/drawingml/2006/main">
            <a:off x="2441272" y="1123950"/>
            <a:ext cx="7309456" cy="4762500"/>
          </a:xfrm>
          <a:prstGeom xmlns:a="http://schemas.openxmlformats.org/drawingml/2006/main" prst="rect">
            <a:avLst/>
          </a:prstGeom>
        </p:spPr>
      </p:pic>
    </p:spTree>
    <p:extLst>
      <p:ext uri="{BB962C8B-B14F-4D97-AF65-F5344CB8AC3E}">
        <p14:creationId xmlns:p14="http://schemas.microsoft.com/office/powerpoint/2010/main" val="1379974231"/>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D804642F-2E4A-43AC-BC2D-5034E61F58D3}"/>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Mu² absolute surfaces</a:t>
            </a:r>
          </a:p>
        </p:txBody>
      </p:sp>
      <p:sp>
        <p:nvSpPr>
          <p:cNvPr id="2" name="">
            <a:extLst xmlns:a="http://schemas.openxmlformats.org/drawingml/2006/main">
              <a:ext uri="{FF2B5EF4-FFF2-40B4-BE49-F238E27FC236}">
                <a16:creationId xmlns:a16="http://schemas.microsoft.com/office/drawing/2014/main" id="{A058E455-206C-42C6-909C-D3C380392A4C}"/>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17B0A4B5-3CB0-465F-BB1F-4C6BC1A55BC0}"/>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2B83C9A-5ABF-4BBC-A209-5B517ABB5818}"/>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EEA77A3D-2DCB-4050-B11A-867F48A87E7D}"/>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49</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fdb0f128b594fb0"/>
          <a:stretch xmlns:a="http://schemas.openxmlformats.org/drawingml/2006/main"/>
        </p:blipFill>
        <p:spPr>
          <a:xfrm xmlns:a="http://schemas.openxmlformats.org/drawingml/2006/main">
            <a:off x="647700" y="1960888"/>
            <a:ext cx="10896600" cy="3088624"/>
          </a:xfrm>
          <a:prstGeom xmlns:a="http://schemas.openxmlformats.org/drawingml/2006/main" prst="rect">
            <a:avLst/>
          </a:prstGeom>
        </p:spPr>
      </p:pic>
    </p:spTree>
    <p:extLst>
      <p:ext uri="{BB962C8B-B14F-4D97-AF65-F5344CB8AC3E}">
        <p14:creationId xmlns:p14="http://schemas.microsoft.com/office/powerpoint/2010/main" val="938984823"/>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3CC19740-0A36-4BC5-88F9-FB10E8F5E09C}"/>
              </a:ext>
            </a:extLst>
          </p:cNvPr>
          <p:cNvSpPr>
            <a:spLocks xmlns:a="http://schemas.openxmlformats.org/drawingml/2006/main" noGrp="1"/>
          </p:cNvSpPr>
          <p:nvPr/>
        </p:nvSpPr>
        <p:spPr>
          <a:xfrm xmlns:a="http://schemas.openxmlformats.org/drawingml/2006/main">
            <a:off x="685800" y="381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82828"/>
                </a:solidFill>
                <a:latin typeface="Arial"/>
                <a:ea typeface="Arial"/>
                <a:cs typeface="Arial"/>
              </a:defRPr>
            </a:pPr>
            <a:r>
              <a:rPr sz="2400" b="0" i="0">
                <a:solidFill>
                  <a:srgbClr val="282828"/>
                </a:solidFill>
                <a:latin typeface="Arial"/>
                <a:ea typeface="Arial"/>
                <a:cs typeface="Arial"/>
              </a:rPr>
              <a:t>Linear-memory analysis</a:t>
            </a:r>
          </a:p>
        </p:txBody>
      </p:sp>
      <p:sp>
        <p:nvSpPr>
          <p:cNvPr id="2" name="">
            <a:extLst xmlns:a="http://schemas.openxmlformats.org/drawingml/2006/main">
              <a:ext uri="{FF2B5EF4-FFF2-40B4-BE49-F238E27FC236}">
                <a16:creationId xmlns:a16="http://schemas.microsoft.com/office/drawing/2014/main" id="{99172859-F04A-4682-9E90-9D2075ACE4A5}"/>
              </a:ext>
            </a:extLst>
          </p:cNvPr>
          <p:cNvSpPr>
            <a:spLocks xmlns:a="http://schemas.openxmlformats.org/drawingml/2006/main" noGrp="1"/>
          </p:cNvSpPr>
          <p:nvPr/>
        </p:nvSpPr>
        <p:spPr>
          <a:xfrm xmlns:a="http://schemas.openxmlformats.org/drawingml/2006/main">
            <a:off x="685800" y="962025"/>
            <a:ext cx="108204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3" name="">
            <a:extLst xmlns:a="http://schemas.openxmlformats.org/drawingml/2006/main">
              <a:ext uri="{FF2B5EF4-FFF2-40B4-BE49-F238E27FC236}">
                <a16:creationId xmlns:a16="http://schemas.microsoft.com/office/drawing/2014/main" id="{32B59800-04E7-45AB-9E6C-FFFC61020949}"/>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34E5D11-E4F8-4832-808D-47C52F35100B}"/>
              </a:ext>
            </a:extLst>
          </p:cNvPr>
          <p:cNvSpPr>
            <a:spLocks xmlns:a="http://schemas.openxmlformats.org/drawingml/2006/main" noGrp="1"/>
          </p:cNvSpPr>
          <p:nvPr/>
        </p:nvSpPr>
        <p:spPr>
          <a:xfrm xmlns:a="http://schemas.openxmlformats.org/drawingml/2006/main">
            <a:off x="685800" y="6638925"/>
            <a:ext cx="40005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FFFFFF"/>
                </a:solidFill>
                <a:latin typeface="Arial"/>
                <a:ea typeface="Arial"/>
                <a:cs typeface="Arial"/>
              </a:defRPr>
            </a:pPr>
            <a:r>
              <a:rPr sz="675" b="0" i="0">
                <a:solidFill>
                  <a:srgbClr val="FFFFFF"/>
                </a:solidFill>
                <a:latin typeface="Arial"/>
                <a:ea typeface="Arial"/>
                <a:cs typeface="Arial"/>
              </a:rPr>
              <a:t>Muon project</a:t>
            </a:r>
          </a:p>
        </p:txBody>
      </p:sp>
      <p:sp>
        <p:nvSpPr>
          <p:cNvPr id="5" name="">
            <a:extLst xmlns:a="http://schemas.openxmlformats.org/drawingml/2006/main">
              <a:ext uri="{FF2B5EF4-FFF2-40B4-BE49-F238E27FC236}">
                <a16:creationId xmlns:a16="http://schemas.microsoft.com/office/drawing/2014/main" id="{6A70F10A-5083-4127-893D-5BFF184BFBD9}"/>
              </a:ext>
            </a:extLst>
          </p:cNvPr>
          <p:cNvSpPr>
            <a:spLocks xmlns:a="http://schemas.openxmlformats.org/drawingml/2006/main" noGrp="1"/>
          </p:cNvSpPr>
          <p:nvPr/>
        </p:nvSpPr>
        <p:spPr>
          <a:xfrm xmlns:a="http://schemas.openxmlformats.org/drawingml/2006/main">
            <a:off x="11049000" y="6638925"/>
            <a:ext cx="4572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675" b="0" i="0">
                <a:solidFill>
                  <a:srgbClr val="FFFFFF"/>
                </a:solidFill>
                <a:latin typeface="Arial"/>
                <a:ea typeface="Arial"/>
                <a:cs typeface="Arial"/>
              </a:defRPr>
            </a:pPr>
            <a:r>
              <a:rPr sz="675" b="0" i="0">
                <a:solidFill>
                  <a:srgbClr val="FFFFFF"/>
                </a:solidFill>
                <a:latin typeface="Arial"/>
                <a:ea typeface="Arial"/>
                <a:cs typeface="Arial"/>
              </a:rPr>
              <a:t>50</a:t>
            </a:r>
          </a:p>
        </p:txBody>
      </p:sp>
      <p:sp>
        <p:nvSpPr>
          <p:cNvPr id="6" name="">
            <a:extLst xmlns:a="http://schemas.openxmlformats.org/drawingml/2006/main">
              <a:ext uri="{FF2B5EF4-FFF2-40B4-BE49-F238E27FC236}">
                <a16:creationId xmlns:a16="http://schemas.microsoft.com/office/drawing/2014/main" id="{3EB396A9-EFE4-46EC-A892-AD37DFD2EFEA}"/>
              </a:ext>
            </a:extLst>
          </p:cNvPr>
          <p:cNvSpPr>
            <a:spLocks xmlns:a="http://schemas.openxmlformats.org/drawingml/2006/main" noGrp="1"/>
          </p:cNvSpPr>
          <p:nvPr/>
        </p:nvSpPr>
        <p:spPr>
          <a:xfrm xmlns:a="http://schemas.openxmlformats.org/drawingml/2006/main">
            <a:off x="876300" y="1028700"/>
            <a:ext cx="1043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0" i="0">
                <a:solidFill>
                  <a:srgbClr val="282828"/>
                </a:solidFill>
                <a:latin typeface="Arial"/>
                <a:ea typeface="Arial"/>
                <a:cs typeface="Arial"/>
              </a:defRPr>
            </a:pPr>
            <a:r>
              <a:rPr sz="1575" b="0" i="0">
                <a:solidFill>
                  <a:srgbClr val="282828"/>
                </a:solidFill>
                <a:latin typeface="Arial"/>
                <a:ea typeface="Arial"/>
                <a:cs typeface="Arial"/>
              </a:rPr>
              <a:t>[mₜ, hₜ]ᵀ = A[mₜ₋₁, hₜ₋₁]ᵀ + b(gₜ − αgₜ₋₁)</a:t>
            </a:r>
          </a:p>
        </p:txBody>
      </p:sp>
      <p:sp>
        <p:nvSpPr>
          <p:cNvPr id="7" name="">
            <a:extLst xmlns:a="http://schemas.openxmlformats.org/drawingml/2006/main">
              <a:ext uri="{FF2B5EF4-FFF2-40B4-BE49-F238E27FC236}">
                <a16:creationId xmlns:a16="http://schemas.microsoft.com/office/drawing/2014/main" id="{1465BB3B-8F50-4B44-B9F2-455B81FFFB40}"/>
              </a:ext>
            </a:extLst>
          </p:cNvPr>
          <p:cNvSpPr>
            <a:spLocks xmlns:a="http://schemas.openxmlformats.org/drawingml/2006/main" noGrp="1"/>
          </p:cNvSpPr>
          <p:nvPr/>
        </p:nvSpPr>
        <p:spPr>
          <a:xfrm xmlns:a="http://schemas.openxmlformats.org/drawingml/2006/main">
            <a:off x="876300" y="1371600"/>
            <a:ext cx="10439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333333"/>
                </a:solidFill>
                <a:latin typeface="Arial"/>
                <a:ea typeface="Arial"/>
                <a:cs typeface="Arial"/>
              </a:defRPr>
            </a:pPr>
            <a:r>
              <a:rPr sz="1275" b="0" i="0">
                <a:solidFill>
                  <a:srgbClr val="333333"/>
                </a:solidFill>
                <a:latin typeface="Arial"/>
                <a:ea typeface="Arial"/>
                <a:cs typeface="Arial"/>
              </a:rPr>
              <a:t>A = [[β, α(1−β)], [β², α(1−β²)]],  b = [1−β, 1−β²]ᵀ; h is the stored Nesterov signal</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304d13b43c764509"/>
          <a:stretch xmlns:a="http://schemas.openxmlformats.org/drawingml/2006/main"/>
        </p:blipFill>
        <p:spPr>
          <a:xfrm xmlns:a="http://schemas.openxmlformats.org/drawingml/2006/main">
            <a:off x="2201094" y="1695450"/>
            <a:ext cx="7789813" cy="41719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B00AE84-E38F-4C83-8EC9-D3CB18B755CA}"/>
              </a:ext>
            </a:extLst>
          </p:cNvPr>
          <p:cNvSpPr>
            <a:spLocks xmlns:a="http://schemas.openxmlformats.org/drawingml/2006/main" noGrp="1"/>
          </p:cNvSpPr>
          <p:nvPr/>
        </p:nvSpPr>
        <p:spPr>
          <a:xfrm xmlns:a="http://schemas.openxmlformats.org/drawingml/2006/main">
            <a:off x="876300" y="5924550"/>
            <a:ext cx="10439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i="0">
                <a:solidFill>
                  <a:srgbClr val="555555"/>
                </a:solidFill>
                <a:latin typeface="Arial"/>
                <a:ea typeface="Arial"/>
                <a:cs typeface="Arial"/>
              </a:defRPr>
            </a:pPr>
            <a:r>
              <a:rPr sz="975" b="1" i="0">
                <a:solidFill>
                  <a:srgbClr val="555555"/>
                </a:solidFill>
                <a:latin typeface="Arial"/>
                <a:ea typeface="Arial"/>
                <a:cs typeface="Arial"/>
              </a:rPr>
              <a:t>The pole summarizes frozen linear memory only; it is not a variance-reduction or convergence guarantee.</a:t>
            </a:r>
          </a:p>
        </p:txBody>
      </p:sp>
    </p:spTree>
    <p:extLst>
      <p:ext uri="{BB962C8B-B14F-4D97-AF65-F5344CB8AC3E}">
        <p14:creationId xmlns:p14="http://schemas.microsoft.com/office/powerpoint/2010/main" val="19626350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2026-09-21T15:13:54.5080000Z</dcterms:created>
  <dcterms:modified xsi:type="dcterms:W3CDTF">2026-09-21T15:13:54.5080000Z</dcterms:modified>
</coreProperties>
</file>